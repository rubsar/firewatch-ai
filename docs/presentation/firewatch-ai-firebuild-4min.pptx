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994d54a32e45b0" /><Relationship Type="http://schemas.openxmlformats.org/officeDocument/2006/relationships/extended-properties" Target="/docProps/app.xml" Id="Rf9815757263344f3" /><Relationship Type="http://schemas.openxmlformats.org/officeDocument/2006/relationships/officeDocument" Target="/ppt/presentation.xml" Id="R728617fac1744df9" /></Relationships>
</file>

<file path=ppt/presentation.xml><?xml version="1.0" encoding="utf-8"?>
<p:presentation xmlns:p="http://schemas.openxmlformats.org/presentationml/2006/main">
  <p:sldMasterIdLst>
    <p:sldMasterId xmlns:r="http://schemas.openxmlformats.org/officeDocument/2006/relationships" id="2147483648" r:id="Ra0c70ad939c04e92"/>
  </p:sldMasterIdLst>
  <p:notesMasterIdLst>
    <p:notesMasterId xmlns:r="http://schemas.openxmlformats.org/officeDocument/2006/relationships" r:id="Rb35df804f8ac4fe0"/>
  </p:notesMasterIdLst>
  <p:sldIdLst>
    <p:sldId xmlns:r="http://schemas.openxmlformats.org/officeDocument/2006/relationships" id="256" r:id="Rca0cf5c3cf334705"/>
    <p:sldId xmlns:r="http://schemas.openxmlformats.org/officeDocument/2006/relationships" id="257" r:id="R0260783467874319"/>
    <p:sldId xmlns:r="http://schemas.openxmlformats.org/officeDocument/2006/relationships" id="258" r:id="Rbdf000923a1547e8"/>
    <p:sldId xmlns:r="http://schemas.openxmlformats.org/officeDocument/2006/relationships" id="259" r:id="R2060aa982d3f44c0"/>
    <p:sldId xmlns:r="http://schemas.openxmlformats.org/officeDocument/2006/relationships" id="260" r:id="Rc1c6eca2135a445c"/>
    <p:sldId xmlns:r="http://schemas.openxmlformats.org/officeDocument/2006/relationships" id="261" r:id="R0cb770b1bd714f85"/>
    <p:sldId xmlns:r="http://schemas.openxmlformats.org/officeDocument/2006/relationships" id="262" r:id="Rb6984bc926384fa8"/>
    <p:sldId xmlns:r="http://schemas.openxmlformats.org/officeDocument/2006/relationships" id="263" r:id="Rea96a3afd7794c4a"/>
    <p:sldId xmlns:r="http://schemas.openxmlformats.org/officeDocument/2006/relationships" id="264" r:id="Rc23225d81527443c"/>
    <p:sldId xmlns:r="http://schemas.openxmlformats.org/officeDocument/2006/relationships" id="265" r:id="R20aa54bfa76c4d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42af0be00b4bf0" /><Relationship Type="http://schemas.openxmlformats.org/officeDocument/2006/relationships/slideMaster" Target="/ppt/slideMasters/slideMaster1.xml" Id="Ra0c70ad939c04e92" /><Relationship Type="http://schemas.openxmlformats.org/officeDocument/2006/relationships/notesMaster" Target="/ppt/notesMasters/notesMaster1.xml" Id="Rb35df804f8ac4fe0" /><Relationship Type="http://schemas.openxmlformats.org/officeDocument/2006/relationships/presProps" Target="/ppt/presProps.xml" Id="Rbdeca5c3335c439e" /><Relationship Type="http://schemas.openxmlformats.org/officeDocument/2006/relationships/tableStyles" Target="/ppt/tableStyles.xml" Id="Rdb735913a47245cf" /><Relationship Type="http://schemas.openxmlformats.org/officeDocument/2006/relationships/slide" Target="/ppt/slides/slide1.xml" Id="Rca0cf5c3cf334705" /><Relationship Type="http://schemas.openxmlformats.org/officeDocument/2006/relationships/slide" Target="/ppt/slides/slide2.xml" Id="R0260783467874319" /><Relationship Type="http://schemas.openxmlformats.org/officeDocument/2006/relationships/slide" Target="/ppt/slides/slide3.xml" Id="Rbdf000923a1547e8" /><Relationship Type="http://schemas.openxmlformats.org/officeDocument/2006/relationships/slide" Target="/ppt/slides/slide4.xml" Id="R2060aa982d3f44c0" /><Relationship Type="http://schemas.openxmlformats.org/officeDocument/2006/relationships/slide" Target="/ppt/slides/slide5.xml" Id="Rc1c6eca2135a445c" /><Relationship Type="http://schemas.openxmlformats.org/officeDocument/2006/relationships/slide" Target="/ppt/slides/slide6.xml" Id="R0cb770b1bd714f85" /><Relationship Type="http://schemas.openxmlformats.org/officeDocument/2006/relationships/slide" Target="/ppt/slides/slide7.xml" Id="Rb6984bc926384fa8" /><Relationship Type="http://schemas.openxmlformats.org/officeDocument/2006/relationships/slide" Target="/ppt/slides/slide8.xml" Id="Rea96a3afd7794c4a" /><Relationship Type="http://schemas.openxmlformats.org/officeDocument/2006/relationships/slide" Target="/ppt/slides/slide9.xml" Id="Rc23225d81527443c" /><Relationship Type="http://schemas.openxmlformats.org/officeDocument/2006/relationships/slide" Target="/ppt/slides/slide10.xml" Id="R20aa54bfa76c4d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93069989a347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7aad6b36148fa" /><Relationship Type="http://schemas.openxmlformats.org/officeDocument/2006/relationships/notesMaster" Target="/ppt/notesMasters/notesMaster1.xml" Id="R7bf1c52eac3f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9fffeaa987456d" /><Relationship Type="http://schemas.openxmlformats.org/officeDocument/2006/relationships/notesMaster" Target="/ppt/notesMasters/notesMaster1.xml" Id="R5ce19ba71f1e44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28b2d58fe04d84" /><Relationship Type="http://schemas.openxmlformats.org/officeDocument/2006/relationships/notesMaster" Target="/ppt/notesMasters/notesMaster1.xml" Id="Rb2ebc3c35b3041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89439517bf456e" /><Relationship Type="http://schemas.openxmlformats.org/officeDocument/2006/relationships/notesMaster" Target="/ppt/notesMasters/notesMaster1.xml" Id="R11c013390f9a4f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d8d8ba909846c2" /><Relationship Type="http://schemas.openxmlformats.org/officeDocument/2006/relationships/notesMaster" Target="/ppt/notesMasters/notesMaster1.xml" Id="R374a6684df9a40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e79ea283de4393" /><Relationship Type="http://schemas.openxmlformats.org/officeDocument/2006/relationships/notesMaster" Target="/ppt/notesMasters/notesMaster1.xml" Id="R855bd03ee32f4d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f368e778174717" /><Relationship Type="http://schemas.openxmlformats.org/officeDocument/2006/relationships/notesMaster" Target="/ppt/notesMasters/notesMaster1.xml" Id="Rfa83ed701e8843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45df329dc04622" /><Relationship Type="http://schemas.openxmlformats.org/officeDocument/2006/relationships/notesMaster" Target="/ppt/notesMasters/notesMaster1.xml" Id="R36fedde1d25c4a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d2770d28d14442" /><Relationship Type="http://schemas.openxmlformats.org/officeDocument/2006/relationships/notesMaster" Target="/ppt/notesMasters/notesMaster1.xml" Id="R951e4086ccc348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7a40632c824649" /><Relationship Type="http://schemas.openxmlformats.org/officeDocument/2006/relationships/notesMaster" Target="/ppt/notesMasters/notesMaster1.xml" Id="Rafcf2fd5babc48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0:00–0:20 (20 seconds)</a:t>
            </a:r>
          </a:p>
          <a:p xmlns:a="http://schemas.openxmlformats.org/drawingml/2006/main">
            <a:r>
              <a:t/>
            </a:r>
          </a:p>
          <a:p xmlns:a="http://schemas.openxmlformats.org/drawingml/2006/main">
            <a:r>
              <a:t>Imagine a responder watching a drone feed. They see smoke and fire, but need a shared view of what is happening on the ground. FireWatch AI proposes to map active fire and track the spread we can actually observe.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0:20–1:00 (40 seconds)</a:t>
            </a:r>
          </a:p>
          <a:p xmlns:a="http://schemas.openxmlformats.org/drawingml/2006/main">
            <a:r>
              <a:t/>
            </a:r>
          </a:p>
          <a:p xmlns:a="http://schemas.openxmlformats.org/drawingml/2006/main">
            <a:r>
              <a:t>Fires caused around 141 million hectares of tree-cover loss worldwide over the twenty years from 2006 through 2025. Smoke also harms communities far beyond the flames. Our specific user is a fire analyst supporting an incident commander. A moving drone provides images, but the analyst still needs to establish where the fire is and what changed. Smoke, changing camera angles and incomplete coverage complicate that comparison. We want every update to include its location, observation time and supporting evidence.</a:t>
            </a:r>
          </a:p>
          <a:p xmlns:a="http://schemas.openxmlformats.org/drawingml/2006/main">
            <a:r>
              <a:t/>
            </a:r>
          </a:p>
          <a:p xmlns:a="http://schemas.openxmlformats.org/drawingml/2006/main">
            <a:r>
              <a:t>SOURCE AND DEFINITION</a:t>
            </a:r>
          </a:p>
          <a:p xmlns:a="http://schemas.openxmlformats.org/drawingml/2006/main">
            <a:r>
              <a:t>WRI/UMD: https://www.wri.org/insights/global-trends-forest-fires . Annual data: https://flo.uri.sh/visualisation/28787896/embed . Derived sum of Tree cover loss due to fires, 2006–2025 inclusive: 141,366,178 ha, rounded to 141M. Gross stand-replacing tree-cover loss at 30% canopy threshold, not net loss after regrowth or permanent deforestation. Some 2025 detections reflect late-2024 fires. Smoke: https://www.epa.gov/wildfires/wildland-fires-and-public-health-effects . No fixed conversion from burned area to AQI.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1:00–1:25 (25 seconds)</a:t>
            </a:r>
          </a:p>
          <a:p xmlns:a="http://schemas.openxmlformats.org/drawingml/2006/main">
            <a:r>
              <a:t/>
            </a:r>
          </a:p>
          <a:p xmlns:a="http://schemas.openxmlformats.org/drawingml/2006/main">
            <a:r>
              <a:t>The proposed product is a current fire map with a memory. An analyst could inspect an observed front, compare it with an earlier pass, and open the images behind the result. We focus on existing fire and observed change. Future spread forecasting is outside this initial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1:25–1:45 (20 seconds)</a:t>
            </a:r>
          </a:p>
          <a:p xmlns:a="http://schemas.openxmlformats.org/drawingml/2006/main">
            <a:r>
              <a:t/>
            </a:r>
          </a:p>
          <a:p xmlns:a="http://schemas.openxmlformats.org/drawingml/2006/main">
            <a:r>
              <a:t>RGB and infrared provide complementary evidence. Drone position and camera pose help place detections on the ground, together with calibration and terrain information. Weather provides context. GPS alone cannot locate a hotspot, and a thermal color image does not automatically provide a reliable temperature.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1:45–2:10 (25 seconds)</a:t>
            </a:r>
          </a:p>
          <a:p xmlns:a="http://schemas.openxmlformats.org/drawingml/2006/main">
            <a:r>
              <a:t/>
            </a:r>
          </a:p>
          <a:p xmlns:a="http://schemas.openxmlformats.org/drawingml/2006/main">
            <a:r>
              <a:t>The workflow matches images to capture-time telemetry, identifies fire evidence, and maps detections where the geometry supports it. It then compares observations of the same terrain. Computer vision and spatial processing produce measurements. An optional language model can summarize those verified outputs for the analyst.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2:10–2:40 (30 seconds)</a:t>
            </a:r>
          </a:p>
          <a:p xmlns:a="http://schemas.openxmlformats.org/drawingml/2006/main">
            <a:r>
              <a:t/>
            </a:r>
          </a:p>
          <a:p xmlns:a="http://schemas.openxmlformats.org/drawingml/2006/main">
            <a:r>
              <a:t>On the first pass, we record a visible front and its timestamp. On a return pass, we align observations before comparing them. Supported movement appears as observed change. Newly visible terrain appears as new coverage, because revealing a hidden area does not prove that fire spread there. The analyst reviews both observations. This sequence illustrates the intended interaction, rather than a validated live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2:40–3:00 (20 seconds)</a:t>
            </a:r>
          </a:p>
          <a:p xmlns:a="http://schemas.openxmlformats.org/drawingml/2006/main">
            <a:r>
              <a:t/>
            </a:r>
          </a:p>
          <a:p xmlns:a="http://schemas.openxmlformats.org/drawingml/2006/main">
            <a:r>
              <a:t>Uncertainty belongs in the output. Missing coverage remains unknown. Weak geolocation means withholding ground distances and speed. Stale observations need clear timestamps. Those distinctions help an analyst decide what evidence is strong enough to share, and where another observation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3:00–3:25 (25 seconds)</a:t>
            </a:r>
          </a:p>
          <a:p xmlns:a="http://schemas.openxmlformats.org/drawingml/2006/main">
            <a:r>
              <a:t/>
            </a:r>
          </a:p>
          <a:p xmlns:a="http://schemas.openxmlformats.org/drawingml/2006/main">
            <a:r>
              <a:t>Our research has begun with offline public-data pilots. Field performance remains unproven. The next tests must measure missed fire, false alarms, location error and capture-to-display delay. A crucial test is a stationary fire viewed by a moving drone: camera motion must not become reported fire spread.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3:25–3:45 (20 seconds)</a:t>
            </a:r>
          </a:p>
          <a:p xmlns:a="http://schemas.openxmlformats.org/drawingml/2006/main">
            <a:r>
              <a:t/>
            </a:r>
          </a:p>
          <a:p xmlns:a="http://schemas.openxmlformats.org/drawingml/2006/main">
            <a:r>
              <a:t>We want to work with a drone operator and a responder or analyst on a constrained pilot. Start with synchronized recordings and reviewed labels, then consider a controlled live trial. The value question is whether an analyst can produce a clearer, more timely incident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FOUR-MINUTE PITCH</a:t>
            </a:r>
          </a:p>
          <a:p xmlns:a="http://schemas.openxmlformats.org/drawingml/2006/main">
            <a:r>
              <a:t>3:45–4:00 (15 seconds)</a:t>
            </a:r>
          </a:p>
          <a:p xmlns:a="http://schemas.openxmlformats.org/drawingml/2006/main">
            <a:r>
              <a:t/>
            </a:r>
          </a:p>
          <a:p xmlns:a="http://schemas.openxmlformats.org/drawingml/2006/main">
            <a:r>
              <a:t>FireWatch AI aims to make observed fire easier to locate and compare over time. We are seeking a pilot partner with suitable drone data and responder feedback to test that promise.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e1c2f150d04c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ea0ee6d713479e" /><Relationship Type="http://schemas.openxmlformats.org/officeDocument/2006/relationships/slideLayout" Target="/ppt/slideLayouts/slideLayout1.xml" Id="R967183ce323442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7183ce323442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071a18dbcd4cf2" /><Relationship Type="http://schemas.openxmlformats.org/officeDocument/2006/relationships/image" Target="/ppt/media/image.png" Id="R8a7a9823de6242d4" /><Relationship Type="http://schemas.openxmlformats.org/officeDocument/2006/relationships/notesSlide" Target="/ppt/notesSlides/notesSlide1.xml" Id="R5b4dbde4171b4a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e415a8f3cc4275" /><Relationship Type="http://schemas.openxmlformats.org/officeDocument/2006/relationships/notesSlide" Target="/ppt/notesSlides/notesSlide2.xml" Id="Rddbb448786584c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cded481e284948" /><Relationship Type="http://schemas.openxmlformats.org/officeDocument/2006/relationships/notesSlide" Target="/ppt/notesSlides/notesSlide3.xml" Id="R8d9a50cd777543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08ef4770f540b7" /><Relationship Type="http://schemas.openxmlformats.org/officeDocument/2006/relationships/notesSlide" Target="/ppt/notesSlides/notesSlide4.xml" Id="Re1e3ce7fac284b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3da202a35c4cca" /><Relationship Type="http://schemas.openxmlformats.org/officeDocument/2006/relationships/notesSlide" Target="/ppt/notesSlides/notesSlide5.xml" Id="R78ca1550dc7746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2b046b7df646b6" /><Relationship Type="http://schemas.openxmlformats.org/officeDocument/2006/relationships/notesSlide" Target="/ppt/notesSlides/notesSlide6.xml" Id="Rfb29d883fb8641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61dceae2be46bf" /><Relationship Type="http://schemas.openxmlformats.org/officeDocument/2006/relationships/notesSlide" Target="/ppt/notesSlides/notesSlide7.xml" Id="R6975711c155745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7e86369f294c32" /><Relationship Type="http://schemas.openxmlformats.org/officeDocument/2006/relationships/notesSlide" Target="/ppt/notesSlides/notesSlide8.xml" Id="Rc0f90db1c23945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fea8f44b2743bf" /><Relationship Type="http://schemas.openxmlformats.org/officeDocument/2006/relationships/notesSlide" Target="/ppt/notesSlides/notesSlide9.xml" Id="Refd41cfe2f7f47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008bfd7730461d" /><Relationship Type="http://schemas.openxmlformats.org/officeDocument/2006/relationships/image" Target="/ppt/media/image2.png" Id="R9df6022f191a4ccd" /><Relationship Type="http://schemas.openxmlformats.org/officeDocument/2006/relationships/notesSlide" Target="/ppt/notesSlides/notesSlide10.xml" Id="R2d676d4bc1ed4e36" /></Relationships>
</file>

<file path=ppt/slides/slide1.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7a9823de6242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B19CBB-832E-49E9-A7FC-A1E0AF20839A}"/>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01</a:t>
            </a:r>
          </a:p>
        </p:txBody>
      </p:sp>
      <p:sp>
        <p:nvSpPr>
          <p:cNvPr id="3" name="">
            <a:extLst xmlns:a="http://schemas.openxmlformats.org/drawingml/2006/main">
              <a:ext uri="{FF2B5EF4-FFF2-40B4-BE49-F238E27FC236}">
                <a16:creationId xmlns:a16="http://schemas.microsoft.com/office/drawing/2014/main" id="{63A44316-0B61-4C88-B00E-6432A236F209}"/>
              </a:ext>
            </a:extLst>
          </p:cNvPr>
          <p:cNvSpPr>
            <a:spLocks xmlns:a="http://schemas.openxmlformats.org/drawingml/2006/main" noGrp="1"/>
          </p:cNvSpPr>
          <p:nvPr/>
        </p:nvSpPr>
        <p:spPr>
          <a:xfrm xmlns:a="http://schemas.openxmlformats.org/drawingml/2006/main">
            <a:off x="666750" y="8096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FF7949"/>
                </a:solidFill>
                <a:latin typeface="Inter"/>
                <a:ea typeface="Inter"/>
                <a:cs typeface="Inter"/>
              </a:defRPr>
            </a:pPr>
            <a:r>
              <a:rPr sz="1650" b="1">
                <a:solidFill>
                  <a:srgbClr val="FF7949"/>
                </a:solidFill>
                <a:latin typeface="Inter"/>
                <a:ea typeface="Inter"/>
                <a:cs typeface="Inter"/>
              </a:rPr>
              <a:t>FIREBUILD HACKATHON</a:t>
            </a:r>
          </a:p>
        </p:txBody>
      </p:sp>
      <p:sp>
        <p:nvSpPr>
          <p:cNvPr id="4" name="">
            <a:extLst xmlns:a="http://schemas.openxmlformats.org/drawingml/2006/main">
              <a:ext uri="{FF2B5EF4-FFF2-40B4-BE49-F238E27FC236}">
                <a16:creationId xmlns:a16="http://schemas.microsoft.com/office/drawing/2014/main" id="{E72FA375-BE72-407E-9387-76C9A339B5F6}"/>
              </a:ext>
            </a:extLst>
          </p:cNvPr>
          <p:cNvSpPr>
            <a:spLocks xmlns:a="http://schemas.openxmlformats.org/drawingml/2006/main" noGrp="1"/>
          </p:cNvSpPr>
          <p:nvPr/>
        </p:nvSpPr>
        <p:spPr>
          <a:xfrm xmlns:a="http://schemas.openxmlformats.org/drawingml/2006/main">
            <a:off x="666750" y="2143125"/>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450" b="1">
                <a:solidFill>
                  <a:srgbClr val="F6F3EC"/>
                </a:solidFill>
                <a:latin typeface="Inter"/>
                <a:ea typeface="Inter"/>
                <a:cs typeface="Inter"/>
              </a:defRPr>
            </a:pPr>
            <a:r>
              <a:rPr sz="6450" b="1">
                <a:solidFill>
                  <a:srgbClr val="F6F3EC"/>
                </a:solidFill>
                <a:latin typeface="Inter"/>
                <a:ea typeface="Inter"/>
                <a:cs typeface="Inter"/>
              </a:rPr>
              <a:t>FireWatch AI</a:t>
            </a:r>
          </a:p>
        </p:txBody>
      </p:sp>
      <p:sp>
        <p:nvSpPr>
          <p:cNvPr id="5" name="">
            <a:extLst xmlns:a="http://schemas.openxmlformats.org/drawingml/2006/main">
              <a:ext uri="{FF2B5EF4-FFF2-40B4-BE49-F238E27FC236}">
                <a16:creationId xmlns:a16="http://schemas.microsoft.com/office/drawing/2014/main" id="{49CB6DC7-22B0-45F4-9806-969570BDF879}"/>
              </a:ext>
            </a:extLst>
          </p:cNvPr>
          <p:cNvSpPr>
            <a:spLocks xmlns:a="http://schemas.openxmlformats.org/drawingml/2006/main" noGrp="1"/>
          </p:cNvSpPr>
          <p:nvPr/>
        </p:nvSpPr>
        <p:spPr>
          <a:xfrm xmlns:a="http://schemas.openxmlformats.org/drawingml/2006/main">
            <a:off x="704850" y="3476625"/>
            <a:ext cx="790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F6F3EC"/>
                </a:solidFill>
                <a:latin typeface="Inter"/>
                <a:ea typeface="Inter"/>
                <a:cs typeface="Inter"/>
              </a:defRPr>
            </a:pPr>
            <a:r>
              <a:rPr sz="2700" b="0">
                <a:solidFill>
                  <a:srgbClr val="F6F3EC"/>
                </a:solidFill>
                <a:latin typeface="Inter"/>
                <a:ea typeface="Inter"/>
                <a:cs typeface="Inter"/>
              </a:rPr>
              <a:t>Drone imagery for tracking</a:t>
            </a:r>
          </a:p>
          <a:p xmlns:a="http://schemas.openxmlformats.org/drawingml/2006/main">
            <a:pPr>
              <a:buNone/>
              <a:defRPr sz="2700" b="0">
                <a:solidFill>
                  <a:srgbClr val="F6F3EC"/>
                </a:solidFill>
                <a:latin typeface="Inter"/>
                <a:ea typeface="Inter"/>
                <a:cs typeface="Inter"/>
              </a:defRPr>
            </a:pPr>
            <a:r>
              <a:rPr sz="2700" b="0">
                <a:solidFill>
                  <a:srgbClr val="F6F3EC"/>
                </a:solidFill>
                <a:latin typeface="Inter"/>
                <a:ea typeface="Inter"/>
                <a:cs typeface="Inter"/>
              </a:rPr>
              <a:t>active fire and observed spread</a:t>
            </a:r>
          </a:p>
        </p:txBody>
      </p:sp>
      <p:sp>
        <p:nvSpPr>
          <p:cNvPr id="6" name="">
            <a:extLst xmlns:a="http://schemas.openxmlformats.org/drawingml/2006/main">
              <a:ext uri="{FF2B5EF4-FFF2-40B4-BE49-F238E27FC236}">
                <a16:creationId xmlns:a16="http://schemas.microsoft.com/office/drawing/2014/main" id="{1063D673-0A90-4704-8E46-5F48BFAE3D81}"/>
              </a:ext>
            </a:extLst>
          </p:cNvPr>
          <p:cNvSpPr>
            <a:spLocks xmlns:a="http://schemas.openxmlformats.org/drawingml/2006/main" noGrp="1"/>
          </p:cNvSpPr>
          <p:nvPr/>
        </p:nvSpPr>
        <p:spPr>
          <a:xfrm xmlns:a="http://schemas.openxmlformats.org/drawingml/2006/main">
            <a:off x="704850" y="581025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Four-minute concept pitch</a:t>
            </a:r>
          </a:p>
        </p:txBody>
      </p:sp>
      <p:sp>
        <p:nvSpPr>
          <p:cNvPr id="7" name="">
            <a:extLst xmlns:a="http://schemas.openxmlformats.org/drawingml/2006/main">
              <a:ext uri="{FF2B5EF4-FFF2-40B4-BE49-F238E27FC236}">
                <a16:creationId xmlns:a16="http://schemas.microsoft.com/office/drawing/2014/main" id="{9F761863-4C0D-4FA7-AAD2-B04FA75D6148}"/>
              </a:ext>
            </a:extLst>
          </p:cNvPr>
          <p:cNvSpPr>
            <a:spLocks xmlns:a="http://schemas.openxmlformats.org/drawingml/2006/main" noGrp="1"/>
          </p:cNvSpPr>
          <p:nvPr/>
        </p:nvSpPr>
        <p:spPr>
          <a:xfrm xmlns:a="http://schemas.openxmlformats.org/drawingml/2006/main">
            <a:off x="8382000" y="62388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B5B9B6"/>
                </a:solidFill>
                <a:latin typeface="Inter"/>
                <a:ea typeface="Inter"/>
                <a:cs typeface="Inter"/>
              </a:defRPr>
            </a:pPr>
            <a:r>
              <a:rPr sz="1125" b="0">
                <a:solidFill>
                  <a:srgbClr val="B5B9B6"/>
                </a:solidFill>
                <a:latin typeface="Inter"/>
                <a:ea typeface="Inter"/>
                <a:cs typeface="Inter"/>
              </a:rPr>
              <a:t>AI-generated conceptual image</a:t>
            </a:r>
          </a:p>
        </p:txBody>
      </p:sp>
    </p:spTree>
    <p:extLst>
      <p:ext uri="{BB962C8B-B14F-4D97-AF65-F5344CB8AC3E}">
        <p14:creationId xmlns:p14="http://schemas.microsoft.com/office/powerpoint/2010/main" val="12350069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Google Shape;31;p4">
            <a:extLst xmlns:a="http://schemas.openxmlformats.org/drawingml/2006/main">
              <a:ext uri="{FF2B5EF4-FFF2-40B4-BE49-F238E27FC236}">
                <a16:creationId xmlns:a16="http://schemas.microsoft.com/office/drawing/2014/main" id="{E5C4756F-EADB-4DDD-8A67-CD9FA9C48104}"/>
              </a:ext>
            </a:extLst>
          </p:cNvPr>
          <p:cNvSpPr>
            <a:spLocks xmlns:a="http://schemas.openxmlformats.org/drawingml/2006/main" noGrp="1"/>
          </p:cNvSpPr>
          <p:nvPr/>
        </p:nvSpPr>
        <p:spPr>
          <a:xfrm xmlns:a="http://schemas.openxmlformats.org/drawingml/2006/main">
            <a:off x="548640" y="365760"/>
            <a:ext cx="91440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200"/>
              <a:buFont typeface="Inter"/>
              <a:buNone/>
            </a:pPr>
            <a:r>
              <a:rPr sz="1200" b="1" i="0" u="none" strike="noStrike" cap="none">
                <a:solidFill>
                  <a:srgbClr val="F86130"/>
                </a:solidFill>
                <a:latin typeface="Plus Jakarta Sans"/>
                <a:ea typeface="Plus Jakarta Sans"/>
                <a:cs typeface="Plus Jakarta Sans"/>
              </a:rPr>
              <a:t>PROBLEM</a:t>
            </a:r>
            <a:endParaRPr sz="1200" b="0" i="0" u="none" strike="noStrike" cap="none">
              <a:solidFill>
                <a:schemeClr val="dk1"/>
              </a:solidFill>
              <a:latin typeface="Plus Jakarta Sans"/>
              <a:ea typeface="Plus Jakarta Sans"/>
              <a:cs typeface="Plus Jakarta Sans"/>
            </a:endParaRPr>
          </a:p>
        </p:txBody>
      </p:sp>
      <p:sp>
        <p:nvSpPr>
          <p:cNvPr id="32" name="Google Shape;32;p4">
            <a:extLst xmlns:a="http://schemas.openxmlformats.org/drawingml/2006/main">
              <a:ext uri="{FF2B5EF4-FFF2-40B4-BE49-F238E27FC236}">
                <a16:creationId xmlns:a16="http://schemas.microsoft.com/office/drawing/2014/main" id="{C9001279-907A-40B4-876F-4502C58E5096}"/>
              </a:ext>
            </a:extLst>
          </p:cNvPr>
          <p:cNvSpPr>
            <a:spLocks xmlns:a="http://schemas.openxmlformats.org/drawingml/2006/main" noGrp="1"/>
          </p:cNvSpPr>
          <p:nvPr/>
        </p:nvSpPr>
        <p:spPr>
          <a:xfrm xmlns:a="http://schemas.openxmlformats.org/drawingml/2006/main">
            <a:off x="548640" y="777240"/>
            <a:ext cx="105156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E0D0D"/>
              </a:buClr>
              <a:buSzPts val="3200"/>
              <a:buFont typeface="Space Grotesk"/>
              <a:buNone/>
            </a:pPr>
            <a:r>
              <a:rPr sz="3200" b="1" i="0" u="none" strike="noStrike" cap="none">
                <a:solidFill>
                  <a:srgbClr val="0E0D0D"/>
                </a:solidFill>
                <a:latin typeface="Plus Jakarta Sans"/>
                <a:ea typeface="Plus Jakarta Sans"/>
                <a:cs typeface="Plus Jakarta Sans"/>
              </a:rPr>
              <a:t>The problem</a:t>
            </a:r>
            <a:endParaRPr sz="3200" b="0" i="0" u="none" strike="noStrike" cap="none">
              <a:solidFill>
                <a:schemeClr val="dk1"/>
              </a:solidFill>
              <a:latin typeface="Plus Jakarta Sans"/>
              <a:ea typeface="Plus Jakarta Sans"/>
              <a:cs typeface="Plus Jakarta Sans"/>
            </a:endParaRPr>
          </a:p>
        </p:txBody>
      </p:sp>
      <p:sp>
        <p:nvSpPr>
          <p:cNvPr id="33" name="Google Shape;33;p4">
            <a:extLst xmlns:a="http://schemas.openxmlformats.org/drawingml/2006/main">
              <a:ext uri="{FF2B5EF4-FFF2-40B4-BE49-F238E27FC236}">
                <a16:creationId xmlns:a16="http://schemas.microsoft.com/office/drawing/2014/main" id="{CF385B98-1D97-4D09-AFCE-CF929FC0F0F6}"/>
              </a:ext>
            </a:extLst>
          </p:cNvPr>
          <p:cNvSpPr>
            <a:spLocks xmlns:a="http://schemas.openxmlformats.org/drawingml/2006/main" noGrp="1"/>
          </p:cNvSpPr>
          <p:nvPr/>
        </p:nvSpPr>
        <p:spPr>
          <a:xfrm xmlns:a="http://schemas.openxmlformats.org/drawingml/2006/main">
            <a:off x="548640" y="178308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PROBLEM STATEMENT</a:t>
            </a:r>
            <a:endParaRPr sz="1000" b="0" i="0" u="none" strike="noStrike" cap="none">
              <a:solidFill>
                <a:schemeClr val="dk1"/>
              </a:solidFill>
              <a:latin typeface="Plus Jakarta Sans"/>
              <a:ea typeface="Plus Jakarta Sans"/>
              <a:cs typeface="Plus Jakarta Sans"/>
            </a:endParaRPr>
          </a:p>
        </p:txBody>
      </p:sp>
      <p:sp>
        <p:nvSpPr>
          <p:cNvPr id="34" name="Google Shape;34;p4">
            <a:extLst xmlns:a="http://schemas.openxmlformats.org/drawingml/2006/main">
              <a:ext uri="{FF2B5EF4-FFF2-40B4-BE49-F238E27FC236}">
                <a16:creationId xmlns:a16="http://schemas.microsoft.com/office/drawing/2014/main" id="{17988EC7-2EC7-4D4C-A109-52B5C62085C8}"/>
              </a:ext>
            </a:extLst>
          </p:cNvPr>
          <p:cNvSpPr>
            <a:spLocks xmlns:a="http://schemas.openxmlformats.org/drawingml/2006/main" noGrp="1"/>
          </p:cNvSpPr>
          <p:nvPr/>
        </p:nvSpPr>
        <p:spPr>
          <a:xfrm xmlns:a="http://schemas.openxmlformats.org/drawingml/2006/main">
            <a:off x="548640" y="2075688"/>
            <a:ext cx="11064240" cy="91440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 name="Google Shape;35;p4">
            <a:extLst xmlns:a="http://schemas.openxmlformats.org/drawingml/2006/main">
              <a:ext uri="{FF2B5EF4-FFF2-40B4-BE49-F238E27FC236}">
                <a16:creationId xmlns:a16="http://schemas.microsoft.com/office/drawing/2014/main" id="{9441D431-1FAC-4278-B503-322B67EF32F6}"/>
              </a:ext>
            </a:extLst>
          </p:cNvPr>
          <p:cNvSpPr>
            <a:spLocks xmlns:a="http://schemas.openxmlformats.org/drawingml/2006/main" noGrp="1"/>
          </p:cNvSpPr>
          <p:nvPr/>
        </p:nvSpPr>
        <p:spPr>
          <a:xfrm xmlns:a="http://schemas.openxmlformats.org/drawingml/2006/main">
            <a:off x="731520" y="2075688"/>
            <a:ext cx="106984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Responders see drone video, but still need to establish where active fire is on the ground and what has changed since the last pass.</a:t>
            </a:r>
            <a:endParaRPr sz="1300" b="0" i="0" u="none" strike="noStrike" cap="none">
              <a:solidFill>
                <a:schemeClr val="dk1"/>
              </a:solidFill>
              <a:latin typeface="Plus Jakarta Sans"/>
              <a:ea typeface="Plus Jakarta Sans"/>
              <a:cs typeface="Plus Jakarta Sans"/>
            </a:endParaRPr>
          </a:p>
        </p:txBody>
      </p:sp>
      <p:sp>
        <p:nvSpPr>
          <p:cNvPr id="36" name="Google Shape;36;p4">
            <a:extLst xmlns:a="http://schemas.openxmlformats.org/drawingml/2006/main">
              <a:ext uri="{FF2B5EF4-FFF2-40B4-BE49-F238E27FC236}">
                <a16:creationId xmlns:a16="http://schemas.microsoft.com/office/drawing/2014/main" id="{9CF6E73A-7F1F-4E6B-9019-154ECA82D279}"/>
              </a:ext>
            </a:extLst>
          </p:cNvPr>
          <p:cNvSpPr>
            <a:spLocks xmlns:a="http://schemas.openxmlformats.org/drawingml/2006/main" noGrp="1"/>
          </p:cNvSpPr>
          <p:nvPr/>
        </p:nvSpPr>
        <p:spPr>
          <a:xfrm xmlns:a="http://schemas.openxmlformats.org/drawingml/2006/main">
            <a:off x="548640" y="3246120"/>
            <a:ext cx="5349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WHY THIS PROBLEM</a:t>
            </a:r>
            <a:endParaRPr sz="1000" b="0" i="0" u="none" strike="noStrike" cap="none">
              <a:solidFill>
                <a:schemeClr val="dk1"/>
              </a:solidFill>
              <a:latin typeface="Plus Jakarta Sans"/>
              <a:ea typeface="Plus Jakarta Sans"/>
              <a:cs typeface="Plus Jakarta Sans"/>
            </a:endParaRPr>
          </a:p>
        </p:txBody>
      </p:sp>
      <p:sp>
        <p:nvSpPr>
          <p:cNvPr id="37" name="Google Shape;37;p4">
            <a:extLst xmlns:a="http://schemas.openxmlformats.org/drawingml/2006/main">
              <a:ext uri="{FF2B5EF4-FFF2-40B4-BE49-F238E27FC236}">
                <a16:creationId xmlns:a16="http://schemas.microsoft.com/office/drawing/2014/main" id="{8AC6637E-CD6C-4582-B68A-8DAA119A2C01}"/>
              </a:ext>
            </a:extLst>
          </p:cNvPr>
          <p:cNvSpPr>
            <a:spLocks xmlns:a="http://schemas.openxmlformats.org/drawingml/2006/main" noGrp="1"/>
          </p:cNvSpPr>
          <p:nvPr/>
        </p:nvSpPr>
        <p:spPr>
          <a:xfrm xmlns:a="http://schemas.openxmlformats.org/drawingml/2006/main">
            <a:off x="548640" y="3538728"/>
            <a:ext cx="5349240" cy="146304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 name="Google Shape;38;p4">
            <a:extLst xmlns:a="http://schemas.openxmlformats.org/drawingml/2006/main">
              <a:ext uri="{FF2B5EF4-FFF2-40B4-BE49-F238E27FC236}">
                <a16:creationId xmlns:a16="http://schemas.microsoft.com/office/drawing/2014/main" id="{A0B3C9CD-FAE7-4431-A29F-EB2BA7426905}"/>
              </a:ext>
            </a:extLst>
          </p:cNvPr>
          <p:cNvSpPr>
            <a:spLocks xmlns:a="http://schemas.openxmlformats.org/drawingml/2006/main" noGrp="1"/>
          </p:cNvSpPr>
          <p:nvPr/>
        </p:nvSpPr>
        <p:spPr>
          <a:xfrm xmlns:a="http://schemas.openxmlformats.org/drawingml/2006/main">
            <a:off x="731520" y="3538728"/>
            <a:ext cx="498348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Fires caused 141M hectares of global tree-cover loss in 2006–2025. Smoke harms air quality far beyond the flames. Responders need timely observations they can verify.</a:t>
            </a:r>
            <a:endParaRPr sz="1300" b="0" i="0" u="none" strike="noStrike" cap="none">
              <a:solidFill>
                <a:schemeClr val="dk1"/>
              </a:solidFill>
              <a:latin typeface="Plus Jakarta Sans"/>
              <a:ea typeface="Plus Jakarta Sans"/>
              <a:cs typeface="Plus Jakarta Sans"/>
            </a:endParaRPr>
          </a:p>
        </p:txBody>
      </p:sp>
      <p:sp>
        <p:nvSpPr>
          <p:cNvPr id="39" name="Google Shape;39;p4">
            <a:extLst xmlns:a="http://schemas.openxmlformats.org/drawingml/2006/main">
              <a:ext uri="{FF2B5EF4-FFF2-40B4-BE49-F238E27FC236}">
                <a16:creationId xmlns:a16="http://schemas.microsoft.com/office/drawing/2014/main" id="{CBD98A4C-A19C-4C34-B893-FB0C622165CD}"/>
              </a:ext>
            </a:extLst>
          </p:cNvPr>
          <p:cNvSpPr>
            <a:spLocks xmlns:a="http://schemas.openxmlformats.org/drawingml/2006/main" noGrp="1"/>
          </p:cNvSpPr>
          <p:nvPr/>
        </p:nvSpPr>
        <p:spPr>
          <a:xfrm xmlns:a="http://schemas.openxmlformats.org/drawingml/2006/main">
            <a:off x="6263640" y="3246120"/>
            <a:ext cx="5349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1000"/>
              <a:buFont typeface="Inter"/>
              <a:buNone/>
            </a:pPr>
            <a:r>
              <a:rPr sz="1000" b="1" i="0" u="none" strike="noStrike" cap="none">
                <a:solidFill>
                  <a:srgbClr val="6B6B68"/>
                </a:solidFill>
                <a:latin typeface="Plus Jakarta Sans"/>
                <a:ea typeface="Plus Jakarta Sans"/>
                <a:cs typeface="Plus Jakarta Sans"/>
              </a:rPr>
              <a:t>END USER (BE SPECIFIC)</a:t>
            </a:r>
            <a:endParaRPr sz="1000" b="0" i="0" u="none" strike="noStrike" cap="none">
              <a:solidFill>
                <a:schemeClr val="dk1"/>
              </a:solidFill>
              <a:latin typeface="Plus Jakarta Sans"/>
              <a:ea typeface="Plus Jakarta Sans"/>
              <a:cs typeface="Plus Jakarta Sans"/>
            </a:endParaRPr>
          </a:p>
        </p:txBody>
      </p:sp>
      <p:sp>
        <p:nvSpPr>
          <p:cNvPr id="40" name="Google Shape;40;p4">
            <a:extLst xmlns:a="http://schemas.openxmlformats.org/drawingml/2006/main">
              <a:ext uri="{FF2B5EF4-FFF2-40B4-BE49-F238E27FC236}">
                <a16:creationId xmlns:a16="http://schemas.microsoft.com/office/drawing/2014/main" id="{FD55B839-4C9E-4B62-95D4-20C715162700}"/>
              </a:ext>
            </a:extLst>
          </p:cNvPr>
          <p:cNvSpPr>
            <a:spLocks xmlns:a="http://schemas.openxmlformats.org/drawingml/2006/main" noGrp="1"/>
          </p:cNvSpPr>
          <p:nvPr/>
        </p:nvSpPr>
        <p:spPr>
          <a:xfrm xmlns:a="http://schemas.openxmlformats.org/drawingml/2006/main">
            <a:off x="6263640" y="3538728"/>
            <a:ext cx="5349240" cy="1463040"/>
          </a:xfrm>
          <a:prstGeom xmlns:a="http://schemas.openxmlformats.org/drawingml/2006/main" prst="rect">
            <a:avLst/>
          </a:prstGeom>
          <a:solidFill xmlns:a="http://schemas.openxmlformats.org/drawingml/2006/main">
            <a:srgbClr val="F0EFEC"/>
          </a:solidFill>
          <a:ln xmlns:a="http://schemas.openxmlformats.org/drawingml/2006/main" w="12700" cmpd="sng">
            <a:solidFill>
              <a:srgbClr val="D4D4D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 name="Google Shape;41;p4">
            <a:extLst xmlns:a="http://schemas.openxmlformats.org/drawingml/2006/main">
              <a:ext uri="{FF2B5EF4-FFF2-40B4-BE49-F238E27FC236}">
                <a16:creationId xmlns:a16="http://schemas.microsoft.com/office/drawing/2014/main" id="{77ED0B4D-7B72-4523-94C4-C3BC63A2FCAE}"/>
              </a:ext>
            </a:extLst>
          </p:cNvPr>
          <p:cNvSpPr>
            <a:spLocks xmlns:a="http://schemas.openxmlformats.org/drawingml/2006/main" noGrp="1"/>
          </p:cNvSpPr>
          <p:nvPr/>
        </p:nvSpPr>
        <p:spPr>
          <a:xfrm xmlns:a="http://schemas.openxmlformats.org/drawingml/2006/main">
            <a:off x="6446520" y="3538728"/>
            <a:ext cx="498348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86130"/>
              </a:buClr>
              <a:buSzPts val="1300"/>
              <a:buFont typeface="Inter"/>
              <a:buNone/>
            </a:pPr>
            <a:r>
              <a:rPr sz="1300" b="0" i="1" u="none" strike="noStrike" cap="none">
                <a:solidFill>
                  <a:srgbClr val="F86130"/>
                </a:solidFill>
                <a:latin typeface="Plus Jakarta Sans"/>
                <a:ea typeface="Plus Jakarta Sans"/>
                <a:cs typeface="Plus Jakarta Sans"/>
              </a:rPr>
              <a:t>A fire analyst supporting an incident commander: comparing successive drone passes to report the observed fire front, its timestamp and areas still unseen.</a:t>
            </a:r>
            <a:endParaRPr sz="1300" b="0" i="0" u="none" strike="noStrike" cap="none">
              <a:solidFill>
                <a:schemeClr val="dk1"/>
              </a:solidFill>
              <a:latin typeface="Plus Jakarta Sans"/>
              <a:ea typeface="Plus Jakarta Sans"/>
              <a:cs typeface="Plus Jakarta Sans"/>
            </a:endParaRPr>
          </a:p>
        </p:txBody>
      </p:sp>
      <p:cxnSp>
        <p:nvCxnSpPr>
          <p:cNvPr id="56" name="Google Shape;42;p4"/>
          <p:cNvCxnSpPr/>
          <p:nvPr/>
        </p:nvCxnSpPr>
        <p:spPr>
          <a:xfrm xmlns:a="http://schemas.openxmlformats.org/drawingml/2006/main">
            <a:off x="548640" y="6355080"/>
            <a:ext cx="11091672" cy="0"/>
          </a:xfrm>
          <a:prstGeom xmlns:a="http://schemas.openxmlformats.org/drawingml/2006/main" prst="straightConnector1">
            <a:avLst/>
          </a:prstGeom>
          <a:ln xmlns:a="http://schemas.openxmlformats.org/drawingml/2006/main" w="12700" cap="flat">
            <a:solidFill>
              <a:srgbClr val="D4D4D4"/>
            </a:solidFill>
            <a:prstDash val="solid"/>
            <a:round/>
            <a:headEnd type="none" w="sm" len="sm"/>
            <a:tailEnd type="none" w="sm" len="sm"/>
          </a:ln>
        </p:spPr>
      </p:cxnSp>
      <p:sp>
        <p:nvSpPr>
          <p:cNvPr id="43" name="Google Shape;43;p4">
            <a:extLst xmlns:a="http://schemas.openxmlformats.org/drawingml/2006/main">
              <a:ext uri="{FF2B5EF4-FFF2-40B4-BE49-F238E27FC236}">
                <a16:creationId xmlns:a16="http://schemas.microsoft.com/office/drawing/2014/main" id="{FB154213-1BEF-4F93-BC62-B3B1446F23FB}"/>
              </a:ext>
            </a:extLst>
          </p:cNvPr>
          <p:cNvSpPr>
            <a:spLocks xmlns:a="http://schemas.openxmlformats.org/drawingml/2006/main" noGrp="1"/>
          </p:cNvSpPr>
          <p:nvPr/>
        </p:nvSpPr>
        <p:spPr>
          <a:xfrm xmlns:a="http://schemas.openxmlformats.org/drawingml/2006/main">
            <a:off x="548640" y="642823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Plus Jakarta Sans"/>
                <a:ea typeface="Plus Jakarta Sans"/>
                <a:cs typeface="Plus Jakarta Sans"/>
              </a:rPr>
              <a:t>FIREBIRD BUILD</a:t>
            </a:r>
            <a:endParaRPr sz="900" b="0" i="0" u="none" strike="noStrike" cap="none">
              <a:solidFill>
                <a:schemeClr val="dk1"/>
              </a:solidFill>
              <a:latin typeface="Plus Jakarta Sans"/>
              <a:ea typeface="Plus Jakarta Sans"/>
              <a:cs typeface="Plus Jakarta Sans"/>
            </a:endParaRPr>
          </a:p>
        </p:txBody>
      </p:sp>
      <p:sp>
        <p:nvSpPr>
          <p:cNvPr id="44" name="Google Shape;44;p4">
            <a:extLst xmlns:a="http://schemas.openxmlformats.org/drawingml/2006/main">
              <a:ext uri="{FF2B5EF4-FFF2-40B4-BE49-F238E27FC236}">
                <a16:creationId xmlns:a16="http://schemas.microsoft.com/office/drawing/2014/main" id="{7E34B38E-8809-4EA2-BAE4-EDCC7A8B76BD}"/>
              </a:ext>
            </a:extLst>
          </p:cNvPr>
          <p:cNvSpPr>
            <a:spLocks xmlns:a="http://schemas.openxmlformats.org/drawingml/2006/main" noGrp="1"/>
          </p:cNvSpPr>
          <p:nvPr/>
        </p:nvSpPr>
        <p:spPr>
          <a:xfrm xmlns:a="http://schemas.openxmlformats.org/drawingml/2006/main">
            <a:off x="11155680" y="6428232"/>
            <a:ext cx="502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6B68"/>
              </a:buClr>
              <a:buSzPts val="900"/>
              <a:buFont typeface="Inter"/>
              <a:buNone/>
            </a:pPr>
            <a:r>
              <a:rPr sz="900" b="1" i="0" u="none" strike="noStrike" cap="none">
                <a:solidFill>
                  <a:srgbClr val="6B6B68"/>
                </a:solidFill>
                <a:latin typeface="Inter"/>
                <a:ea typeface="Inter"/>
                <a:cs typeface="Inter"/>
              </a:rPr>
              <a:t>2</a:t>
            </a:r>
            <a:endParaRPr sz="9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492125877"/>
      </p:ext>
    </p:extLst>
  </p:cSld>
</p:sld>
</file>

<file path=ppt/slides/slide3.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694392-0E22-4E75-918E-DA8C7A87949D}"/>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03</a:t>
            </a:r>
          </a:p>
        </p:txBody>
      </p:sp>
      <p:sp>
        <p:nvSpPr>
          <p:cNvPr id="2" name="">
            <a:extLst xmlns:a="http://schemas.openxmlformats.org/drawingml/2006/main">
              <a:ext uri="{FF2B5EF4-FFF2-40B4-BE49-F238E27FC236}">
                <a16:creationId xmlns:a16="http://schemas.microsoft.com/office/drawing/2014/main" id="{A4B23F65-0AD5-49DF-835C-39392285F0A6}"/>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The proposed product</a:t>
            </a:r>
          </a:p>
        </p:txBody>
      </p:sp>
      <p:sp>
        <p:nvSpPr>
          <p:cNvPr id="3" name="">
            <a:extLst xmlns:a="http://schemas.openxmlformats.org/drawingml/2006/main">
              <a:ext uri="{FF2B5EF4-FFF2-40B4-BE49-F238E27FC236}">
                <a16:creationId xmlns:a16="http://schemas.microsoft.com/office/drawing/2014/main" id="{2F92F0EB-A0A9-4FD3-8E39-D3C45A5F4866}"/>
              </a:ext>
            </a:extLst>
          </p:cNvPr>
          <p:cNvSpPr>
            <a:spLocks xmlns:a="http://schemas.openxmlformats.org/drawingml/2006/main" noGrp="1"/>
          </p:cNvSpPr>
          <p:nvPr/>
        </p:nvSpPr>
        <p:spPr>
          <a:xfrm xmlns:a="http://schemas.openxmlformats.org/drawingml/2006/main">
            <a:off x="666750" y="214312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FF7949"/>
                </a:solidFill>
                <a:latin typeface="Inter"/>
                <a:ea typeface="Inter"/>
                <a:cs typeface="Inter"/>
              </a:defRPr>
            </a:pPr>
            <a:r>
              <a:rPr sz="4800" b="1">
                <a:solidFill>
                  <a:srgbClr val="FF7949"/>
                </a:solidFill>
                <a:latin typeface="Inter"/>
                <a:ea typeface="Inter"/>
                <a:cs typeface="Inter"/>
              </a:rPr>
              <a:t>A current fire map</a:t>
            </a:r>
          </a:p>
          <a:p xmlns:a="http://schemas.openxmlformats.org/drawingml/2006/main">
            <a:pPr>
              <a:buNone/>
              <a:defRPr sz="4800" b="1">
                <a:solidFill>
                  <a:srgbClr val="FF7949"/>
                </a:solidFill>
                <a:latin typeface="Inter"/>
                <a:ea typeface="Inter"/>
                <a:cs typeface="Inter"/>
              </a:defRPr>
            </a:pPr>
            <a:r>
              <a:rPr sz="4800" b="1">
                <a:solidFill>
                  <a:srgbClr val="FF7949"/>
                </a:solidFill>
                <a:latin typeface="Inter"/>
                <a:ea typeface="Inter"/>
                <a:cs typeface="Inter"/>
              </a:rPr>
              <a:t>with a memory</a:t>
            </a:r>
          </a:p>
        </p:txBody>
      </p:sp>
      <p:sp>
        <p:nvSpPr>
          <p:cNvPr id="4" name="">
            <a:extLst xmlns:a="http://schemas.openxmlformats.org/drawingml/2006/main">
              <a:ext uri="{FF2B5EF4-FFF2-40B4-BE49-F238E27FC236}">
                <a16:creationId xmlns:a16="http://schemas.microsoft.com/office/drawing/2014/main" id="{AD5819F8-E2D4-451E-B55D-992B9B24E455}"/>
              </a:ext>
            </a:extLst>
          </p:cNvPr>
          <p:cNvSpPr>
            <a:spLocks xmlns:a="http://schemas.openxmlformats.org/drawingml/2006/main" noGrp="1"/>
          </p:cNvSpPr>
          <p:nvPr/>
        </p:nvSpPr>
        <p:spPr>
          <a:xfrm xmlns:a="http://schemas.openxmlformats.org/drawingml/2006/main">
            <a:off x="704850" y="47148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6F3EC"/>
                </a:solidFill>
                <a:latin typeface="Inter"/>
                <a:ea typeface="Inter"/>
                <a:cs typeface="Inter"/>
              </a:defRPr>
            </a:pPr>
            <a:r>
              <a:rPr sz="2400" b="0">
                <a:solidFill>
                  <a:srgbClr val="F6F3EC"/>
                </a:solidFill>
                <a:latin typeface="Inter"/>
                <a:ea typeface="Inter"/>
                <a:cs typeface="Inter"/>
              </a:rPr>
              <a:t>Observed extent and recent movement</a:t>
            </a:r>
          </a:p>
          <a:p xmlns:a="http://schemas.openxmlformats.org/drawingml/2006/main">
            <a:pPr>
              <a:buNone/>
              <a:defRPr sz="2400" b="0">
                <a:solidFill>
                  <a:srgbClr val="F6F3EC"/>
                </a:solidFill>
                <a:latin typeface="Inter"/>
                <a:ea typeface="Inter"/>
                <a:cs typeface="Inter"/>
              </a:defRPr>
            </a:pPr>
            <a:r>
              <a:rPr sz="2400" b="0">
                <a:solidFill>
                  <a:srgbClr val="F6F3EC"/>
                </a:solidFill>
                <a:latin typeface="Inter"/>
                <a:ea typeface="Inter"/>
                <a:cs typeface="Inter"/>
              </a:rPr>
              <a:t>Evidence, uncertainty and last-seen time</a:t>
            </a:r>
          </a:p>
        </p:txBody>
      </p:sp>
    </p:spTree>
    <p:extLst>
      <p:ext uri="{BB962C8B-B14F-4D97-AF65-F5344CB8AC3E}">
        <p14:creationId xmlns:p14="http://schemas.microsoft.com/office/powerpoint/2010/main" val="344798320"/>
      </p:ext>
    </p:extLst>
  </p:cSld>
</p:sld>
</file>

<file path=ppt/slides/slide4.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9FB0BB-F19C-4E88-B247-CE03B7429FAA}"/>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04</a:t>
            </a:r>
          </a:p>
        </p:txBody>
      </p:sp>
      <p:sp>
        <p:nvSpPr>
          <p:cNvPr id="2" name="">
            <a:extLst xmlns:a="http://schemas.openxmlformats.org/drawingml/2006/main">
              <a:ext uri="{FF2B5EF4-FFF2-40B4-BE49-F238E27FC236}">
                <a16:creationId xmlns:a16="http://schemas.microsoft.com/office/drawing/2014/main" id="{66323F08-A6E5-4319-8AA1-1B61D60FABBA}"/>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The evidence behind the map</a:t>
            </a:r>
          </a:p>
        </p:txBody>
      </p:sp>
      <p:sp>
        <p:nvSpPr>
          <p:cNvPr id="3" name="">
            <a:extLst xmlns:a="http://schemas.openxmlformats.org/drawingml/2006/main">
              <a:ext uri="{FF2B5EF4-FFF2-40B4-BE49-F238E27FC236}">
                <a16:creationId xmlns:a16="http://schemas.microsoft.com/office/drawing/2014/main" id="{5C813194-88A5-4BE0-B9F6-5B936E28A352}"/>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RGB + infrared</a:t>
            </a:r>
          </a:p>
        </p:txBody>
      </p:sp>
      <p:sp>
        <p:nvSpPr>
          <p:cNvPr id="4" name="">
            <a:extLst xmlns:a="http://schemas.openxmlformats.org/drawingml/2006/main">
              <a:ext uri="{FF2B5EF4-FFF2-40B4-BE49-F238E27FC236}">
                <a16:creationId xmlns:a16="http://schemas.microsoft.com/office/drawing/2014/main" id="{60FEB624-17F8-4CA5-A30D-189E535F67A4}"/>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Visible fire evidence and thermal anomalies</a:t>
            </a:r>
          </a:p>
        </p:txBody>
      </p:sp>
      <p:sp>
        <p:nvSpPr>
          <p:cNvPr id="5" name="">
            <a:extLst xmlns:a="http://schemas.openxmlformats.org/drawingml/2006/main">
              <a:ext uri="{FF2B5EF4-FFF2-40B4-BE49-F238E27FC236}">
                <a16:creationId xmlns:a16="http://schemas.microsoft.com/office/drawing/2014/main" id="{7D545B79-00CC-4185-9743-5D10C209840B}"/>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Position + camera pose</a:t>
            </a:r>
          </a:p>
        </p:txBody>
      </p:sp>
      <p:sp>
        <p:nvSpPr>
          <p:cNvPr id="6" name="">
            <a:extLst xmlns:a="http://schemas.openxmlformats.org/drawingml/2006/main">
              <a:ext uri="{FF2B5EF4-FFF2-40B4-BE49-F238E27FC236}">
                <a16:creationId xmlns:a16="http://schemas.microsoft.com/office/drawing/2014/main" id="{D909D2F5-1E04-4C36-9340-B68356D916E4}"/>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Ground location, with calibration and terrain</a:t>
            </a:r>
          </a:p>
        </p:txBody>
      </p:sp>
      <p:sp>
        <p:nvSpPr>
          <p:cNvPr id="7" name="">
            <a:extLst xmlns:a="http://schemas.openxmlformats.org/drawingml/2006/main">
              <a:ext uri="{FF2B5EF4-FFF2-40B4-BE49-F238E27FC236}">
                <a16:creationId xmlns:a16="http://schemas.microsoft.com/office/drawing/2014/main" id="{816C2736-5361-42B1-A6AF-7BC0AD73AA1E}"/>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Weather + temperature</a:t>
            </a:r>
          </a:p>
        </p:txBody>
      </p:sp>
      <p:sp>
        <p:nvSpPr>
          <p:cNvPr id="8" name="">
            <a:extLst xmlns:a="http://schemas.openxmlformats.org/drawingml/2006/main">
              <a:ext uri="{FF2B5EF4-FFF2-40B4-BE49-F238E27FC236}">
                <a16:creationId xmlns:a16="http://schemas.microsoft.com/office/drawing/2014/main" id="{C2170AD9-341F-4DEC-8308-407D042F2EC6}"/>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Supporting context with timestamps</a:t>
            </a:r>
          </a:p>
        </p:txBody>
      </p:sp>
      <p:sp>
        <p:nvSpPr>
          <p:cNvPr id="9" name="">
            <a:extLst xmlns:a="http://schemas.openxmlformats.org/drawingml/2006/main">
              <a:ext uri="{FF2B5EF4-FFF2-40B4-BE49-F238E27FC236}">
                <a16:creationId xmlns:a16="http://schemas.microsoft.com/office/drawing/2014/main" id="{CE8C4A28-64FD-4F2F-B8B5-A43761A1BC4B}"/>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B5B9B6"/>
                </a:solidFill>
                <a:latin typeface="Inter"/>
                <a:ea typeface="Inter"/>
                <a:cs typeface="Inter"/>
              </a:defRPr>
            </a:pPr>
            <a:r>
              <a:rPr sz="1575" b="0">
                <a:solidFill>
                  <a:srgbClr val="B5B9B6"/>
                </a:solidFill>
                <a:latin typeface="Inter"/>
                <a:ea typeface="Inter"/>
                <a:cs typeface="Inter"/>
              </a:rPr>
              <a:t>Proposed sensor inputs. Hardware and data availability remain open.</a:t>
            </a:r>
          </a:p>
        </p:txBody>
      </p:sp>
    </p:spTree>
    <p:extLst>
      <p:ext uri="{BB962C8B-B14F-4D97-AF65-F5344CB8AC3E}">
        <p14:creationId xmlns:p14="http://schemas.microsoft.com/office/powerpoint/2010/main" val="1632822304"/>
      </p:ext>
    </p:extLst>
  </p:cSld>
</p:sld>
</file>

<file path=ppt/slides/slide5.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EC9955-773C-469F-8DA5-B24BE001B462}"/>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05</a:t>
            </a:r>
          </a:p>
        </p:txBody>
      </p:sp>
      <p:sp>
        <p:nvSpPr>
          <p:cNvPr id="2" name="">
            <a:extLst xmlns:a="http://schemas.openxmlformats.org/drawingml/2006/main">
              <a:ext uri="{FF2B5EF4-FFF2-40B4-BE49-F238E27FC236}">
                <a16:creationId xmlns:a16="http://schemas.microsoft.com/office/drawing/2014/main" id="{DB6DFD99-99BF-45AD-B94E-6AD3871670B5}"/>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The processing workflow</a:t>
            </a:r>
          </a:p>
        </p:txBody>
      </p:sp>
      <p:sp>
        <p:nvSpPr>
          <p:cNvPr id="3" name="">
            <a:extLst xmlns:a="http://schemas.openxmlformats.org/drawingml/2006/main">
              <a:ext uri="{FF2B5EF4-FFF2-40B4-BE49-F238E27FC236}">
                <a16:creationId xmlns:a16="http://schemas.microsoft.com/office/drawing/2014/main" id="{D5A950D6-566A-4015-9217-57EBBEEC9ED7}"/>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01  Synchronize</a:t>
            </a:r>
          </a:p>
        </p:txBody>
      </p:sp>
      <p:sp>
        <p:nvSpPr>
          <p:cNvPr id="4" name="">
            <a:extLst xmlns:a="http://schemas.openxmlformats.org/drawingml/2006/main">
              <a:ext uri="{FF2B5EF4-FFF2-40B4-BE49-F238E27FC236}">
                <a16:creationId xmlns:a16="http://schemas.microsoft.com/office/drawing/2014/main" id="{A724D22B-C552-4581-A410-24F66CA59F06}"/>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Match images with capture-time telemetry</a:t>
            </a:r>
          </a:p>
        </p:txBody>
      </p:sp>
      <p:sp>
        <p:nvSpPr>
          <p:cNvPr id="5" name="">
            <a:extLst xmlns:a="http://schemas.openxmlformats.org/drawingml/2006/main">
              <a:ext uri="{FF2B5EF4-FFF2-40B4-BE49-F238E27FC236}">
                <a16:creationId xmlns:a16="http://schemas.microsoft.com/office/drawing/2014/main" id="{BF55ECC6-B419-4793-A9C3-268E1906FCEF}"/>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02  Detect and locate</a:t>
            </a:r>
          </a:p>
        </p:txBody>
      </p:sp>
      <p:sp>
        <p:nvSpPr>
          <p:cNvPr id="6" name="">
            <a:extLst xmlns:a="http://schemas.openxmlformats.org/drawingml/2006/main">
              <a:ext uri="{FF2B5EF4-FFF2-40B4-BE49-F238E27FC236}">
                <a16:creationId xmlns:a16="http://schemas.microsoft.com/office/drawing/2014/main" id="{B7CC795E-6E18-4B20-A994-84D28F2AED43}"/>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Segment fire evidence and map supported detections</a:t>
            </a:r>
          </a:p>
        </p:txBody>
      </p:sp>
      <p:sp>
        <p:nvSpPr>
          <p:cNvPr id="7" name="">
            <a:extLst xmlns:a="http://schemas.openxmlformats.org/drawingml/2006/main">
              <a:ext uri="{FF2B5EF4-FFF2-40B4-BE49-F238E27FC236}">
                <a16:creationId xmlns:a16="http://schemas.microsoft.com/office/drawing/2014/main" id="{EE0BA116-26FE-4F41-9720-8912F4CCE564}"/>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03  Compare and publish</a:t>
            </a:r>
          </a:p>
        </p:txBody>
      </p:sp>
      <p:sp>
        <p:nvSpPr>
          <p:cNvPr id="8" name="">
            <a:extLst xmlns:a="http://schemas.openxmlformats.org/drawingml/2006/main">
              <a:ext uri="{FF2B5EF4-FFF2-40B4-BE49-F238E27FC236}">
                <a16:creationId xmlns:a16="http://schemas.microsoft.com/office/drawing/2014/main" id="{DA6A956E-7295-44B6-93AE-26F8F98A3421}"/>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Track observed change across comparable coverage</a:t>
            </a:r>
          </a:p>
        </p:txBody>
      </p:sp>
      <p:sp>
        <p:nvSpPr>
          <p:cNvPr id="9" name="">
            <a:extLst xmlns:a="http://schemas.openxmlformats.org/drawingml/2006/main">
              <a:ext uri="{FF2B5EF4-FFF2-40B4-BE49-F238E27FC236}">
                <a16:creationId xmlns:a16="http://schemas.microsoft.com/office/drawing/2014/main" id="{2982BD8C-A1FA-4F47-9115-05185EB3AD3E}"/>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B5B9B6"/>
                </a:solidFill>
                <a:latin typeface="Inter"/>
                <a:ea typeface="Inter"/>
                <a:cs typeface="Inter"/>
              </a:defRPr>
            </a:pPr>
            <a:r>
              <a:rPr sz="1575" b="0">
                <a:solidFill>
                  <a:srgbClr val="B5B9B6"/>
                </a:solidFill>
                <a:latin typeface="Inter"/>
                <a:ea typeface="Inter"/>
                <a:cs typeface="Inter"/>
              </a:rPr>
              <a:t>Computer vision measures the scene. An optional LLM summarizes verified outputs.</a:t>
            </a:r>
          </a:p>
        </p:txBody>
      </p:sp>
    </p:spTree>
    <p:extLst>
      <p:ext uri="{BB962C8B-B14F-4D97-AF65-F5344CB8AC3E}">
        <p14:creationId xmlns:p14="http://schemas.microsoft.com/office/powerpoint/2010/main" val="427294937"/>
      </p:ext>
    </p:extLst>
  </p:cSld>
</p:sld>
</file>

<file path=ppt/slides/slide6.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6DE069-4CBB-4FA6-858A-E5C2864C7B02}"/>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06</a:t>
            </a:r>
          </a:p>
        </p:txBody>
      </p:sp>
      <p:sp>
        <p:nvSpPr>
          <p:cNvPr id="2" name="">
            <a:extLst xmlns:a="http://schemas.openxmlformats.org/drawingml/2006/main">
              <a:ext uri="{FF2B5EF4-FFF2-40B4-BE49-F238E27FC236}">
                <a16:creationId xmlns:a16="http://schemas.microsoft.com/office/drawing/2014/main" id="{CEBC5A98-BE56-4EDB-81B3-FE3DF7239E4E}"/>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An illustrative observation sequence</a:t>
            </a:r>
          </a:p>
        </p:txBody>
      </p:sp>
      <p:sp>
        <p:nvSpPr>
          <p:cNvPr id="3" name="">
            <a:extLst xmlns:a="http://schemas.openxmlformats.org/drawingml/2006/main">
              <a:ext uri="{FF2B5EF4-FFF2-40B4-BE49-F238E27FC236}">
                <a16:creationId xmlns:a16="http://schemas.microsoft.com/office/drawing/2014/main" id="{A2D15B1F-666D-43A4-92DF-3C44BEDBE7B1}"/>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First pass</a:t>
            </a:r>
          </a:p>
        </p:txBody>
      </p:sp>
      <p:sp>
        <p:nvSpPr>
          <p:cNvPr id="4" name="">
            <a:extLst xmlns:a="http://schemas.openxmlformats.org/drawingml/2006/main">
              <a:ext uri="{FF2B5EF4-FFF2-40B4-BE49-F238E27FC236}">
                <a16:creationId xmlns:a16="http://schemas.microsoft.com/office/drawing/2014/main" id="{93D7DC13-3A41-4068-B7C5-2B814C3E580E}"/>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Record a visible front and its ground location</a:t>
            </a:r>
          </a:p>
        </p:txBody>
      </p:sp>
      <p:sp>
        <p:nvSpPr>
          <p:cNvPr id="5" name="">
            <a:extLst xmlns:a="http://schemas.openxmlformats.org/drawingml/2006/main">
              <a:ext uri="{FF2B5EF4-FFF2-40B4-BE49-F238E27FC236}">
                <a16:creationId xmlns:a16="http://schemas.microsoft.com/office/drawing/2014/main" id="{1FD5FA61-946C-4AB3-95B9-72A754BAE125}"/>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Return pass</a:t>
            </a:r>
          </a:p>
        </p:txBody>
      </p:sp>
      <p:sp>
        <p:nvSpPr>
          <p:cNvPr id="6" name="">
            <a:extLst xmlns:a="http://schemas.openxmlformats.org/drawingml/2006/main">
              <a:ext uri="{FF2B5EF4-FFF2-40B4-BE49-F238E27FC236}">
                <a16:creationId xmlns:a16="http://schemas.microsoft.com/office/drawing/2014/main" id="{0F7B4852-6B8D-422E-B993-F7C7E43FAF31}"/>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Align a fresh observation of the same terrain</a:t>
            </a:r>
          </a:p>
        </p:txBody>
      </p:sp>
      <p:sp>
        <p:nvSpPr>
          <p:cNvPr id="7" name="">
            <a:extLst xmlns:a="http://schemas.openxmlformats.org/drawingml/2006/main">
              <a:ext uri="{FF2B5EF4-FFF2-40B4-BE49-F238E27FC236}">
                <a16:creationId xmlns:a16="http://schemas.microsoft.com/office/drawing/2014/main" id="{1061A4B9-569E-48DD-A63D-E3BA811E6BDA}"/>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Review</a:t>
            </a:r>
          </a:p>
        </p:txBody>
      </p:sp>
      <p:sp>
        <p:nvSpPr>
          <p:cNvPr id="8" name="">
            <a:extLst xmlns:a="http://schemas.openxmlformats.org/drawingml/2006/main">
              <a:ext uri="{FF2B5EF4-FFF2-40B4-BE49-F238E27FC236}">
                <a16:creationId xmlns:a16="http://schemas.microsoft.com/office/drawing/2014/main" id="{8750C834-B678-4CF3-A2D3-353F3BFB7F27}"/>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Show supported movement and areas still unseen</a:t>
            </a:r>
          </a:p>
        </p:txBody>
      </p:sp>
      <p:sp>
        <p:nvSpPr>
          <p:cNvPr id="9" name="">
            <a:extLst xmlns:a="http://schemas.openxmlformats.org/drawingml/2006/main">
              <a:ext uri="{FF2B5EF4-FFF2-40B4-BE49-F238E27FC236}">
                <a16:creationId xmlns:a16="http://schemas.microsoft.com/office/drawing/2014/main" id="{688E9E10-9864-453E-8AC3-3D36E5FCFF07}"/>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B5B9B6"/>
                </a:solidFill>
                <a:latin typeface="Inter"/>
                <a:ea typeface="Inter"/>
                <a:cs typeface="Inter"/>
              </a:defRPr>
            </a:pPr>
            <a:r>
              <a:rPr sz="1575" b="0">
                <a:solidFill>
                  <a:srgbClr val="B5B9B6"/>
                </a:solidFill>
                <a:latin typeface="Inter"/>
                <a:ea typeface="Inter"/>
                <a:cs typeface="Inter"/>
              </a:rPr>
              <a:t>Illustrative walkthrough, not a live demo or measured result.</a:t>
            </a:r>
          </a:p>
        </p:txBody>
      </p:sp>
    </p:spTree>
    <p:extLst>
      <p:ext uri="{BB962C8B-B14F-4D97-AF65-F5344CB8AC3E}">
        <p14:creationId xmlns:p14="http://schemas.microsoft.com/office/powerpoint/2010/main" val="48664309"/>
      </p:ext>
    </p:extLst>
  </p:cSld>
</p:sld>
</file>

<file path=ppt/slides/slide7.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37D2B0-D437-4221-ABC6-0D3EACA27786}"/>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07</a:t>
            </a:r>
          </a:p>
        </p:txBody>
      </p:sp>
      <p:sp>
        <p:nvSpPr>
          <p:cNvPr id="2" name="">
            <a:extLst xmlns:a="http://schemas.openxmlformats.org/drawingml/2006/main">
              <a:ext uri="{FF2B5EF4-FFF2-40B4-BE49-F238E27FC236}">
                <a16:creationId xmlns:a16="http://schemas.microsoft.com/office/drawing/2014/main" id="{758F85A2-9ED7-401B-BC5B-5A9482E90CDC}"/>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Uncertainty is part of the result</a:t>
            </a:r>
          </a:p>
        </p:txBody>
      </p:sp>
      <p:sp>
        <p:nvSpPr>
          <p:cNvPr id="3" name="">
            <a:extLst xmlns:a="http://schemas.openxmlformats.org/drawingml/2006/main">
              <a:ext uri="{FF2B5EF4-FFF2-40B4-BE49-F238E27FC236}">
                <a16:creationId xmlns:a16="http://schemas.microsoft.com/office/drawing/2014/main" id="{2FBC99C8-87A9-451F-A766-99BAE5033F64}"/>
              </a:ext>
            </a:extLst>
          </p:cNvPr>
          <p:cNvSpPr>
            <a:spLocks xmlns:a="http://schemas.openxmlformats.org/drawingml/2006/main" noGrp="1"/>
          </p:cNvSpPr>
          <p:nvPr/>
        </p:nvSpPr>
        <p:spPr>
          <a:xfrm xmlns:a="http://schemas.openxmlformats.org/drawingml/2006/main">
            <a:off x="666750" y="214312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FF7949"/>
                </a:solidFill>
                <a:latin typeface="Inter"/>
                <a:ea typeface="Inter"/>
                <a:cs typeface="Inter"/>
              </a:defRPr>
            </a:pPr>
            <a:r>
              <a:rPr sz="4800" b="1">
                <a:solidFill>
                  <a:srgbClr val="FF7949"/>
                </a:solidFill>
                <a:latin typeface="Inter"/>
                <a:ea typeface="Inter"/>
                <a:cs typeface="Inter"/>
              </a:rPr>
              <a:t>“Insufficient evidence”</a:t>
            </a:r>
          </a:p>
          <a:p xmlns:a="http://schemas.openxmlformats.org/drawingml/2006/main">
            <a:pPr>
              <a:buNone/>
              <a:defRPr sz="4800" b="1">
                <a:solidFill>
                  <a:srgbClr val="FF7949"/>
                </a:solidFill>
                <a:latin typeface="Inter"/>
                <a:ea typeface="Inter"/>
                <a:cs typeface="Inter"/>
              </a:defRPr>
            </a:pPr>
            <a:r>
              <a:rPr sz="4800" b="1">
                <a:solidFill>
                  <a:srgbClr val="FF7949"/>
                </a:solidFill>
                <a:latin typeface="Inter"/>
                <a:ea typeface="Inter"/>
                <a:cs typeface="Inter"/>
              </a:rPr>
              <a:t>is a useful answer</a:t>
            </a:r>
          </a:p>
        </p:txBody>
      </p:sp>
      <p:sp>
        <p:nvSpPr>
          <p:cNvPr id="4" name="">
            <a:extLst xmlns:a="http://schemas.openxmlformats.org/drawingml/2006/main">
              <a:ext uri="{FF2B5EF4-FFF2-40B4-BE49-F238E27FC236}">
                <a16:creationId xmlns:a16="http://schemas.microsoft.com/office/drawing/2014/main" id="{74AAC46C-2AB0-4AAF-8F71-8290D8E231E7}"/>
              </a:ext>
            </a:extLst>
          </p:cNvPr>
          <p:cNvSpPr>
            <a:spLocks xmlns:a="http://schemas.openxmlformats.org/drawingml/2006/main" noGrp="1"/>
          </p:cNvSpPr>
          <p:nvPr/>
        </p:nvSpPr>
        <p:spPr>
          <a:xfrm xmlns:a="http://schemas.openxmlformats.org/drawingml/2006/main">
            <a:off x="704850" y="47148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6F3EC"/>
                </a:solidFill>
                <a:latin typeface="Inter"/>
                <a:ea typeface="Inter"/>
                <a:cs typeface="Inter"/>
              </a:defRPr>
            </a:pPr>
            <a:r>
              <a:rPr sz="2400" b="0">
                <a:solidFill>
                  <a:srgbClr val="F6F3EC"/>
                </a:solidFill>
                <a:latin typeface="Inter"/>
                <a:ea typeface="Inter"/>
                <a:cs typeface="Inter"/>
              </a:rPr>
              <a:t>Missing coverage is unknown.</a:t>
            </a:r>
          </a:p>
          <a:p xmlns:a="http://schemas.openxmlformats.org/drawingml/2006/main">
            <a:pPr>
              <a:buNone/>
              <a:defRPr sz="2400" b="0">
                <a:solidFill>
                  <a:srgbClr val="F6F3EC"/>
                </a:solidFill>
                <a:latin typeface="Inter"/>
                <a:ea typeface="Inter"/>
                <a:cs typeface="Inter"/>
              </a:defRPr>
            </a:pPr>
            <a:r>
              <a:rPr sz="2400" b="0">
                <a:solidFill>
                  <a:srgbClr val="F6F3EC"/>
                </a:solidFill>
                <a:latin typeface="Inter"/>
                <a:ea typeface="Inter"/>
                <a:cs typeface="Inter"/>
              </a:rPr>
              <a:t>Poor geolocation means no ground-speed estimate.</a:t>
            </a:r>
          </a:p>
        </p:txBody>
      </p:sp>
    </p:spTree>
    <p:extLst>
      <p:ext uri="{BB962C8B-B14F-4D97-AF65-F5344CB8AC3E}">
        <p14:creationId xmlns:p14="http://schemas.microsoft.com/office/powerpoint/2010/main" val="1349703319"/>
      </p:ext>
    </p:extLst>
  </p:cSld>
</p:sld>
</file>

<file path=ppt/slides/slide8.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DDF988-1988-40F3-ACBA-F607516903F3}"/>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08</a:t>
            </a:r>
          </a:p>
        </p:txBody>
      </p:sp>
      <p:sp>
        <p:nvSpPr>
          <p:cNvPr id="2" name="">
            <a:extLst xmlns:a="http://schemas.openxmlformats.org/drawingml/2006/main">
              <a:ext uri="{FF2B5EF4-FFF2-40B4-BE49-F238E27FC236}">
                <a16:creationId xmlns:a16="http://schemas.microsoft.com/office/drawing/2014/main" id="{1804DE44-122B-42A8-B76A-E3D5DB720CBD}"/>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What the first prototype must prove</a:t>
            </a:r>
          </a:p>
        </p:txBody>
      </p:sp>
      <p:sp>
        <p:nvSpPr>
          <p:cNvPr id="3" name="">
            <a:extLst xmlns:a="http://schemas.openxmlformats.org/drawingml/2006/main">
              <a:ext uri="{FF2B5EF4-FFF2-40B4-BE49-F238E27FC236}">
                <a16:creationId xmlns:a16="http://schemas.microsoft.com/office/drawing/2014/main" id="{C568FCC6-8DCD-420C-8CA0-5F00E16F817A}"/>
              </a:ext>
            </a:extLst>
          </p:cNvPr>
          <p:cNvSpPr>
            <a:spLocks xmlns:a="http://schemas.openxmlformats.org/drawingml/2006/main" noGrp="1"/>
          </p:cNvSpPr>
          <p:nvPr/>
        </p:nvSpPr>
        <p:spPr>
          <a:xfrm xmlns:a="http://schemas.openxmlformats.org/drawingml/2006/main">
            <a:off x="704850" y="23812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F7949"/>
                </a:solidFill>
                <a:latin typeface="Inter"/>
                <a:ea typeface="Inter"/>
                <a:cs typeface="Inter"/>
              </a:defRPr>
            </a:pPr>
            <a:r>
              <a:rPr sz="2700" b="1">
                <a:solidFill>
                  <a:srgbClr val="FF7949"/>
                </a:solidFill>
                <a:latin typeface="Inter"/>
                <a:ea typeface="Inter"/>
                <a:cs typeface="Inter"/>
              </a:rPr>
              <a:t>Detection quality</a:t>
            </a:r>
          </a:p>
        </p:txBody>
      </p:sp>
      <p:sp>
        <p:nvSpPr>
          <p:cNvPr id="4" name="">
            <a:extLst xmlns:a="http://schemas.openxmlformats.org/drawingml/2006/main">
              <a:ext uri="{FF2B5EF4-FFF2-40B4-BE49-F238E27FC236}">
                <a16:creationId xmlns:a16="http://schemas.microsoft.com/office/drawing/2014/main" id="{AF998BE3-1A6E-4DD7-871F-4AFD3BCB241C}"/>
              </a:ext>
            </a:extLst>
          </p:cNvPr>
          <p:cNvSpPr>
            <a:spLocks xmlns:a="http://schemas.openxmlformats.org/drawingml/2006/main" noGrp="1"/>
          </p:cNvSpPr>
          <p:nvPr/>
        </p:nvSpPr>
        <p:spPr>
          <a:xfrm xmlns:a="http://schemas.openxmlformats.org/drawingml/2006/main">
            <a:off x="704850" y="33337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6F3EC"/>
                </a:solidFill>
                <a:latin typeface="Inter"/>
                <a:ea typeface="Inter"/>
                <a:cs typeface="Inter"/>
              </a:defRPr>
            </a:pPr>
            <a:r>
              <a:rPr sz="2325" b="0">
                <a:solidFill>
                  <a:srgbClr val="F6F3EC"/>
                </a:solidFill>
                <a:latin typeface="Inter"/>
                <a:ea typeface="Inter"/>
                <a:cs typeface="Inter"/>
              </a:rPr>
              <a:t>Missed fire and false alarms</a:t>
            </a:r>
          </a:p>
          <a:p xmlns:a="http://schemas.openxmlformats.org/drawingml/2006/main">
            <a:pPr>
              <a:buNone/>
              <a:defRPr sz="2325" b="0">
                <a:solidFill>
                  <a:srgbClr val="F6F3EC"/>
                </a:solidFill>
                <a:latin typeface="Inter"/>
                <a:ea typeface="Inter"/>
                <a:cs typeface="Inter"/>
              </a:defRPr>
            </a:pPr>
            <a:r>
              <a:rPr sz="2325" b="0">
                <a:solidFill>
                  <a:srgbClr val="F6F3EC"/>
                </a:solidFill>
                <a:latin typeface="Inter"/>
                <a:ea typeface="Inter"/>
                <a:cs typeface="Inter"/>
              </a:rPr>
              <a:t>Boundary and location error</a:t>
            </a:r>
          </a:p>
        </p:txBody>
      </p:sp>
      <p:sp>
        <p:nvSpPr>
          <p:cNvPr id="5" name="">
            <a:extLst xmlns:a="http://schemas.openxmlformats.org/drawingml/2006/main">
              <a:ext uri="{FF2B5EF4-FFF2-40B4-BE49-F238E27FC236}">
                <a16:creationId xmlns:a16="http://schemas.microsoft.com/office/drawing/2014/main" id="{97B33738-D753-472E-B047-838CB67E3244}"/>
              </a:ext>
            </a:extLst>
          </p:cNvPr>
          <p:cNvSpPr>
            <a:spLocks xmlns:a="http://schemas.openxmlformats.org/drawingml/2006/main" noGrp="1"/>
          </p:cNvSpPr>
          <p:nvPr/>
        </p:nvSpPr>
        <p:spPr>
          <a:xfrm xmlns:a="http://schemas.openxmlformats.org/drawingml/2006/main">
            <a:off x="6477000" y="23812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F7949"/>
                </a:solidFill>
                <a:latin typeface="Inter"/>
                <a:ea typeface="Inter"/>
                <a:cs typeface="Inter"/>
              </a:defRPr>
            </a:pPr>
            <a:r>
              <a:rPr sz="2700" b="1">
                <a:solidFill>
                  <a:srgbClr val="FF7949"/>
                </a:solidFill>
                <a:latin typeface="Inter"/>
                <a:ea typeface="Inter"/>
                <a:cs typeface="Inter"/>
              </a:rPr>
              <a:t>Operational usefulness</a:t>
            </a:r>
          </a:p>
        </p:txBody>
      </p:sp>
      <p:sp>
        <p:nvSpPr>
          <p:cNvPr id="6" name="">
            <a:extLst xmlns:a="http://schemas.openxmlformats.org/drawingml/2006/main">
              <a:ext uri="{FF2B5EF4-FFF2-40B4-BE49-F238E27FC236}">
                <a16:creationId xmlns:a16="http://schemas.microsoft.com/office/drawing/2014/main" id="{D362454F-3E66-43B9-8D08-46C97F35D880}"/>
              </a:ext>
            </a:extLst>
          </p:cNvPr>
          <p:cNvSpPr>
            <a:spLocks xmlns:a="http://schemas.openxmlformats.org/drawingml/2006/main" noGrp="1"/>
          </p:cNvSpPr>
          <p:nvPr/>
        </p:nvSpPr>
        <p:spPr>
          <a:xfrm xmlns:a="http://schemas.openxmlformats.org/drawingml/2006/main">
            <a:off x="6477000" y="3333750"/>
            <a:ext cx="5000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6F3EC"/>
                </a:solidFill>
                <a:latin typeface="Inter"/>
                <a:ea typeface="Inter"/>
                <a:cs typeface="Inter"/>
              </a:defRPr>
            </a:pPr>
            <a:r>
              <a:rPr sz="2325" b="0">
                <a:solidFill>
                  <a:srgbClr val="F6F3EC"/>
                </a:solidFill>
                <a:latin typeface="Inter"/>
                <a:ea typeface="Inter"/>
                <a:cs typeface="Inter"/>
              </a:rPr>
              <a:t>Capture-to-display delay</a:t>
            </a:r>
          </a:p>
          <a:p xmlns:a="http://schemas.openxmlformats.org/drawingml/2006/main">
            <a:pPr>
              <a:buNone/>
              <a:defRPr sz="2325" b="0">
                <a:solidFill>
                  <a:srgbClr val="F6F3EC"/>
                </a:solidFill>
                <a:latin typeface="Inter"/>
                <a:ea typeface="Inter"/>
                <a:cs typeface="Inter"/>
              </a:defRPr>
            </a:pPr>
            <a:r>
              <a:rPr sz="2325" b="0">
                <a:solidFill>
                  <a:srgbClr val="F6F3EC"/>
                </a:solidFill>
                <a:latin typeface="Inter"/>
                <a:ea typeface="Inter"/>
                <a:cs typeface="Inter"/>
              </a:rPr>
              <a:t>Observed movement accuracy</a:t>
            </a:r>
          </a:p>
        </p:txBody>
      </p:sp>
      <p:sp>
        <p:nvSpPr>
          <p:cNvPr id="7" name="">
            <a:extLst xmlns:a="http://schemas.openxmlformats.org/drawingml/2006/main">
              <a:ext uri="{FF2B5EF4-FFF2-40B4-BE49-F238E27FC236}">
                <a16:creationId xmlns:a16="http://schemas.microsoft.com/office/drawing/2014/main" id="{287C90B1-3352-478B-A60A-7DD39AD326D1}"/>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B5B9B6"/>
                </a:solidFill>
                <a:latin typeface="Inter"/>
                <a:ea typeface="Inter"/>
                <a:cs typeface="Inter"/>
              </a:defRPr>
            </a:pPr>
            <a:r>
              <a:rPr sz="1575" b="0">
                <a:solidFill>
                  <a:srgbClr val="B5B9B6"/>
                </a:solidFill>
                <a:latin typeface="Inter"/>
                <a:ea typeface="Inter"/>
                <a:cs typeface="Inter"/>
              </a:rPr>
              <a:t>Research prototype. No validated field accuracy or latency results yet.</a:t>
            </a:r>
          </a:p>
        </p:txBody>
      </p:sp>
    </p:spTree>
    <p:extLst>
      <p:ext uri="{BB962C8B-B14F-4D97-AF65-F5344CB8AC3E}">
        <p14:creationId xmlns:p14="http://schemas.microsoft.com/office/powerpoint/2010/main" val="475785117"/>
      </p:ext>
    </p:extLst>
  </p:cSld>
</p:sld>
</file>

<file path=ppt/slides/slide9.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DFBEE6-4D04-45E1-BBF4-FFFBDD3EC855}"/>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09</a:t>
            </a:r>
          </a:p>
        </p:txBody>
      </p:sp>
      <p:sp>
        <p:nvSpPr>
          <p:cNvPr id="2" name="">
            <a:extLst xmlns:a="http://schemas.openxmlformats.org/drawingml/2006/main">
              <a:ext uri="{FF2B5EF4-FFF2-40B4-BE49-F238E27FC236}">
                <a16:creationId xmlns:a16="http://schemas.microsoft.com/office/drawing/2014/main" id="{08C22BE4-B639-4280-AA41-BCDC128A7678}"/>
              </a:ext>
            </a:extLst>
          </p:cNvPr>
          <p:cNvSpPr>
            <a:spLocks xmlns:a="http://schemas.openxmlformats.org/drawingml/2006/main" noGrp="1"/>
          </p:cNvSpPr>
          <p:nvPr/>
        </p:nvSpPr>
        <p:spPr>
          <a:xfrm xmlns:a="http://schemas.openxmlformats.org/drawingml/2006/main">
            <a:off x="666750" y="619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3EC"/>
                </a:solidFill>
                <a:latin typeface="Inter"/>
                <a:ea typeface="Inter"/>
                <a:cs typeface="Inter"/>
              </a:defRPr>
            </a:pPr>
            <a:r>
              <a:rPr sz="3600" b="1">
                <a:solidFill>
                  <a:srgbClr val="F6F3EC"/>
                </a:solidFill>
                <a:latin typeface="Inter"/>
                <a:ea typeface="Inter"/>
                <a:cs typeface="Inter"/>
              </a:rPr>
              <a:t>A focused route to a field pilot</a:t>
            </a:r>
          </a:p>
        </p:txBody>
      </p:sp>
      <p:sp>
        <p:nvSpPr>
          <p:cNvPr id="3" name="">
            <a:extLst xmlns:a="http://schemas.openxmlformats.org/drawingml/2006/main">
              <a:ext uri="{FF2B5EF4-FFF2-40B4-BE49-F238E27FC236}">
                <a16:creationId xmlns:a16="http://schemas.microsoft.com/office/drawing/2014/main" id="{89B31FC8-01B4-4A56-9E75-C3A01084A977}"/>
              </a:ext>
            </a:extLst>
          </p:cNvPr>
          <p:cNvSpPr>
            <a:spLocks xmlns:a="http://schemas.openxmlformats.org/drawingml/2006/main" noGrp="1"/>
          </p:cNvSpPr>
          <p:nvPr/>
        </p:nvSpPr>
        <p:spPr>
          <a:xfrm xmlns:a="http://schemas.openxmlformats.org/drawingml/2006/main">
            <a:off x="704850" y="2095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First partner</a:t>
            </a:r>
          </a:p>
        </p:txBody>
      </p:sp>
      <p:sp>
        <p:nvSpPr>
          <p:cNvPr id="4" name="">
            <a:extLst xmlns:a="http://schemas.openxmlformats.org/drawingml/2006/main">
              <a:ext uri="{FF2B5EF4-FFF2-40B4-BE49-F238E27FC236}">
                <a16:creationId xmlns:a16="http://schemas.microsoft.com/office/drawing/2014/main" id="{2718DCED-7392-498D-8557-03226C9D2606}"/>
              </a:ext>
            </a:extLst>
          </p:cNvPr>
          <p:cNvSpPr>
            <a:spLocks xmlns:a="http://schemas.openxmlformats.org/drawingml/2006/main" noGrp="1"/>
          </p:cNvSpPr>
          <p:nvPr/>
        </p:nvSpPr>
        <p:spPr>
          <a:xfrm xmlns:a="http://schemas.openxmlformats.org/drawingml/2006/main">
            <a:off x="5381625" y="209550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A drone operator and a responder or fire analyst</a:t>
            </a:r>
          </a:p>
        </p:txBody>
      </p:sp>
      <p:sp>
        <p:nvSpPr>
          <p:cNvPr id="5" name="">
            <a:extLst xmlns:a="http://schemas.openxmlformats.org/drawingml/2006/main">
              <a:ext uri="{FF2B5EF4-FFF2-40B4-BE49-F238E27FC236}">
                <a16:creationId xmlns:a16="http://schemas.microsoft.com/office/drawing/2014/main" id="{4C2D9EEB-2D95-4F7B-9EA9-6EC9243D80E1}"/>
              </a:ext>
            </a:extLst>
          </p:cNvPr>
          <p:cNvSpPr>
            <a:spLocks xmlns:a="http://schemas.openxmlformats.org/drawingml/2006/main" noGrp="1"/>
          </p:cNvSpPr>
          <p:nvPr/>
        </p:nvSpPr>
        <p:spPr>
          <a:xfrm xmlns:a="http://schemas.openxmlformats.org/drawingml/2006/main">
            <a:off x="704850" y="3190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First trial</a:t>
            </a:r>
          </a:p>
        </p:txBody>
      </p:sp>
      <p:sp>
        <p:nvSpPr>
          <p:cNvPr id="6" name="">
            <a:extLst xmlns:a="http://schemas.openxmlformats.org/drawingml/2006/main">
              <a:ext uri="{FF2B5EF4-FFF2-40B4-BE49-F238E27FC236}">
                <a16:creationId xmlns:a16="http://schemas.microsoft.com/office/drawing/2014/main" id="{F3306E86-F2F0-4732-9C53-69BB0DCEF9AA}"/>
              </a:ext>
            </a:extLst>
          </p:cNvPr>
          <p:cNvSpPr>
            <a:spLocks xmlns:a="http://schemas.openxmlformats.org/drawingml/2006/main" noGrp="1"/>
          </p:cNvSpPr>
          <p:nvPr/>
        </p:nvSpPr>
        <p:spPr>
          <a:xfrm xmlns:a="http://schemas.openxmlformats.org/drawingml/2006/main">
            <a:off x="5381625" y="3190875"/>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One location with synchronized, labeled recordings</a:t>
            </a:r>
          </a:p>
        </p:txBody>
      </p:sp>
      <p:sp>
        <p:nvSpPr>
          <p:cNvPr id="7" name="">
            <a:extLst xmlns:a="http://schemas.openxmlformats.org/drawingml/2006/main">
              <a:ext uri="{FF2B5EF4-FFF2-40B4-BE49-F238E27FC236}">
                <a16:creationId xmlns:a16="http://schemas.microsoft.com/office/drawing/2014/main" id="{D6B9C775-363E-4100-A613-7CBF8689FCB2}"/>
              </a:ext>
            </a:extLst>
          </p:cNvPr>
          <p:cNvSpPr>
            <a:spLocks xmlns:a="http://schemas.openxmlformats.org/drawingml/2006/main" noGrp="1"/>
          </p:cNvSpPr>
          <p:nvPr/>
        </p:nvSpPr>
        <p:spPr>
          <a:xfrm xmlns:a="http://schemas.openxmlformats.org/drawingml/2006/main">
            <a:off x="704850" y="4286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F7949"/>
                </a:solidFill>
                <a:latin typeface="Inter"/>
                <a:ea typeface="Inter"/>
                <a:cs typeface="Inter"/>
              </a:defRPr>
            </a:pPr>
            <a:r>
              <a:rPr sz="2400" b="1">
                <a:solidFill>
                  <a:srgbClr val="FF7949"/>
                </a:solidFill>
                <a:latin typeface="Inter"/>
                <a:ea typeface="Inter"/>
                <a:cs typeface="Inter"/>
              </a:rPr>
              <a:t>First value test</a:t>
            </a:r>
          </a:p>
        </p:txBody>
      </p:sp>
      <p:sp>
        <p:nvSpPr>
          <p:cNvPr id="8" name="">
            <a:extLst xmlns:a="http://schemas.openxmlformats.org/drawingml/2006/main">
              <a:ext uri="{FF2B5EF4-FFF2-40B4-BE49-F238E27FC236}">
                <a16:creationId xmlns:a16="http://schemas.microsoft.com/office/drawing/2014/main" id="{1A0F1919-88E5-48F7-AAE8-E6271F394719}"/>
              </a:ext>
            </a:extLst>
          </p:cNvPr>
          <p:cNvSpPr>
            <a:spLocks xmlns:a="http://schemas.openxmlformats.org/drawingml/2006/main" noGrp="1"/>
          </p:cNvSpPr>
          <p:nvPr/>
        </p:nvSpPr>
        <p:spPr>
          <a:xfrm xmlns:a="http://schemas.openxmlformats.org/drawingml/2006/main">
            <a:off x="5381625" y="4286250"/>
            <a:ext cx="600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3EC"/>
                </a:solidFill>
                <a:latin typeface="Inter"/>
                <a:ea typeface="Inter"/>
                <a:cs typeface="Inter"/>
              </a:defRPr>
            </a:pPr>
            <a:r>
              <a:rPr sz="2175" b="0">
                <a:solidFill>
                  <a:srgbClr val="F6F3EC"/>
                </a:solidFill>
                <a:latin typeface="Inter"/>
                <a:ea typeface="Inter"/>
                <a:cs typeface="Inter"/>
              </a:rPr>
              <a:t>Can the analyst produce a clearer incident update?</a:t>
            </a:r>
          </a:p>
        </p:txBody>
      </p:sp>
      <p:sp>
        <p:nvSpPr>
          <p:cNvPr id="9" name="">
            <a:extLst xmlns:a="http://schemas.openxmlformats.org/drawingml/2006/main">
              <a:ext uri="{FF2B5EF4-FFF2-40B4-BE49-F238E27FC236}">
                <a16:creationId xmlns:a16="http://schemas.microsoft.com/office/drawing/2014/main" id="{0A167E57-68DF-4FEC-B78D-13F1915F5227}"/>
              </a:ext>
            </a:extLst>
          </p:cNvPr>
          <p:cNvSpPr>
            <a:spLocks xmlns:a="http://schemas.openxmlformats.org/drawingml/2006/main" noGrp="1"/>
          </p:cNvSpPr>
          <p:nvPr/>
        </p:nvSpPr>
        <p:spPr>
          <a:xfrm xmlns:a="http://schemas.openxmlformats.org/drawingml/2006/main">
            <a:off x="704850" y="5810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B5B9B6"/>
                </a:solidFill>
                <a:latin typeface="Inter"/>
                <a:ea typeface="Inter"/>
                <a:cs typeface="Inter"/>
              </a:defRPr>
            </a:pPr>
            <a:r>
              <a:rPr sz="1575" b="0">
                <a:solidFill>
                  <a:srgbClr val="B5B9B6"/>
                </a:solidFill>
                <a:latin typeface="Inter"/>
                <a:ea typeface="Inter"/>
                <a:cs typeface="Inter"/>
              </a:rPr>
              <a:t>Pilot and customer assumptions require interviews and field validation.</a:t>
            </a:r>
          </a:p>
        </p:txBody>
      </p:sp>
    </p:spTree>
    <p:extLst>
      <p:ext uri="{BB962C8B-B14F-4D97-AF65-F5344CB8AC3E}">
        <p14:creationId xmlns:p14="http://schemas.microsoft.com/office/powerpoint/2010/main" val="1757777481"/>
      </p:ext>
    </p:extLst>
  </p:cSld>
</p:sld>
</file>

<file path=ppt/slides/slide10.xml><?xml version="1.0" encoding="utf-8"?>
<p:sld xmlns:p="http://schemas.openxmlformats.org/presentationml/2006/main">
  <p:cSld>
    <p:bg>
      <p:bgPr>
        <a:solidFill xmlns:a="http://schemas.openxmlformats.org/drawingml/2006/main">
          <a:srgbClr val="11181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df6022f191a4cc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BFCE92-3718-4000-8DC6-E836BCBE6996}"/>
              </a:ext>
            </a:extLst>
          </p:cNvPr>
          <p:cNvSpPr>
            <a:spLocks xmlns:a="http://schemas.openxmlformats.org/drawingml/2006/main" noGrp="1"/>
          </p:cNvSpPr>
          <p:nvPr/>
        </p:nvSpPr>
        <p:spPr>
          <a:xfrm xmlns:a="http://schemas.openxmlformats.org/drawingml/2006/main">
            <a:off x="11049000"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5B9B6"/>
                </a:solidFill>
                <a:latin typeface="Inter"/>
                <a:ea typeface="Inter"/>
                <a:cs typeface="Inter"/>
              </a:defRPr>
            </a:pPr>
            <a:r>
              <a:rPr sz="1500" b="0">
                <a:solidFill>
                  <a:srgbClr val="B5B9B6"/>
                </a:solidFill>
                <a:latin typeface="Inter"/>
                <a:ea typeface="Inter"/>
                <a:cs typeface="Inter"/>
              </a:rPr>
              <a:t>10</a:t>
            </a:r>
          </a:p>
        </p:txBody>
      </p:sp>
      <p:sp>
        <p:nvSpPr>
          <p:cNvPr id="3" name="">
            <a:extLst xmlns:a="http://schemas.openxmlformats.org/drawingml/2006/main">
              <a:ext uri="{FF2B5EF4-FFF2-40B4-BE49-F238E27FC236}">
                <a16:creationId xmlns:a16="http://schemas.microsoft.com/office/drawing/2014/main" id="{53A5D2A1-5C2A-49CD-A07D-F29B872073E5}"/>
              </a:ext>
            </a:extLst>
          </p:cNvPr>
          <p:cNvSpPr>
            <a:spLocks xmlns:a="http://schemas.openxmlformats.org/drawingml/2006/main" noGrp="1"/>
          </p:cNvSpPr>
          <p:nvPr/>
        </p:nvSpPr>
        <p:spPr>
          <a:xfrm xmlns:a="http://schemas.openxmlformats.org/drawingml/2006/main">
            <a:off x="666750" y="71437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F7949"/>
                </a:solidFill>
                <a:latin typeface="Inter"/>
                <a:ea typeface="Inter"/>
                <a:cs typeface="Inter"/>
              </a:defRPr>
            </a:pPr>
            <a:r>
              <a:rPr sz="2550" b="1">
                <a:solidFill>
                  <a:srgbClr val="FF7949"/>
                </a:solidFill>
                <a:latin typeface="Inter"/>
                <a:ea typeface="Inter"/>
                <a:cs typeface="Inter"/>
              </a:rPr>
              <a:t>FireWatch AI</a:t>
            </a:r>
          </a:p>
        </p:txBody>
      </p:sp>
      <p:sp>
        <p:nvSpPr>
          <p:cNvPr id="4" name="">
            <a:extLst xmlns:a="http://schemas.openxmlformats.org/drawingml/2006/main">
              <a:ext uri="{FF2B5EF4-FFF2-40B4-BE49-F238E27FC236}">
                <a16:creationId xmlns:a16="http://schemas.microsoft.com/office/drawing/2014/main" id="{72A14C4E-B2BF-4297-9466-C2392E08C9F0}"/>
              </a:ext>
            </a:extLst>
          </p:cNvPr>
          <p:cNvSpPr>
            <a:spLocks xmlns:a="http://schemas.openxmlformats.org/drawingml/2006/main" noGrp="1"/>
          </p:cNvSpPr>
          <p:nvPr/>
        </p:nvSpPr>
        <p:spPr>
          <a:xfrm xmlns:a="http://schemas.openxmlformats.org/drawingml/2006/main">
            <a:off x="666750" y="2095500"/>
            <a:ext cx="885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75" b="1">
                <a:solidFill>
                  <a:srgbClr val="F6F3EC"/>
                </a:solidFill>
                <a:latin typeface="Inter"/>
                <a:ea typeface="Inter"/>
                <a:cs typeface="Inter"/>
              </a:defRPr>
            </a:pPr>
            <a:r>
              <a:rPr sz="4875" b="1">
                <a:solidFill>
                  <a:srgbClr val="F6F3EC"/>
                </a:solidFill>
                <a:latin typeface="Inter"/>
                <a:ea typeface="Inter"/>
                <a:cs typeface="Inter"/>
              </a:rPr>
              <a:t>A clearer view of</a:t>
            </a:r>
          </a:p>
          <a:p xmlns:a="http://schemas.openxmlformats.org/drawingml/2006/main">
            <a:pPr>
              <a:buNone/>
              <a:defRPr sz="4875" b="1">
                <a:solidFill>
                  <a:srgbClr val="F6F3EC"/>
                </a:solidFill>
                <a:latin typeface="Inter"/>
                <a:ea typeface="Inter"/>
                <a:cs typeface="Inter"/>
              </a:defRPr>
            </a:pPr>
            <a:r>
              <a:rPr sz="4875" b="1">
                <a:solidFill>
                  <a:srgbClr val="F6F3EC"/>
                </a:solidFill>
                <a:latin typeface="Inter"/>
                <a:ea typeface="Inter"/>
                <a:cs typeface="Inter"/>
              </a:rPr>
              <a:t>what the fire is doing</a:t>
            </a:r>
          </a:p>
        </p:txBody>
      </p:sp>
      <p:sp>
        <p:nvSpPr>
          <p:cNvPr id="5" name="">
            <a:extLst xmlns:a="http://schemas.openxmlformats.org/drawingml/2006/main">
              <a:ext uri="{FF2B5EF4-FFF2-40B4-BE49-F238E27FC236}">
                <a16:creationId xmlns:a16="http://schemas.microsoft.com/office/drawing/2014/main" id="{017CEBC4-86D5-4EBD-9313-C4C543200E4B}"/>
              </a:ext>
            </a:extLst>
          </p:cNvPr>
          <p:cNvSpPr>
            <a:spLocks xmlns:a="http://schemas.openxmlformats.org/drawingml/2006/main" noGrp="1"/>
          </p:cNvSpPr>
          <p:nvPr/>
        </p:nvSpPr>
        <p:spPr>
          <a:xfrm xmlns:a="http://schemas.openxmlformats.org/drawingml/2006/main">
            <a:off x="704850" y="4667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6F3EC"/>
                </a:solidFill>
                <a:latin typeface="Inter"/>
                <a:ea typeface="Inter"/>
                <a:cs typeface="Inter"/>
              </a:defRPr>
            </a:pPr>
            <a:r>
              <a:rPr sz="2250" b="0">
                <a:solidFill>
                  <a:srgbClr val="F6F3EC"/>
                </a:solidFill>
                <a:latin typeface="Inter"/>
                <a:ea typeface="Inter"/>
                <a:cs typeface="Inter"/>
              </a:rPr>
              <a:t>Seeking a pilot partner with drone data</a:t>
            </a:r>
          </a:p>
          <a:p xmlns:a="http://schemas.openxmlformats.org/drawingml/2006/main">
            <a:pPr>
              <a:buNone/>
              <a:defRPr sz="2250" b="0">
                <a:solidFill>
                  <a:srgbClr val="F6F3EC"/>
                </a:solidFill>
                <a:latin typeface="Inter"/>
                <a:ea typeface="Inter"/>
                <a:cs typeface="Inter"/>
              </a:defRPr>
            </a:pPr>
            <a:r>
              <a:rPr sz="2250" b="0">
                <a:solidFill>
                  <a:srgbClr val="F6F3EC"/>
                </a:solidFill>
                <a:latin typeface="Inter"/>
                <a:ea typeface="Inter"/>
                <a:cs typeface="Inter"/>
              </a:rPr>
              <a:t>and responder feedback</a:t>
            </a:r>
          </a:p>
        </p:txBody>
      </p:sp>
      <p:sp>
        <p:nvSpPr>
          <p:cNvPr id="6" name="">
            <a:extLst xmlns:a="http://schemas.openxmlformats.org/drawingml/2006/main">
              <a:ext uri="{FF2B5EF4-FFF2-40B4-BE49-F238E27FC236}">
                <a16:creationId xmlns:a16="http://schemas.microsoft.com/office/drawing/2014/main" id="{55B5EE15-7E4D-4793-9C95-FA8FD608F6C0}"/>
              </a:ext>
            </a:extLst>
          </p:cNvPr>
          <p:cNvSpPr>
            <a:spLocks xmlns:a="http://schemas.openxmlformats.org/drawingml/2006/main" noGrp="1"/>
          </p:cNvSpPr>
          <p:nvPr/>
        </p:nvSpPr>
        <p:spPr>
          <a:xfrm xmlns:a="http://schemas.openxmlformats.org/drawingml/2006/main">
            <a:off x="8382000" y="62388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B5B9B6"/>
                </a:solidFill>
                <a:latin typeface="Inter"/>
                <a:ea typeface="Inter"/>
                <a:cs typeface="Inter"/>
              </a:defRPr>
            </a:pPr>
            <a:r>
              <a:rPr sz="1125" b="0">
                <a:solidFill>
                  <a:srgbClr val="B5B9B6"/>
                </a:solidFill>
                <a:latin typeface="Inter"/>
                <a:ea typeface="Inter"/>
                <a:cs typeface="Inter"/>
              </a:rPr>
              <a:t>AI-generated conceptual image</a:t>
            </a:r>
          </a:p>
        </p:txBody>
      </p:sp>
    </p:spTree>
    <p:extLst>
      <p:ext uri="{BB962C8B-B14F-4D97-AF65-F5344CB8AC3E}">
        <p14:creationId xmlns:p14="http://schemas.microsoft.com/office/powerpoint/2010/main" val="59207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2026-09-26T22:52:17.6300000Z</dcterms:created>
  <dcterms:modified xsi:type="dcterms:W3CDTF">2026-09-26T22:52:17.6300000Z</dcterms:modified>
</coreProperties>
</file>