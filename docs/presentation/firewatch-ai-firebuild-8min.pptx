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5df70a881a4a14" /><Relationship Type="http://schemas.openxmlformats.org/officeDocument/2006/relationships/extended-properties" Target="/docProps/app.xml" Id="R2e75ba4b45f74e76" /><Relationship Type="http://schemas.openxmlformats.org/officeDocument/2006/relationships/officeDocument" Target="/ppt/presentation.xml" Id="R6b30b13de4524af5" /></Relationships>
</file>

<file path=ppt/presentation.xml><?xml version="1.0" encoding="utf-8"?>
<p:presentation xmlns:p="http://schemas.openxmlformats.org/presentationml/2006/main">
  <p:sldMasterIdLst>
    <p:sldMasterId xmlns:r="http://schemas.openxmlformats.org/officeDocument/2006/relationships" id="2147483648" r:id="Rc83c3053a77048ab"/>
  </p:sldMasterIdLst>
  <p:notesMasterIdLst>
    <p:notesMasterId xmlns:r="http://schemas.openxmlformats.org/officeDocument/2006/relationships" r:id="R2bb242200a0344de"/>
  </p:notesMasterIdLst>
  <p:sldIdLst>
    <p:sldId xmlns:r="http://schemas.openxmlformats.org/officeDocument/2006/relationships" id="256" r:id="R1060207f3c0e47f3"/>
    <p:sldId xmlns:r="http://schemas.openxmlformats.org/officeDocument/2006/relationships" id="257" r:id="Ra1cbdbbfded444ed"/>
    <p:sldId xmlns:r="http://schemas.openxmlformats.org/officeDocument/2006/relationships" id="258" r:id="Rfb495adf30394fd6"/>
    <p:sldId xmlns:r="http://schemas.openxmlformats.org/officeDocument/2006/relationships" id="259" r:id="R9fa58786e8484ebc"/>
    <p:sldId xmlns:r="http://schemas.openxmlformats.org/officeDocument/2006/relationships" id="260" r:id="R2baf4bf516f6458b"/>
    <p:sldId xmlns:r="http://schemas.openxmlformats.org/officeDocument/2006/relationships" id="261" r:id="Rff51f0868f4444ae"/>
    <p:sldId xmlns:r="http://schemas.openxmlformats.org/officeDocument/2006/relationships" id="262" r:id="R6c0044a465424d16"/>
    <p:sldId xmlns:r="http://schemas.openxmlformats.org/officeDocument/2006/relationships" id="263" r:id="R80ee46955d334621"/>
    <p:sldId xmlns:r="http://schemas.openxmlformats.org/officeDocument/2006/relationships" id="264" r:id="R9d3455548e9c4847"/>
    <p:sldId xmlns:r="http://schemas.openxmlformats.org/officeDocument/2006/relationships" id="265" r:id="Rc780805b75d74c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d4a6aacc96450a" /><Relationship Type="http://schemas.openxmlformats.org/officeDocument/2006/relationships/slideMaster" Target="/ppt/slideMasters/slideMaster1.xml" Id="Rc83c3053a77048ab" /><Relationship Type="http://schemas.openxmlformats.org/officeDocument/2006/relationships/notesMaster" Target="/ppt/notesMasters/notesMaster1.xml" Id="R2bb242200a0344de" /><Relationship Type="http://schemas.openxmlformats.org/officeDocument/2006/relationships/presProps" Target="/ppt/presProps.xml" Id="R60bbad642ae74328" /><Relationship Type="http://schemas.openxmlformats.org/officeDocument/2006/relationships/tableStyles" Target="/ppt/tableStyles.xml" Id="R92a4b97e1564489a" /><Relationship Type="http://schemas.openxmlformats.org/officeDocument/2006/relationships/slide" Target="/ppt/slides/slide1.xml" Id="R1060207f3c0e47f3" /><Relationship Type="http://schemas.openxmlformats.org/officeDocument/2006/relationships/slide" Target="/ppt/slides/slide2.xml" Id="Ra1cbdbbfded444ed" /><Relationship Type="http://schemas.openxmlformats.org/officeDocument/2006/relationships/slide" Target="/ppt/slides/slide3.xml" Id="Rfb495adf30394fd6" /><Relationship Type="http://schemas.openxmlformats.org/officeDocument/2006/relationships/slide" Target="/ppt/slides/slide4.xml" Id="R9fa58786e8484ebc" /><Relationship Type="http://schemas.openxmlformats.org/officeDocument/2006/relationships/slide" Target="/ppt/slides/slide5.xml" Id="R2baf4bf516f6458b" /><Relationship Type="http://schemas.openxmlformats.org/officeDocument/2006/relationships/slide" Target="/ppt/slides/slide6.xml" Id="Rff51f0868f4444ae" /><Relationship Type="http://schemas.openxmlformats.org/officeDocument/2006/relationships/slide" Target="/ppt/slides/slide7.xml" Id="R6c0044a465424d16" /><Relationship Type="http://schemas.openxmlformats.org/officeDocument/2006/relationships/slide" Target="/ppt/slides/slide8.xml" Id="R80ee46955d334621" /><Relationship Type="http://schemas.openxmlformats.org/officeDocument/2006/relationships/slide" Target="/ppt/slides/slide9.xml" Id="R9d3455548e9c4847" /><Relationship Type="http://schemas.openxmlformats.org/officeDocument/2006/relationships/slide" Target="/ppt/slides/slide10.xml" Id="Rc780805b75d74c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a0aaefed2d45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0397648629432c" /><Relationship Type="http://schemas.openxmlformats.org/officeDocument/2006/relationships/notesMaster" Target="/ppt/notesMasters/notesMaster1.xml" Id="R149c4c62736444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c2d3e397964779" /><Relationship Type="http://schemas.openxmlformats.org/officeDocument/2006/relationships/notesMaster" Target="/ppt/notesMasters/notesMaster1.xml" Id="R074d2325bc074d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3a54f104694589" /><Relationship Type="http://schemas.openxmlformats.org/officeDocument/2006/relationships/notesMaster" Target="/ppt/notesMasters/notesMaster1.xml" Id="R9f6d694cbd8547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519db407ea4492" /><Relationship Type="http://schemas.openxmlformats.org/officeDocument/2006/relationships/notesMaster" Target="/ppt/notesMasters/notesMaster1.xml" Id="Ra3b2b4666dcb4d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645754552d41f9" /><Relationship Type="http://schemas.openxmlformats.org/officeDocument/2006/relationships/notesMaster" Target="/ppt/notesMasters/notesMaster1.xml" Id="R4431bf916c8246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891a238b71474f" /><Relationship Type="http://schemas.openxmlformats.org/officeDocument/2006/relationships/notesMaster" Target="/ppt/notesMasters/notesMaster1.xml" Id="R6a2f283d62764e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9b2687e7cc4a27" /><Relationship Type="http://schemas.openxmlformats.org/officeDocument/2006/relationships/notesMaster" Target="/ppt/notesMasters/notesMaster1.xml" Id="R859cef9412be47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96254c528d4574" /><Relationship Type="http://schemas.openxmlformats.org/officeDocument/2006/relationships/notesMaster" Target="/ppt/notesMasters/notesMaster1.xml" Id="R23367984311f47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1b6ad4c95a4245" /><Relationship Type="http://schemas.openxmlformats.org/officeDocument/2006/relationships/notesMaster" Target="/ppt/notesMasters/notesMaster1.xml" Id="R72759e75b35841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747493c0c84f74" /><Relationship Type="http://schemas.openxmlformats.org/officeDocument/2006/relationships/notesMaster" Target="/ppt/notesMasters/notesMaster1.xml" Id="R59ace65410ce40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0:00–0:35 (35 seconds)</a:t>
            </a:r>
          </a:p>
          <a:p xmlns:a="http://schemas.openxmlformats.org/drawingml/2006/main">
            <a:r>
              <a:t/>
            </a:r>
          </a:p>
          <a:p xmlns:a="http://schemas.openxmlformats.org/drawingml/2006/main">
            <a:r>
              <a:t>Imagine a response team looking at a drone feed. They can see smoke and a patch of fire, but the operational question is harder: where is the active fire on the ground, and what has changed since the last pass? FireWatch AI is our proposal for answering that question. We combine drone imagery with position and orientation to build a timestamped view of observed fire. Our focus is specific: detect the fire that exists now and track the spread we can actually observe.</a:t>
            </a:r>
          </a:p>
          <a:p xmlns:a="http://schemas.openxmlformats.org/drawingml/2006/main">
            <a:r>
              <a:t/>
            </a:r>
          </a:p>
          <a:p xmlns:a="http://schemas.openxmlformats.org/drawingml/2006/main">
            <a:r>
              <a:t>Source: project AGENTS.md decisions DR005–DR006 and docs/concurrent-analysis/08-drone-realtime/pipeline.md (2026-09-26). Product and pilot details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0:35–1:20 (45 seconds)</a:t>
            </a:r>
          </a:p>
          <a:p xmlns:a="http://schemas.openxmlformats.org/drawingml/2006/main">
            <a:r>
              <a:t/>
            </a:r>
          </a:p>
          <a:p xmlns:a="http://schemas.openxmlformats.org/drawingml/2006/main">
            <a:r>
              <a:t>A video feed gives an operator a view, but turning that view into a shared update takes interpretation. The camera moves. Smoke hides terrain. A hot patch may be active fire or residual heat. And an image that looked current a moment ago can become stale. Our starting user is the responder or analyst reviewing drone observations during an incident. We want to help that person distinguish a new observation from a real change on the ground. The opportunity is to make the evidence easier to inspect and compare, while keeping the human responsible for the operational decision.</a:t>
            </a:r>
          </a:p>
          <a:p xmlns:a="http://schemas.openxmlformats.org/drawingml/2006/main">
            <a:r>
              <a:t/>
            </a:r>
          </a:p>
          <a:p xmlns:a="http://schemas.openxmlformats.org/drawingml/2006/main">
            <a:r>
              <a:t>Source: project AGENTS.md decisions DR005–DR006 and docs/concurrent-analysis/08-drone-realtime/pipeline.md (2026-09-26). Product and pilot details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1:20–2:10 (50 seconds)</a:t>
            </a:r>
          </a:p>
          <a:p xmlns:a="http://schemas.openxmlformats.org/drawingml/2006/main">
            <a:r>
              <a:t/>
            </a:r>
          </a:p>
          <a:p xmlns:a="http://schemas.openxmlformats.org/drawingml/2006/main">
            <a:r>
              <a:t>FireWatch would turn usable drone observations into a map of currently observed fire, then compare that map with earlier observations. Selecting an area would reveal its supporting image, observation time and quality. Users could distinguish active fire from residual heat and see where the drone has not provided enough coverage. That distinction matters: an empty part of the map should never silently mean that an area is safe. The first version concentrates on this current-state picture and observed change. Future spread forecasts and pre-ignition risk are outside our initial scope. We believe this narrower product gives us a clearer problem to demonstrate and a clearer result to evaluate.</a:t>
            </a:r>
          </a:p>
          <a:p xmlns:a="http://schemas.openxmlformats.org/drawingml/2006/main">
            <a:r>
              <a:t/>
            </a:r>
          </a:p>
          <a:p xmlns:a="http://schemas.openxmlformats.org/drawingml/2006/main">
            <a:r>
              <a:t>Source: project AGENTS.md decisions DR005–DR006 and docs/concurrent-analysis/08-drone-realtime/pipeline.md (2026-09-26). Product and pilot details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2:10–3:00 (50 seconds)</a:t>
            </a:r>
          </a:p>
          <a:p xmlns:a="http://schemas.openxmlformats.org/drawingml/2006/main">
            <a:r>
              <a:t/>
            </a:r>
          </a:p>
          <a:p xmlns:a="http://schemas.openxmlformats.org/drawingml/2006/main">
            <a:r>
              <a:t>The proposed inputs have different jobs. RGB imagery provides visible evidence such as fire and smoke. Infrared adds evidence of thermal anomalies. Drone position, orientation and camera pose help locate those observations on the ground, but GPS alone does not locate a hotspot. We also need camera calibration and suitable terrain or depth information. Weather and temperature provide context. They do not replace the visual evidence. We must also know what the sensors actually measure. A thermal color image does not automatically provide a reliable temperature in degrees. The hardware choices are still open, so our implementation must preserve those distinctions instead of pretending every feed is equally informative.</a:t>
            </a:r>
          </a:p>
          <a:p xmlns:a="http://schemas.openxmlformats.org/drawingml/2006/main">
            <a:r>
              <a:t/>
            </a:r>
          </a:p>
          <a:p xmlns:a="http://schemas.openxmlformats.org/drawingml/2006/main">
            <a:r>
              <a:t>Source: project AGENTS.md decisions DR005–DR006 and docs/concurrent-analysis/08-drone-realtime/pipeline.md (2026-09-26). Product and pilot details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3:00–3:55 (55 seconds)</a:t>
            </a:r>
          </a:p>
          <a:p xmlns:a="http://schemas.openxmlformats.org/drawingml/2006/main">
            <a:r>
              <a:t/>
            </a:r>
          </a:p>
          <a:p xmlns:a="http://schemas.openxmlformats.org/drawingml/2006/main">
            <a:r>
              <a:t>The workflow begins by matching each frame to the telemetry from the moment it was captured. Computer vision then identifies fire evidence and tracks it across frames. Where the geometry is good enough, we project the detections onto the ground. Next, we compare observations of the same area at different times. This is the critical step: the system must account for camera motion and changing visibility before it calls something spread. Finally, the application publishes the current observation and its quality information. The browser consumes structured results through an API. An optional language model can turn those measurements into a readable briefing, but it does not determine the fire boundary or invent missing measurements. The core intelligence is visual and spatial.</a:t>
            </a:r>
          </a:p>
          <a:p xmlns:a="http://schemas.openxmlformats.org/drawingml/2006/main">
            <a:r>
              <a:t/>
            </a:r>
          </a:p>
          <a:p xmlns:a="http://schemas.openxmlformats.org/drawingml/2006/main">
            <a:r>
              <a:t>Source: project AGENTS.md decisions DR005–DR006 and docs/concurrent-analysis/08-drone-realtime/pipeline.md (2026-09-26). Product and pilot details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3:55–4:55 (60 seconds)</a:t>
            </a:r>
          </a:p>
          <a:p xmlns:a="http://schemas.openxmlformats.org/drawingml/2006/main">
            <a:r>
              <a:t/>
            </a:r>
          </a:p>
          <a:p xmlns:a="http://schemas.openxmlformats.org/drawingml/2006/main">
            <a:r>
              <a:t>Here is the experience we want to demonstrate. On the first pass, the drone observes a section of active fire. FireWatch records that visible front with its timestamp and supporting frames. On a later pass, the drone returns to the same area. The camera may now be at a different angle, so we align the ground observations before comparing them. If the evidence supports movement, the analyst sees where the front changed and over which interval. If the drone simply reveals terrain that was hidden earlier, the application labels that as newly observed coverage. It does not call it new spread. The analyst can inspect both observations before sharing an update. This sequence is illustrative today. It describes the intended interaction and the behavior our prototype needs to prove.</a:t>
            </a:r>
          </a:p>
          <a:p xmlns:a="http://schemas.openxmlformats.org/drawingml/2006/main">
            <a:r>
              <a:t/>
            </a:r>
          </a:p>
          <a:p xmlns:a="http://schemas.openxmlformats.org/drawingml/2006/main">
            <a:r>
              <a:t>Source: project AGENTS.md decisions DR005–DR006 and docs/concurrent-analysis/08-drone-realtime/pipeline.md (2026-09-26). Product and pilot details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4:55–5:40 (45 seconds)</a:t>
            </a:r>
          </a:p>
          <a:p xmlns:a="http://schemas.openxmlformats.org/drawingml/2006/main">
            <a:r>
              <a:t/>
            </a:r>
          </a:p>
          <a:p xmlns:a="http://schemas.openxmlformats.org/drawingml/2006/main">
            <a:r>
              <a:t>A credible system needs a useful way to say that it does not know. If smoke obscures a region, we preserve that uncertainty. If geolocation is too weak, we can still show an image-space detection, but we should withhold ground distances and spread speed. If the feed stops, the map should make stale observations obvious. We also need to separate active fire from residual hot ground. These are product requirements, not just technical details, because they change how someone interprets the map. Our design goal is that every reported change comes with enough evidence and timing information for a person to question it.</a:t>
            </a:r>
          </a:p>
          <a:p xmlns:a="http://schemas.openxmlformats.org/drawingml/2006/main">
            <a:r>
              <a:t/>
            </a:r>
          </a:p>
          <a:p xmlns:a="http://schemas.openxmlformats.org/drawingml/2006/main">
            <a:r>
              <a:t>Source: project AGENTS.md decisions DR005–DR006 and docs/concurrent-analysis/08-drone-realtime/pipeline.md (2026-09-26). Product and pilot details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5:40–6:35 (55 seconds)</a:t>
            </a:r>
          </a:p>
          <a:p xmlns:a="http://schemas.openxmlformats.org/drawingml/2006/main">
            <a:r>
              <a:t/>
            </a:r>
          </a:p>
          <a:p xmlns:a="http://schemas.openxmlformats.org/drawingml/2006/main">
            <a:r>
              <a:t>The repository today contains research and a component scaffold, so we are not presenting field performance results. The next milestone is a repeatable prototype using a labeled, synchronized recording. We need to measure missed fire and false alarms, along with boundary and location error. We also need capture-to-display timing, including transmission and processing rather than inference alone. To validate observed movement, we should compare against annotated ground-referenced sequences. A particularly important test is a stationary fire viewed from a moving drone. The system should not report spread just because the camera moves. Another test reveals previously hidden terrain. Passing these tests would give us a defensible reason to move from a convincing presentation to a controlled field pilot.</a:t>
            </a:r>
          </a:p>
          <a:p xmlns:a="http://schemas.openxmlformats.org/drawingml/2006/main">
            <a:r>
              <a:t/>
            </a:r>
          </a:p>
          <a:p xmlns:a="http://schemas.openxmlformats.org/drawingml/2006/main">
            <a:r>
              <a:t>Source: project AGENTS.md decisions DR005–DR006 and docs/concurrent-analysis/08-drone-realtime/pipeline.md (2026-09-26). Product and pilot details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6:35–7:20 (45 seconds)</a:t>
            </a:r>
          </a:p>
          <a:p xmlns:a="http://schemas.openxmlformats.org/drawingml/2006/main">
            <a:r>
              <a:t/>
            </a:r>
          </a:p>
          <a:p xmlns:a="http://schemas.openxmlformats.org/drawingml/2006/main">
            <a:r>
              <a:t>Our initial adoption hypothesis is to work with a drone operator and a responder or fire analyst on one constrained pilot. That gives us access to the real observation workflow and the person who needs the output. We would begin with recorded data, review errors together, and only then test a live feed under controlled conditions. The value question is concrete: can the analyst produce a clearer, more timely update with less manual comparison? We have not validated willingness to pay or chosen a pricing model. Those decisions should follow evidence that the workflow solves a problem for the intended user.</a:t>
            </a:r>
          </a:p>
          <a:p xmlns:a="http://schemas.openxmlformats.org/drawingml/2006/main">
            <a:r>
              <a:t/>
            </a:r>
          </a:p>
          <a:p xmlns:a="http://schemas.openxmlformats.org/drawingml/2006/main">
            <a:r>
              <a:t>Source: project AGENTS.md decisions DR005–DR006 and docs/concurrent-analysis/08-drone-realtime/pipeline.md (2026-09-26). Product and pilot details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7:20–8:00 (40 seconds)</a:t>
            </a:r>
          </a:p>
          <a:p xmlns:a="http://schemas.openxmlformats.org/drawingml/2006/main">
            <a:r>
              <a:t/>
            </a:r>
          </a:p>
          <a:p xmlns:a="http://schemas.openxmlformats.org/drawingml/2006/main">
            <a:r>
              <a:t>FireWatch AI has one initial job: help people see where active fire has been observed and how that observed front changes over time. The technical challenge is to connect visual detection with trustworthy ground location and careful temporal comparison. The product challenge is to make the result understandable, including its limits. Our next step is a focused prototype built around real synchronized observations and reviewed with a domain partner. We are looking for access to drone data and responder feedback so we can test that promise. Thank you.</a:t>
            </a:r>
          </a:p>
          <a:p xmlns:a="http://schemas.openxmlformats.org/drawingml/2006/main">
            <a:r>
              <a:t/>
            </a:r>
          </a:p>
          <a:p xmlns:a="http://schemas.openxmlformats.org/drawingml/2006/main">
            <a:r>
              <a:t>Source: project AGENTS.md decisions DR005–DR006 and docs/concurrent-analysis/08-drone-realtime/pipeline.md (2026-09-26). Product and pilot details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23dc0142c548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52518d87b84414" /><Relationship Type="http://schemas.openxmlformats.org/officeDocument/2006/relationships/slideLayout" Target="/ppt/slideLayouts/slideLayout1.xml" Id="Rb522ffa7dcb941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22ffa7dcb941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873e1d91294593" /><Relationship Type="http://schemas.openxmlformats.org/officeDocument/2006/relationships/image" Target="/ppt/media/image.png" Id="R072e254f6f9b4102" /><Relationship Type="http://schemas.openxmlformats.org/officeDocument/2006/relationships/notesSlide" Target="/ppt/notesSlides/notesSlide1.xml" Id="Rc4cc3a8c852540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6e0c80225fd44c7" /><Relationship Type="http://schemas.openxmlformats.org/officeDocument/2006/relationships/notesSlide" Target="/ppt/notesSlides/notesSlide2.xml" Id="R7a04c65f822b46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28d6a5713a4f6e" /><Relationship Type="http://schemas.openxmlformats.org/officeDocument/2006/relationships/notesSlide" Target="/ppt/notesSlides/notesSlide3.xml" Id="R2a41c89d2c2c44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a82ca091d34cbf" /><Relationship Type="http://schemas.openxmlformats.org/officeDocument/2006/relationships/notesSlide" Target="/ppt/notesSlides/notesSlide4.xml" Id="Rd622306fe59b4a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053833c964b4826" /><Relationship Type="http://schemas.openxmlformats.org/officeDocument/2006/relationships/notesSlide" Target="/ppt/notesSlides/notesSlide5.xml" Id="Refdc1f3a4c9048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bcff840bf1432b" /><Relationship Type="http://schemas.openxmlformats.org/officeDocument/2006/relationships/notesSlide" Target="/ppt/notesSlides/notesSlide6.xml" Id="Rb0aeabf106a14f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b70076d9374926" /><Relationship Type="http://schemas.openxmlformats.org/officeDocument/2006/relationships/notesSlide" Target="/ppt/notesSlides/notesSlide7.xml" Id="R2e2549b7faec4f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370d50993646a7" /><Relationship Type="http://schemas.openxmlformats.org/officeDocument/2006/relationships/notesSlide" Target="/ppt/notesSlides/notesSlide8.xml" Id="R39d65aacc55546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8b41354b5649fe" /><Relationship Type="http://schemas.openxmlformats.org/officeDocument/2006/relationships/notesSlide" Target="/ppt/notesSlides/notesSlide9.xml" Id="R369a4768e8be4f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2691e5a2377485f" /><Relationship Type="http://schemas.openxmlformats.org/officeDocument/2006/relationships/image" Target="/ppt/media/image2.png" Id="R6875538283d847ab" /><Relationship Type="http://schemas.openxmlformats.org/officeDocument/2006/relationships/notesSlide" Target="/ppt/notesSlides/notesSlide10.xml" Id="Rf29289380dd34f00" /></Relationships>
</file>

<file path=ppt/slides/slide1.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72e254f6f9b410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7B19CBB-832E-49E9-A7FC-A1E0AF20839A}"/>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5B9B6"/>
                </a:solidFill>
                <a:latin typeface="Inter"/>
                <a:ea typeface="Inter"/>
                <a:cs typeface="Inter"/>
              </a:defRPr>
            </a:pPr>
            <a:r>
              <a:rPr sz="1500" b="0">
                <a:solidFill>
                  <a:srgbClr val="B5B9B6"/>
                </a:solidFill>
                <a:latin typeface="Inter"/>
                <a:ea typeface="Inter"/>
                <a:cs typeface="Inter"/>
              </a:rPr>
              <a:t>01</a:t>
            </a:r>
          </a:p>
        </p:txBody>
      </p:sp>
      <p:sp>
        <p:nvSpPr>
          <p:cNvPr id="3" name="">
            <a:extLst xmlns:a="http://schemas.openxmlformats.org/drawingml/2006/main">
              <a:ext uri="{FF2B5EF4-FFF2-40B4-BE49-F238E27FC236}">
                <a16:creationId xmlns:a16="http://schemas.microsoft.com/office/drawing/2014/main" id="{63A44316-0B61-4C88-B00E-6432A236F209}"/>
              </a:ext>
            </a:extLst>
          </p:cNvPr>
          <p:cNvSpPr>
            <a:spLocks xmlns:a="http://schemas.openxmlformats.org/drawingml/2006/main" noGrp="1"/>
          </p:cNvSpPr>
          <p:nvPr/>
        </p:nvSpPr>
        <p:spPr>
          <a:xfrm xmlns:a="http://schemas.openxmlformats.org/drawingml/2006/main">
            <a:off x="666750" y="8096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7949"/>
                </a:solidFill>
                <a:latin typeface="Inter"/>
                <a:ea typeface="Inter"/>
                <a:cs typeface="Inter"/>
              </a:defRPr>
            </a:pPr>
            <a:r>
              <a:rPr sz="1650" b="1">
                <a:solidFill>
                  <a:srgbClr val="FF7949"/>
                </a:solidFill>
                <a:latin typeface="Inter"/>
                <a:ea typeface="Inter"/>
                <a:cs typeface="Inter"/>
              </a:rPr>
              <a:t>FIREBUILD HACKATHON</a:t>
            </a:r>
          </a:p>
        </p:txBody>
      </p:sp>
      <p:sp>
        <p:nvSpPr>
          <p:cNvPr id="4" name="">
            <a:extLst xmlns:a="http://schemas.openxmlformats.org/drawingml/2006/main">
              <a:ext uri="{FF2B5EF4-FFF2-40B4-BE49-F238E27FC236}">
                <a16:creationId xmlns:a16="http://schemas.microsoft.com/office/drawing/2014/main" id="{E72FA375-BE72-407E-9387-76C9A339B5F6}"/>
              </a:ext>
            </a:extLst>
          </p:cNvPr>
          <p:cNvSpPr>
            <a:spLocks xmlns:a="http://schemas.openxmlformats.org/drawingml/2006/main" noGrp="1"/>
          </p:cNvSpPr>
          <p:nvPr/>
        </p:nvSpPr>
        <p:spPr>
          <a:xfrm xmlns:a="http://schemas.openxmlformats.org/drawingml/2006/main">
            <a:off x="666750" y="2143125"/>
            <a:ext cx="857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450" b="1">
                <a:solidFill>
                  <a:srgbClr val="F6F3EC"/>
                </a:solidFill>
                <a:latin typeface="Inter"/>
                <a:ea typeface="Inter"/>
                <a:cs typeface="Inter"/>
              </a:defRPr>
            </a:pPr>
            <a:r>
              <a:rPr sz="6450" b="1">
                <a:solidFill>
                  <a:srgbClr val="F6F3EC"/>
                </a:solidFill>
                <a:latin typeface="Inter"/>
                <a:ea typeface="Inter"/>
                <a:cs typeface="Inter"/>
              </a:rPr>
              <a:t>FireWatch AI</a:t>
            </a:r>
          </a:p>
        </p:txBody>
      </p:sp>
      <p:sp>
        <p:nvSpPr>
          <p:cNvPr id="5" name="">
            <a:extLst xmlns:a="http://schemas.openxmlformats.org/drawingml/2006/main">
              <a:ext uri="{FF2B5EF4-FFF2-40B4-BE49-F238E27FC236}">
                <a16:creationId xmlns:a16="http://schemas.microsoft.com/office/drawing/2014/main" id="{49CB6DC7-22B0-45F4-9806-969570BDF879}"/>
              </a:ext>
            </a:extLst>
          </p:cNvPr>
          <p:cNvSpPr>
            <a:spLocks xmlns:a="http://schemas.openxmlformats.org/drawingml/2006/main" noGrp="1"/>
          </p:cNvSpPr>
          <p:nvPr/>
        </p:nvSpPr>
        <p:spPr>
          <a:xfrm xmlns:a="http://schemas.openxmlformats.org/drawingml/2006/main">
            <a:off x="704850" y="3476625"/>
            <a:ext cx="7905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6F3EC"/>
                </a:solidFill>
                <a:latin typeface="Inter"/>
                <a:ea typeface="Inter"/>
                <a:cs typeface="Inter"/>
              </a:defRPr>
            </a:pPr>
            <a:r>
              <a:rPr sz="2700" b="0">
                <a:solidFill>
                  <a:srgbClr val="F6F3EC"/>
                </a:solidFill>
                <a:latin typeface="Inter"/>
                <a:ea typeface="Inter"/>
                <a:cs typeface="Inter"/>
              </a:rPr>
              <a:t>Drone imagery for tracking</a:t>
            </a:r>
          </a:p>
          <a:p xmlns:a="http://schemas.openxmlformats.org/drawingml/2006/main">
            <a:pPr>
              <a:defRPr sz="2700" b="0">
                <a:solidFill>
                  <a:srgbClr val="F6F3EC"/>
                </a:solidFill>
                <a:latin typeface="Inter"/>
                <a:ea typeface="Inter"/>
                <a:cs typeface="Inter"/>
              </a:defRPr>
            </a:pPr>
            <a:r>
              <a:rPr sz="2700" b="0">
                <a:solidFill>
                  <a:srgbClr val="F6F3EC"/>
                </a:solidFill>
                <a:latin typeface="Inter"/>
                <a:ea typeface="Inter"/>
                <a:cs typeface="Inter"/>
              </a:rPr>
              <a:t>active fire and observed spread</a:t>
            </a:r>
          </a:p>
        </p:txBody>
      </p:sp>
      <p:sp>
        <p:nvSpPr>
          <p:cNvPr id="6" name="">
            <a:extLst xmlns:a="http://schemas.openxmlformats.org/drawingml/2006/main">
              <a:ext uri="{FF2B5EF4-FFF2-40B4-BE49-F238E27FC236}">
                <a16:creationId xmlns:a16="http://schemas.microsoft.com/office/drawing/2014/main" id="{1063D673-0A90-4704-8E46-5F48BFAE3D81}"/>
              </a:ext>
            </a:extLst>
          </p:cNvPr>
          <p:cNvSpPr>
            <a:spLocks xmlns:a="http://schemas.openxmlformats.org/drawingml/2006/main" noGrp="1"/>
          </p:cNvSpPr>
          <p:nvPr/>
        </p:nvSpPr>
        <p:spPr>
          <a:xfrm xmlns:a="http://schemas.openxmlformats.org/drawingml/2006/main">
            <a:off x="704850" y="5810250"/>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5B9B6"/>
                </a:solidFill>
                <a:latin typeface="Inter"/>
                <a:ea typeface="Inter"/>
                <a:cs typeface="Inter"/>
              </a:defRPr>
            </a:pPr>
            <a:r>
              <a:rPr sz="1500" b="0">
                <a:solidFill>
                  <a:srgbClr val="B5B9B6"/>
                </a:solidFill>
                <a:latin typeface="Inter"/>
                <a:ea typeface="Inter"/>
                <a:cs typeface="Inter"/>
              </a:rPr>
              <a:t>Concept pitch</a:t>
            </a:r>
          </a:p>
        </p:txBody>
      </p:sp>
      <p:sp>
        <p:nvSpPr>
          <p:cNvPr id="7" name="">
            <a:extLst xmlns:a="http://schemas.openxmlformats.org/drawingml/2006/main">
              <a:ext uri="{FF2B5EF4-FFF2-40B4-BE49-F238E27FC236}">
                <a16:creationId xmlns:a16="http://schemas.microsoft.com/office/drawing/2014/main" id="{9F761863-4C0D-4FA7-AAD2-B04FA75D6148}"/>
              </a:ext>
            </a:extLst>
          </p:cNvPr>
          <p:cNvSpPr>
            <a:spLocks xmlns:a="http://schemas.openxmlformats.org/drawingml/2006/main" noGrp="1"/>
          </p:cNvSpPr>
          <p:nvPr/>
        </p:nvSpPr>
        <p:spPr>
          <a:xfrm xmlns:a="http://schemas.openxmlformats.org/drawingml/2006/main">
            <a:off x="8382000" y="6238875"/>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5B9B6"/>
                </a:solidFill>
                <a:latin typeface="Inter"/>
                <a:ea typeface="Inter"/>
                <a:cs typeface="Inter"/>
              </a:defRPr>
            </a:pPr>
            <a:r>
              <a:rPr sz="1125" b="0">
                <a:solidFill>
                  <a:srgbClr val="B5B9B6"/>
                </a:solidFill>
                <a:latin typeface="Inter"/>
                <a:ea typeface="Inter"/>
                <a:cs typeface="Inter"/>
              </a:rPr>
              <a:t>AI-generated conceptual image</a:t>
            </a:r>
          </a:p>
        </p:txBody>
      </p:sp>
    </p:spTree>
    <p:extLst>
      <p:ext uri="{BB962C8B-B14F-4D97-AF65-F5344CB8AC3E}">
        <p14:creationId xmlns:p14="http://schemas.microsoft.com/office/powerpoint/2010/main" val="1235006913"/>
      </p:ext>
    </p:extLst>
  </p:cSld>
</p:sld>
</file>

<file path=ppt/slides/slide2.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26BE97-0BBA-4165-8EBA-E323FD62C558}"/>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5B9B6"/>
                </a:solidFill>
                <a:latin typeface="Inter"/>
                <a:ea typeface="Inter"/>
                <a:cs typeface="Inter"/>
              </a:defRPr>
            </a:pPr>
            <a:r>
              <a:rPr sz="1500" b="0">
                <a:solidFill>
                  <a:srgbClr val="B5B9B6"/>
                </a:solidFill>
                <a:latin typeface="Inter"/>
                <a:ea typeface="Inter"/>
                <a:cs typeface="Inter"/>
              </a:rPr>
              <a:t>02</a:t>
            </a:r>
          </a:p>
        </p:txBody>
      </p:sp>
      <p:sp>
        <p:nvSpPr>
          <p:cNvPr id="2" name="">
            <a:extLst xmlns:a="http://schemas.openxmlformats.org/drawingml/2006/main">
              <a:ext uri="{FF2B5EF4-FFF2-40B4-BE49-F238E27FC236}">
                <a16:creationId xmlns:a16="http://schemas.microsoft.com/office/drawing/2014/main" id="{93D0338F-817A-4AF4-A4E4-27D98ED67B44}"/>
              </a:ext>
            </a:extLst>
          </p:cNvPr>
          <p:cNvSpPr>
            <a:spLocks xmlns:a="http://schemas.openxmlformats.org/drawingml/2006/main" noGrp="1"/>
          </p:cNvSpPr>
          <p:nvPr/>
        </p:nvSpPr>
        <p:spPr>
          <a:xfrm xmlns:a="http://schemas.openxmlformats.org/drawingml/2006/main">
            <a:off x="666750" y="619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C"/>
                </a:solidFill>
                <a:latin typeface="Inter"/>
                <a:ea typeface="Inter"/>
                <a:cs typeface="Inter"/>
              </a:defRPr>
            </a:pPr>
            <a:r>
              <a:rPr sz="3600" b="1">
                <a:solidFill>
                  <a:srgbClr val="F6F3EC"/>
                </a:solidFill>
                <a:latin typeface="Inter"/>
                <a:ea typeface="Inter"/>
                <a:cs typeface="Inter"/>
              </a:rPr>
              <a:t>The gap between video and a usable update</a:t>
            </a:r>
          </a:p>
        </p:txBody>
      </p:sp>
      <p:sp>
        <p:nvSpPr>
          <p:cNvPr id="3" name="">
            <a:extLst xmlns:a="http://schemas.openxmlformats.org/drawingml/2006/main">
              <a:ext uri="{FF2B5EF4-FFF2-40B4-BE49-F238E27FC236}">
                <a16:creationId xmlns:a16="http://schemas.microsoft.com/office/drawing/2014/main" id="{EE49A688-2F98-4EA6-91C6-ABCF16F6D3DD}"/>
              </a:ext>
            </a:extLst>
          </p:cNvPr>
          <p:cNvSpPr>
            <a:spLocks xmlns:a="http://schemas.openxmlformats.org/drawingml/2006/main" noGrp="1"/>
          </p:cNvSpPr>
          <p:nvPr/>
        </p:nvSpPr>
        <p:spPr>
          <a:xfrm xmlns:a="http://schemas.openxmlformats.org/drawingml/2006/main">
            <a:off x="666750" y="2143125"/>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7949"/>
                </a:solidFill>
                <a:latin typeface="Inter"/>
                <a:ea typeface="Inter"/>
                <a:cs typeface="Inter"/>
              </a:defRPr>
            </a:pPr>
            <a:r>
              <a:rPr sz="4800" b="1">
                <a:solidFill>
                  <a:srgbClr val="FF7949"/>
                </a:solidFill>
                <a:latin typeface="Inter"/>
                <a:ea typeface="Inter"/>
                <a:cs typeface="Inter"/>
              </a:rPr>
              <a:t>Where is the fire?</a:t>
            </a:r>
          </a:p>
          <a:p xmlns:a="http://schemas.openxmlformats.org/drawingml/2006/main">
            <a:pPr>
              <a:defRPr sz="4800" b="1">
                <a:solidFill>
                  <a:srgbClr val="FF7949"/>
                </a:solidFill>
                <a:latin typeface="Inter"/>
                <a:ea typeface="Inter"/>
                <a:cs typeface="Inter"/>
              </a:defRPr>
            </a:pPr>
            <a:r>
              <a:rPr sz="4800" b="1">
                <a:solidFill>
                  <a:srgbClr val="FF7949"/>
                </a:solidFill>
                <a:latin typeface="Inter"/>
                <a:ea typeface="Inter"/>
                <a:cs typeface="Inter"/>
              </a:rPr>
              <a:t>What has changed?</a:t>
            </a:r>
          </a:p>
        </p:txBody>
      </p:sp>
      <p:sp>
        <p:nvSpPr>
          <p:cNvPr id="4" name="">
            <a:extLst xmlns:a="http://schemas.openxmlformats.org/drawingml/2006/main">
              <a:ext uri="{FF2B5EF4-FFF2-40B4-BE49-F238E27FC236}">
                <a16:creationId xmlns:a16="http://schemas.microsoft.com/office/drawing/2014/main" id="{23AC10D8-47AC-49A9-B42B-BE0D0D2009DC}"/>
              </a:ext>
            </a:extLst>
          </p:cNvPr>
          <p:cNvSpPr>
            <a:spLocks xmlns:a="http://schemas.openxmlformats.org/drawingml/2006/main" noGrp="1"/>
          </p:cNvSpPr>
          <p:nvPr/>
        </p:nvSpPr>
        <p:spPr>
          <a:xfrm xmlns:a="http://schemas.openxmlformats.org/drawingml/2006/main">
            <a:off x="704850" y="471487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6F3EC"/>
                </a:solidFill>
                <a:latin typeface="Inter"/>
                <a:ea typeface="Inter"/>
                <a:cs typeface="Inter"/>
              </a:defRPr>
            </a:pPr>
            <a:r>
              <a:rPr sz="2400" b="0">
                <a:solidFill>
                  <a:srgbClr val="F6F3EC"/>
                </a:solidFill>
                <a:latin typeface="Inter"/>
                <a:ea typeface="Inter"/>
                <a:cs typeface="Inter"/>
              </a:rPr>
              <a:t>A responder needs location, observation time</a:t>
            </a:r>
          </a:p>
          <a:p xmlns:a="http://schemas.openxmlformats.org/drawingml/2006/main">
            <a:pPr>
              <a:defRPr sz="2400" b="0">
                <a:solidFill>
                  <a:srgbClr val="F6F3EC"/>
                </a:solidFill>
                <a:latin typeface="Inter"/>
                <a:ea typeface="Inter"/>
                <a:cs typeface="Inter"/>
              </a:defRPr>
            </a:pPr>
            <a:r>
              <a:rPr sz="2400" b="0">
                <a:solidFill>
                  <a:srgbClr val="F6F3EC"/>
                </a:solidFill>
                <a:latin typeface="Inter"/>
                <a:ea typeface="Inter"/>
                <a:cs typeface="Inter"/>
              </a:rPr>
              <a:t>and evidence behind each update.</a:t>
            </a:r>
          </a:p>
        </p:txBody>
      </p:sp>
    </p:spTree>
    <p:extLst>
      <p:ext uri="{BB962C8B-B14F-4D97-AF65-F5344CB8AC3E}">
        <p14:creationId xmlns:p14="http://schemas.microsoft.com/office/powerpoint/2010/main" val="1699941911"/>
      </p:ext>
    </p:extLst>
  </p:cSld>
</p:sld>
</file>

<file path=ppt/slides/slide3.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694392-0E22-4E75-918E-DA8C7A87949D}"/>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5B9B6"/>
                </a:solidFill>
                <a:latin typeface="Inter"/>
                <a:ea typeface="Inter"/>
                <a:cs typeface="Inter"/>
              </a:defRPr>
            </a:pPr>
            <a:r>
              <a:rPr sz="1500" b="0">
                <a:solidFill>
                  <a:srgbClr val="B5B9B6"/>
                </a:solidFill>
                <a:latin typeface="Inter"/>
                <a:ea typeface="Inter"/>
                <a:cs typeface="Inter"/>
              </a:rPr>
              <a:t>03</a:t>
            </a:r>
          </a:p>
        </p:txBody>
      </p:sp>
      <p:sp>
        <p:nvSpPr>
          <p:cNvPr id="2" name="">
            <a:extLst xmlns:a="http://schemas.openxmlformats.org/drawingml/2006/main">
              <a:ext uri="{FF2B5EF4-FFF2-40B4-BE49-F238E27FC236}">
                <a16:creationId xmlns:a16="http://schemas.microsoft.com/office/drawing/2014/main" id="{A4B23F65-0AD5-49DF-835C-39392285F0A6}"/>
              </a:ext>
            </a:extLst>
          </p:cNvPr>
          <p:cNvSpPr>
            <a:spLocks xmlns:a="http://schemas.openxmlformats.org/drawingml/2006/main" noGrp="1"/>
          </p:cNvSpPr>
          <p:nvPr/>
        </p:nvSpPr>
        <p:spPr>
          <a:xfrm xmlns:a="http://schemas.openxmlformats.org/drawingml/2006/main">
            <a:off x="666750" y="619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C"/>
                </a:solidFill>
                <a:latin typeface="Inter"/>
                <a:ea typeface="Inter"/>
                <a:cs typeface="Inter"/>
              </a:defRPr>
            </a:pPr>
            <a:r>
              <a:rPr sz="3600" b="1">
                <a:solidFill>
                  <a:srgbClr val="F6F3EC"/>
                </a:solidFill>
                <a:latin typeface="Inter"/>
                <a:ea typeface="Inter"/>
                <a:cs typeface="Inter"/>
              </a:rPr>
              <a:t>The proposed product</a:t>
            </a:r>
          </a:p>
        </p:txBody>
      </p:sp>
      <p:sp>
        <p:nvSpPr>
          <p:cNvPr id="3" name="">
            <a:extLst xmlns:a="http://schemas.openxmlformats.org/drawingml/2006/main">
              <a:ext uri="{FF2B5EF4-FFF2-40B4-BE49-F238E27FC236}">
                <a16:creationId xmlns:a16="http://schemas.microsoft.com/office/drawing/2014/main" id="{2F92F0EB-A0A9-4FD3-8E39-D3C45A5F4866}"/>
              </a:ext>
            </a:extLst>
          </p:cNvPr>
          <p:cNvSpPr>
            <a:spLocks xmlns:a="http://schemas.openxmlformats.org/drawingml/2006/main" noGrp="1"/>
          </p:cNvSpPr>
          <p:nvPr/>
        </p:nvSpPr>
        <p:spPr>
          <a:xfrm xmlns:a="http://schemas.openxmlformats.org/drawingml/2006/main">
            <a:off x="666750" y="2143125"/>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7949"/>
                </a:solidFill>
                <a:latin typeface="Inter"/>
                <a:ea typeface="Inter"/>
                <a:cs typeface="Inter"/>
              </a:defRPr>
            </a:pPr>
            <a:r>
              <a:rPr sz="4800" b="1">
                <a:solidFill>
                  <a:srgbClr val="FF7949"/>
                </a:solidFill>
                <a:latin typeface="Inter"/>
                <a:ea typeface="Inter"/>
                <a:cs typeface="Inter"/>
              </a:rPr>
              <a:t>A current fire map</a:t>
            </a:r>
          </a:p>
          <a:p xmlns:a="http://schemas.openxmlformats.org/drawingml/2006/main">
            <a:pPr>
              <a:defRPr sz="4800" b="1">
                <a:solidFill>
                  <a:srgbClr val="FF7949"/>
                </a:solidFill>
                <a:latin typeface="Inter"/>
                <a:ea typeface="Inter"/>
                <a:cs typeface="Inter"/>
              </a:defRPr>
            </a:pPr>
            <a:r>
              <a:rPr sz="4800" b="1">
                <a:solidFill>
                  <a:srgbClr val="FF7949"/>
                </a:solidFill>
                <a:latin typeface="Inter"/>
                <a:ea typeface="Inter"/>
                <a:cs typeface="Inter"/>
              </a:rPr>
              <a:t>with a memory</a:t>
            </a:r>
          </a:p>
        </p:txBody>
      </p:sp>
      <p:sp>
        <p:nvSpPr>
          <p:cNvPr id="4" name="">
            <a:extLst xmlns:a="http://schemas.openxmlformats.org/drawingml/2006/main">
              <a:ext uri="{FF2B5EF4-FFF2-40B4-BE49-F238E27FC236}">
                <a16:creationId xmlns:a16="http://schemas.microsoft.com/office/drawing/2014/main" id="{AD5819F8-E2D4-451E-B55D-992B9B24E455}"/>
              </a:ext>
            </a:extLst>
          </p:cNvPr>
          <p:cNvSpPr>
            <a:spLocks xmlns:a="http://schemas.openxmlformats.org/drawingml/2006/main" noGrp="1"/>
          </p:cNvSpPr>
          <p:nvPr/>
        </p:nvSpPr>
        <p:spPr>
          <a:xfrm xmlns:a="http://schemas.openxmlformats.org/drawingml/2006/main">
            <a:off x="704850" y="471487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6F3EC"/>
                </a:solidFill>
                <a:latin typeface="Inter"/>
                <a:ea typeface="Inter"/>
                <a:cs typeface="Inter"/>
              </a:defRPr>
            </a:pPr>
            <a:r>
              <a:rPr sz="2400" b="0">
                <a:solidFill>
                  <a:srgbClr val="F6F3EC"/>
                </a:solidFill>
                <a:latin typeface="Inter"/>
                <a:ea typeface="Inter"/>
                <a:cs typeface="Inter"/>
              </a:rPr>
              <a:t>Observed extent and recent movement</a:t>
            </a:r>
          </a:p>
          <a:p xmlns:a="http://schemas.openxmlformats.org/drawingml/2006/main">
            <a:pPr>
              <a:defRPr sz="2400" b="0">
                <a:solidFill>
                  <a:srgbClr val="F6F3EC"/>
                </a:solidFill>
                <a:latin typeface="Inter"/>
                <a:ea typeface="Inter"/>
                <a:cs typeface="Inter"/>
              </a:defRPr>
            </a:pPr>
            <a:r>
              <a:rPr sz="2400" b="0">
                <a:solidFill>
                  <a:srgbClr val="F6F3EC"/>
                </a:solidFill>
                <a:latin typeface="Inter"/>
                <a:ea typeface="Inter"/>
                <a:cs typeface="Inter"/>
              </a:rPr>
              <a:t>Evidence, uncertainty and last-seen time</a:t>
            </a:r>
          </a:p>
        </p:txBody>
      </p:sp>
    </p:spTree>
    <p:extLst>
      <p:ext uri="{BB962C8B-B14F-4D97-AF65-F5344CB8AC3E}">
        <p14:creationId xmlns:p14="http://schemas.microsoft.com/office/powerpoint/2010/main" val="344798320"/>
      </p:ext>
    </p:extLst>
  </p:cSld>
</p:sld>
</file>

<file path=ppt/slides/slide4.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9FB0BB-F19C-4E88-B247-CE03B7429FAA}"/>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5B9B6"/>
                </a:solidFill>
                <a:latin typeface="Inter"/>
                <a:ea typeface="Inter"/>
                <a:cs typeface="Inter"/>
              </a:defRPr>
            </a:pPr>
            <a:r>
              <a:rPr sz="1500" b="0">
                <a:solidFill>
                  <a:srgbClr val="B5B9B6"/>
                </a:solidFill>
                <a:latin typeface="Inter"/>
                <a:ea typeface="Inter"/>
                <a:cs typeface="Inter"/>
              </a:rPr>
              <a:t>04</a:t>
            </a:r>
          </a:p>
        </p:txBody>
      </p:sp>
      <p:sp>
        <p:nvSpPr>
          <p:cNvPr id="2" name="">
            <a:extLst xmlns:a="http://schemas.openxmlformats.org/drawingml/2006/main">
              <a:ext uri="{FF2B5EF4-FFF2-40B4-BE49-F238E27FC236}">
                <a16:creationId xmlns:a16="http://schemas.microsoft.com/office/drawing/2014/main" id="{66323F08-A6E5-4319-8AA1-1B61D60FABBA}"/>
              </a:ext>
            </a:extLst>
          </p:cNvPr>
          <p:cNvSpPr>
            <a:spLocks xmlns:a="http://schemas.openxmlformats.org/drawingml/2006/main" noGrp="1"/>
          </p:cNvSpPr>
          <p:nvPr/>
        </p:nvSpPr>
        <p:spPr>
          <a:xfrm xmlns:a="http://schemas.openxmlformats.org/drawingml/2006/main">
            <a:off x="666750" y="619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C"/>
                </a:solidFill>
                <a:latin typeface="Inter"/>
                <a:ea typeface="Inter"/>
                <a:cs typeface="Inter"/>
              </a:defRPr>
            </a:pPr>
            <a:r>
              <a:rPr sz="3600" b="1">
                <a:solidFill>
                  <a:srgbClr val="F6F3EC"/>
                </a:solidFill>
                <a:latin typeface="Inter"/>
                <a:ea typeface="Inter"/>
                <a:cs typeface="Inter"/>
              </a:rPr>
              <a:t>The evidence behind the map</a:t>
            </a:r>
          </a:p>
        </p:txBody>
      </p:sp>
      <p:sp>
        <p:nvSpPr>
          <p:cNvPr id="3" name="">
            <a:extLst xmlns:a="http://schemas.openxmlformats.org/drawingml/2006/main">
              <a:ext uri="{FF2B5EF4-FFF2-40B4-BE49-F238E27FC236}">
                <a16:creationId xmlns:a16="http://schemas.microsoft.com/office/drawing/2014/main" id="{5C813194-88A5-4BE0-B9F6-5B936E28A352}"/>
              </a:ext>
            </a:extLst>
          </p:cNvPr>
          <p:cNvSpPr>
            <a:spLocks xmlns:a="http://schemas.openxmlformats.org/drawingml/2006/main" noGrp="1"/>
          </p:cNvSpPr>
          <p:nvPr/>
        </p:nvSpPr>
        <p:spPr>
          <a:xfrm xmlns:a="http://schemas.openxmlformats.org/drawingml/2006/main">
            <a:off x="704850" y="20955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7949"/>
                </a:solidFill>
                <a:latin typeface="Inter"/>
                <a:ea typeface="Inter"/>
                <a:cs typeface="Inter"/>
              </a:defRPr>
            </a:pPr>
            <a:r>
              <a:rPr sz="2400" b="1">
                <a:solidFill>
                  <a:srgbClr val="FF7949"/>
                </a:solidFill>
                <a:latin typeface="Inter"/>
                <a:ea typeface="Inter"/>
                <a:cs typeface="Inter"/>
              </a:rPr>
              <a:t>RGB + infrared</a:t>
            </a:r>
          </a:p>
        </p:txBody>
      </p:sp>
      <p:sp>
        <p:nvSpPr>
          <p:cNvPr id="4" name="">
            <a:extLst xmlns:a="http://schemas.openxmlformats.org/drawingml/2006/main">
              <a:ext uri="{FF2B5EF4-FFF2-40B4-BE49-F238E27FC236}">
                <a16:creationId xmlns:a16="http://schemas.microsoft.com/office/drawing/2014/main" id="{60FEB624-17F8-4CA5-A30D-189E535F67A4}"/>
              </a:ext>
            </a:extLst>
          </p:cNvPr>
          <p:cNvSpPr>
            <a:spLocks xmlns:a="http://schemas.openxmlformats.org/drawingml/2006/main" noGrp="1"/>
          </p:cNvSpPr>
          <p:nvPr/>
        </p:nvSpPr>
        <p:spPr>
          <a:xfrm xmlns:a="http://schemas.openxmlformats.org/drawingml/2006/main">
            <a:off x="5381625" y="209550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3EC"/>
                </a:solidFill>
                <a:latin typeface="Inter"/>
                <a:ea typeface="Inter"/>
                <a:cs typeface="Inter"/>
              </a:defRPr>
            </a:pPr>
            <a:r>
              <a:rPr sz="2175" b="0">
                <a:solidFill>
                  <a:srgbClr val="F6F3EC"/>
                </a:solidFill>
                <a:latin typeface="Inter"/>
                <a:ea typeface="Inter"/>
                <a:cs typeface="Inter"/>
              </a:rPr>
              <a:t>Visible fire evidence and thermal anomalies</a:t>
            </a:r>
          </a:p>
        </p:txBody>
      </p:sp>
      <p:sp>
        <p:nvSpPr>
          <p:cNvPr id="5" name="">
            <a:extLst xmlns:a="http://schemas.openxmlformats.org/drawingml/2006/main">
              <a:ext uri="{FF2B5EF4-FFF2-40B4-BE49-F238E27FC236}">
                <a16:creationId xmlns:a16="http://schemas.microsoft.com/office/drawing/2014/main" id="{7D545B79-00CC-4185-9743-5D10C209840B}"/>
              </a:ext>
            </a:extLst>
          </p:cNvPr>
          <p:cNvSpPr>
            <a:spLocks xmlns:a="http://schemas.openxmlformats.org/drawingml/2006/main" noGrp="1"/>
          </p:cNvSpPr>
          <p:nvPr/>
        </p:nvSpPr>
        <p:spPr>
          <a:xfrm xmlns:a="http://schemas.openxmlformats.org/drawingml/2006/main">
            <a:off x="704850" y="31908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7949"/>
                </a:solidFill>
                <a:latin typeface="Inter"/>
                <a:ea typeface="Inter"/>
                <a:cs typeface="Inter"/>
              </a:defRPr>
            </a:pPr>
            <a:r>
              <a:rPr sz="2400" b="1">
                <a:solidFill>
                  <a:srgbClr val="FF7949"/>
                </a:solidFill>
                <a:latin typeface="Inter"/>
                <a:ea typeface="Inter"/>
                <a:cs typeface="Inter"/>
              </a:rPr>
              <a:t>Position + camera pose</a:t>
            </a:r>
          </a:p>
        </p:txBody>
      </p:sp>
      <p:sp>
        <p:nvSpPr>
          <p:cNvPr id="6" name="">
            <a:extLst xmlns:a="http://schemas.openxmlformats.org/drawingml/2006/main">
              <a:ext uri="{FF2B5EF4-FFF2-40B4-BE49-F238E27FC236}">
                <a16:creationId xmlns:a16="http://schemas.microsoft.com/office/drawing/2014/main" id="{D909D2F5-1E04-4C36-9340-B68356D916E4}"/>
              </a:ext>
            </a:extLst>
          </p:cNvPr>
          <p:cNvSpPr>
            <a:spLocks xmlns:a="http://schemas.openxmlformats.org/drawingml/2006/main" noGrp="1"/>
          </p:cNvSpPr>
          <p:nvPr/>
        </p:nvSpPr>
        <p:spPr>
          <a:xfrm xmlns:a="http://schemas.openxmlformats.org/drawingml/2006/main">
            <a:off x="5381625" y="3190875"/>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3EC"/>
                </a:solidFill>
                <a:latin typeface="Inter"/>
                <a:ea typeface="Inter"/>
                <a:cs typeface="Inter"/>
              </a:defRPr>
            </a:pPr>
            <a:r>
              <a:rPr sz="2175" b="0">
                <a:solidFill>
                  <a:srgbClr val="F6F3EC"/>
                </a:solidFill>
                <a:latin typeface="Inter"/>
                <a:ea typeface="Inter"/>
                <a:cs typeface="Inter"/>
              </a:rPr>
              <a:t>Ground location, with calibration and terrain</a:t>
            </a:r>
          </a:p>
        </p:txBody>
      </p:sp>
      <p:sp>
        <p:nvSpPr>
          <p:cNvPr id="7" name="">
            <a:extLst xmlns:a="http://schemas.openxmlformats.org/drawingml/2006/main">
              <a:ext uri="{FF2B5EF4-FFF2-40B4-BE49-F238E27FC236}">
                <a16:creationId xmlns:a16="http://schemas.microsoft.com/office/drawing/2014/main" id="{816C2736-5361-42B1-A6AF-7BC0AD73AA1E}"/>
              </a:ext>
            </a:extLst>
          </p:cNvPr>
          <p:cNvSpPr>
            <a:spLocks xmlns:a="http://schemas.openxmlformats.org/drawingml/2006/main" noGrp="1"/>
          </p:cNvSpPr>
          <p:nvPr/>
        </p:nvSpPr>
        <p:spPr>
          <a:xfrm xmlns:a="http://schemas.openxmlformats.org/drawingml/2006/main">
            <a:off x="704850" y="4286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7949"/>
                </a:solidFill>
                <a:latin typeface="Inter"/>
                <a:ea typeface="Inter"/>
                <a:cs typeface="Inter"/>
              </a:defRPr>
            </a:pPr>
            <a:r>
              <a:rPr sz="2400" b="1">
                <a:solidFill>
                  <a:srgbClr val="FF7949"/>
                </a:solidFill>
                <a:latin typeface="Inter"/>
                <a:ea typeface="Inter"/>
                <a:cs typeface="Inter"/>
              </a:rPr>
              <a:t>Weather + temperature</a:t>
            </a:r>
          </a:p>
        </p:txBody>
      </p:sp>
      <p:sp>
        <p:nvSpPr>
          <p:cNvPr id="8" name="">
            <a:extLst xmlns:a="http://schemas.openxmlformats.org/drawingml/2006/main">
              <a:ext uri="{FF2B5EF4-FFF2-40B4-BE49-F238E27FC236}">
                <a16:creationId xmlns:a16="http://schemas.microsoft.com/office/drawing/2014/main" id="{C2170AD9-341F-4DEC-8308-407D042F2EC6}"/>
              </a:ext>
            </a:extLst>
          </p:cNvPr>
          <p:cNvSpPr>
            <a:spLocks xmlns:a="http://schemas.openxmlformats.org/drawingml/2006/main" noGrp="1"/>
          </p:cNvSpPr>
          <p:nvPr/>
        </p:nvSpPr>
        <p:spPr>
          <a:xfrm xmlns:a="http://schemas.openxmlformats.org/drawingml/2006/main">
            <a:off x="5381625" y="428625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3EC"/>
                </a:solidFill>
                <a:latin typeface="Inter"/>
                <a:ea typeface="Inter"/>
                <a:cs typeface="Inter"/>
              </a:defRPr>
            </a:pPr>
            <a:r>
              <a:rPr sz="2175" b="0">
                <a:solidFill>
                  <a:srgbClr val="F6F3EC"/>
                </a:solidFill>
                <a:latin typeface="Inter"/>
                <a:ea typeface="Inter"/>
                <a:cs typeface="Inter"/>
              </a:rPr>
              <a:t>Supporting context with timestamps</a:t>
            </a:r>
          </a:p>
        </p:txBody>
      </p:sp>
      <p:sp>
        <p:nvSpPr>
          <p:cNvPr id="9" name="">
            <a:extLst xmlns:a="http://schemas.openxmlformats.org/drawingml/2006/main">
              <a:ext uri="{FF2B5EF4-FFF2-40B4-BE49-F238E27FC236}">
                <a16:creationId xmlns:a16="http://schemas.microsoft.com/office/drawing/2014/main" id="{CE8C4A28-64FD-4F2F-B8B5-A43761A1BC4B}"/>
              </a:ext>
            </a:extLst>
          </p:cNvPr>
          <p:cNvSpPr>
            <a:spLocks xmlns:a="http://schemas.openxmlformats.org/drawingml/2006/main" noGrp="1"/>
          </p:cNvSpPr>
          <p:nvPr/>
        </p:nvSpPr>
        <p:spPr>
          <a:xfrm xmlns:a="http://schemas.openxmlformats.org/drawingml/2006/main">
            <a:off x="704850" y="58102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5B9B6"/>
                </a:solidFill>
                <a:latin typeface="Inter"/>
                <a:ea typeface="Inter"/>
                <a:cs typeface="Inter"/>
              </a:defRPr>
            </a:pPr>
            <a:r>
              <a:rPr sz="1575" b="0">
                <a:solidFill>
                  <a:srgbClr val="B5B9B6"/>
                </a:solidFill>
                <a:latin typeface="Inter"/>
                <a:ea typeface="Inter"/>
                <a:cs typeface="Inter"/>
              </a:rPr>
              <a:t>Proposed sensor inputs. Hardware and data availability remain open.</a:t>
            </a:r>
          </a:p>
        </p:txBody>
      </p:sp>
    </p:spTree>
    <p:extLst>
      <p:ext uri="{BB962C8B-B14F-4D97-AF65-F5344CB8AC3E}">
        <p14:creationId xmlns:p14="http://schemas.microsoft.com/office/powerpoint/2010/main" val="1632822304"/>
      </p:ext>
    </p:extLst>
  </p:cSld>
</p:sld>
</file>

<file path=ppt/slides/slide5.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EEC9955-773C-469F-8DA5-B24BE001B462}"/>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5B9B6"/>
                </a:solidFill>
                <a:latin typeface="Inter"/>
                <a:ea typeface="Inter"/>
                <a:cs typeface="Inter"/>
              </a:defRPr>
            </a:pPr>
            <a:r>
              <a:rPr sz="1500" b="0">
                <a:solidFill>
                  <a:srgbClr val="B5B9B6"/>
                </a:solidFill>
                <a:latin typeface="Inter"/>
                <a:ea typeface="Inter"/>
                <a:cs typeface="Inter"/>
              </a:rPr>
              <a:t>05</a:t>
            </a:r>
          </a:p>
        </p:txBody>
      </p:sp>
      <p:sp>
        <p:nvSpPr>
          <p:cNvPr id="2" name="">
            <a:extLst xmlns:a="http://schemas.openxmlformats.org/drawingml/2006/main">
              <a:ext uri="{FF2B5EF4-FFF2-40B4-BE49-F238E27FC236}">
                <a16:creationId xmlns:a16="http://schemas.microsoft.com/office/drawing/2014/main" id="{DB6DFD99-99BF-45AD-B94E-6AD3871670B5}"/>
              </a:ext>
            </a:extLst>
          </p:cNvPr>
          <p:cNvSpPr>
            <a:spLocks xmlns:a="http://schemas.openxmlformats.org/drawingml/2006/main" noGrp="1"/>
          </p:cNvSpPr>
          <p:nvPr/>
        </p:nvSpPr>
        <p:spPr>
          <a:xfrm xmlns:a="http://schemas.openxmlformats.org/drawingml/2006/main">
            <a:off x="666750" y="619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C"/>
                </a:solidFill>
                <a:latin typeface="Inter"/>
                <a:ea typeface="Inter"/>
                <a:cs typeface="Inter"/>
              </a:defRPr>
            </a:pPr>
            <a:r>
              <a:rPr sz="3600" b="1">
                <a:solidFill>
                  <a:srgbClr val="F6F3EC"/>
                </a:solidFill>
                <a:latin typeface="Inter"/>
                <a:ea typeface="Inter"/>
                <a:cs typeface="Inter"/>
              </a:rPr>
              <a:t>The processing workflow</a:t>
            </a:r>
          </a:p>
        </p:txBody>
      </p:sp>
      <p:sp>
        <p:nvSpPr>
          <p:cNvPr id="3" name="">
            <a:extLst xmlns:a="http://schemas.openxmlformats.org/drawingml/2006/main">
              <a:ext uri="{FF2B5EF4-FFF2-40B4-BE49-F238E27FC236}">
                <a16:creationId xmlns:a16="http://schemas.microsoft.com/office/drawing/2014/main" id="{D5A950D6-566A-4015-9217-57EBBEEC9ED7}"/>
              </a:ext>
            </a:extLst>
          </p:cNvPr>
          <p:cNvSpPr>
            <a:spLocks xmlns:a="http://schemas.openxmlformats.org/drawingml/2006/main" noGrp="1"/>
          </p:cNvSpPr>
          <p:nvPr/>
        </p:nvSpPr>
        <p:spPr>
          <a:xfrm xmlns:a="http://schemas.openxmlformats.org/drawingml/2006/main">
            <a:off x="704850" y="20955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7949"/>
                </a:solidFill>
                <a:latin typeface="Inter"/>
                <a:ea typeface="Inter"/>
                <a:cs typeface="Inter"/>
              </a:defRPr>
            </a:pPr>
            <a:r>
              <a:rPr sz="2400" b="1">
                <a:solidFill>
                  <a:srgbClr val="FF7949"/>
                </a:solidFill>
                <a:latin typeface="Inter"/>
                <a:ea typeface="Inter"/>
                <a:cs typeface="Inter"/>
              </a:rPr>
              <a:t>01  Synchronize</a:t>
            </a:r>
          </a:p>
        </p:txBody>
      </p:sp>
      <p:sp>
        <p:nvSpPr>
          <p:cNvPr id="4" name="">
            <a:extLst xmlns:a="http://schemas.openxmlformats.org/drawingml/2006/main">
              <a:ext uri="{FF2B5EF4-FFF2-40B4-BE49-F238E27FC236}">
                <a16:creationId xmlns:a16="http://schemas.microsoft.com/office/drawing/2014/main" id="{A724D22B-C552-4581-A410-24F66CA59F06}"/>
              </a:ext>
            </a:extLst>
          </p:cNvPr>
          <p:cNvSpPr>
            <a:spLocks xmlns:a="http://schemas.openxmlformats.org/drawingml/2006/main" noGrp="1"/>
          </p:cNvSpPr>
          <p:nvPr/>
        </p:nvSpPr>
        <p:spPr>
          <a:xfrm xmlns:a="http://schemas.openxmlformats.org/drawingml/2006/main">
            <a:off x="5381625" y="209550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3EC"/>
                </a:solidFill>
                <a:latin typeface="Inter"/>
                <a:ea typeface="Inter"/>
                <a:cs typeface="Inter"/>
              </a:defRPr>
            </a:pPr>
            <a:r>
              <a:rPr sz="2175" b="0">
                <a:solidFill>
                  <a:srgbClr val="F6F3EC"/>
                </a:solidFill>
                <a:latin typeface="Inter"/>
                <a:ea typeface="Inter"/>
                <a:cs typeface="Inter"/>
              </a:rPr>
              <a:t>Match images with capture-time telemetry</a:t>
            </a:r>
          </a:p>
        </p:txBody>
      </p:sp>
      <p:sp>
        <p:nvSpPr>
          <p:cNvPr id="5" name="">
            <a:extLst xmlns:a="http://schemas.openxmlformats.org/drawingml/2006/main">
              <a:ext uri="{FF2B5EF4-FFF2-40B4-BE49-F238E27FC236}">
                <a16:creationId xmlns:a16="http://schemas.microsoft.com/office/drawing/2014/main" id="{BF55ECC6-B419-4793-A9C3-268E1906FCEF}"/>
              </a:ext>
            </a:extLst>
          </p:cNvPr>
          <p:cNvSpPr>
            <a:spLocks xmlns:a="http://schemas.openxmlformats.org/drawingml/2006/main" noGrp="1"/>
          </p:cNvSpPr>
          <p:nvPr/>
        </p:nvSpPr>
        <p:spPr>
          <a:xfrm xmlns:a="http://schemas.openxmlformats.org/drawingml/2006/main">
            <a:off x="704850" y="31908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7949"/>
                </a:solidFill>
                <a:latin typeface="Inter"/>
                <a:ea typeface="Inter"/>
                <a:cs typeface="Inter"/>
              </a:defRPr>
            </a:pPr>
            <a:r>
              <a:rPr sz="2400" b="1">
                <a:solidFill>
                  <a:srgbClr val="FF7949"/>
                </a:solidFill>
                <a:latin typeface="Inter"/>
                <a:ea typeface="Inter"/>
                <a:cs typeface="Inter"/>
              </a:rPr>
              <a:t>02  Detect and locate</a:t>
            </a:r>
          </a:p>
        </p:txBody>
      </p:sp>
      <p:sp>
        <p:nvSpPr>
          <p:cNvPr id="6" name="">
            <a:extLst xmlns:a="http://schemas.openxmlformats.org/drawingml/2006/main">
              <a:ext uri="{FF2B5EF4-FFF2-40B4-BE49-F238E27FC236}">
                <a16:creationId xmlns:a16="http://schemas.microsoft.com/office/drawing/2014/main" id="{B7CC795E-6E18-4B20-A994-84D28F2AED43}"/>
              </a:ext>
            </a:extLst>
          </p:cNvPr>
          <p:cNvSpPr>
            <a:spLocks xmlns:a="http://schemas.openxmlformats.org/drawingml/2006/main" noGrp="1"/>
          </p:cNvSpPr>
          <p:nvPr/>
        </p:nvSpPr>
        <p:spPr>
          <a:xfrm xmlns:a="http://schemas.openxmlformats.org/drawingml/2006/main">
            <a:off x="5381625" y="3190875"/>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3EC"/>
                </a:solidFill>
                <a:latin typeface="Inter"/>
                <a:ea typeface="Inter"/>
                <a:cs typeface="Inter"/>
              </a:defRPr>
            </a:pPr>
            <a:r>
              <a:rPr sz="2175" b="0">
                <a:solidFill>
                  <a:srgbClr val="F6F3EC"/>
                </a:solidFill>
                <a:latin typeface="Inter"/>
                <a:ea typeface="Inter"/>
                <a:cs typeface="Inter"/>
              </a:rPr>
              <a:t>Segment fire evidence and map supported detections</a:t>
            </a:r>
          </a:p>
        </p:txBody>
      </p:sp>
      <p:sp>
        <p:nvSpPr>
          <p:cNvPr id="7" name="">
            <a:extLst xmlns:a="http://schemas.openxmlformats.org/drawingml/2006/main">
              <a:ext uri="{FF2B5EF4-FFF2-40B4-BE49-F238E27FC236}">
                <a16:creationId xmlns:a16="http://schemas.microsoft.com/office/drawing/2014/main" id="{EE0BA116-26FE-4F41-9720-8912F4CCE564}"/>
              </a:ext>
            </a:extLst>
          </p:cNvPr>
          <p:cNvSpPr>
            <a:spLocks xmlns:a="http://schemas.openxmlformats.org/drawingml/2006/main" noGrp="1"/>
          </p:cNvSpPr>
          <p:nvPr/>
        </p:nvSpPr>
        <p:spPr>
          <a:xfrm xmlns:a="http://schemas.openxmlformats.org/drawingml/2006/main">
            <a:off x="704850" y="4286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7949"/>
                </a:solidFill>
                <a:latin typeface="Inter"/>
                <a:ea typeface="Inter"/>
                <a:cs typeface="Inter"/>
              </a:defRPr>
            </a:pPr>
            <a:r>
              <a:rPr sz="2400" b="1">
                <a:solidFill>
                  <a:srgbClr val="FF7949"/>
                </a:solidFill>
                <a:latin typeface="Inter"/>
                <a:ea typeface="Inter"/>
                <a:cs typeface="Inter"/>
              </a:rPr>
              <a:t>03  Compare and publish</a:t>
            </a:r>
          </a:p>
        </p:txBody>
      </p:sp>
      <p:sp>
        <p:nvSpPr>
          <p:cNvPr id="8" name="">
            <a:extLst xmlns:a="http://schemas.openxmlformats.org/drawingml/2006/main">
              <a:ext uri="{FF2B5EF4-FFF2-40B4-BE49-F238E27FC236}">
                <a16:creationId xmlns:a16="http://schemas.microsoft.com/office/drawing/2014/main" id="{DA6A956E-7295-44B6-93AE-26F8F98A3421}"/>
              </a:ext>
            </a:extLst>
          </p:cNvPr>
          <p:cNvSpPr>
            <a:spLocks xmlns:a="http://schemas.openxmlformats.org/drawingml/2006/main" noGrp="1"/>
          </p:cNvSpPr>
          <p:nvPr/>
        </p:nvSpPr>
        <p:spPr>
          <a:xfrm xmlns:a="http://schemas.openxmlformats.org/drawingml/2006/main">
            <a:off x="5381625" y="428625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3EC"/>
                </a:solidFill>
                <a:latin typeface="Inter"/>
                <a:ea typeface="Inter"/>
                <a:cs typeface="Inter"/>
              </a:defRPr>
            </a:pPr>
            <a:r>
              <a:rPr sz="2175" b="0">
                <a:solidFill>
                  <a:srgbClr val="F6F3EC"/>
                </a:solidFill>
                <a:latin typeface="Inter"/>
                <a:ea typeface="Inter"/>
                <a:cs typeface="Inter"/>
              </a:rPr>
              <a:t>Track observed change across comparable coverage</a:t>
            </a:r>
          </a:p>
        </p:txBody>
      </p:sp>
      <p:sp>
        <p:nvSpPr>
          <p:cNvPr id="9" name="">
            <a:extLst xmlns:a="http://schemas.openxmlformats.org/drawingml/2006/main">
              <a:ext uri="{FF2B5EF4-FFF2-40B4-BE49-F238E27FC236}">
                <a16:creationId xmlns:a16="http://schemas.microsoft.com/office/drawing/2014/main" id="{2982BD8C-A1FA-4F47-9115-05185EB3AD3E}"/>
              </a:ext>
            </a:extLst>
          </p:cNvPr>
          <p:cNvSpPr>
            <a:spLocks xmlns:a="http://schemas.openxmlformats.org/drawingml/2006/main" noGrp="1"/>
          </p:cNvSpPr>
          <p:nvPr/>
        </p:nvSpPr>
        <p:spPr>
          <a:xfrm xmlns:a="http://schemas.openxmlformats.org/drawingml/2006/main">
            <a:off x="704850" y="58102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5B9B6"/>
                </a:solidFill>
                <a:latin typeface="Inter"/>
                <a:ea typeface="Inter"/>
                <a:cs typeface="Inter"/>
              </a:defRPr>
            </a:pPr>
            <a:r>
              <a:rPr sz="1575" b="0">
                <a:solidFill>
                  <a:srgbClr val="B5B9B6"/>
                </a:solidFill>
                <a:latin typeface="Inter"/>
                <a:ea typeface="Inter"/>
                <a:cs typeface="Inter"/>
              </a:rPr>
              <a:t>Computer vision measures the scene. An optional LLM summarizes verified outputs.</a:t>
            </a:r>
          </a:p>
        </p:txBody>
      </p:sp>
    </p:spTree>
    <p:extLst>
      <p:ext uri="{BB962C8B-B14F-4D97-AF65-F5344CB8AC3E}">
        <p14:creationId xmlns:p14="http://schemas.microsoft.com/office/powerpoint/2010/main" val="427294937"/>
      </p:ext>
    </p:extLst>
  </p:cSld>
</p:sld>
</file>

<file path=ppt/slides/slide6.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66DE069-4CBB-4FA6-858A-E5C2864C7B02}"/>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5B9B6"/>
                </a:solidFill>
                <a:latin typeface="Inter"/>
                <a:ea typeface="Inter"/>
                <a:cs typeface="Inter"/>
              </a:defRPr>
            </a:pPr>
            <a:r>
              <a:rPr sz="1500" b="0">
                <a:solidFill>
                  <a:srgbClr val="B5B9B6"/>
                </a:solidFill>
                <a:latin typeface="Inter"/>
                <a:ea typeface="Inter"/>
                <a:cs typeface="Inter"/>
              </a:rPr>
              <a:t>06</a:t>
            </a:r>
          </a:p>
        </p:txBody>
      </p:sp>
      <p:sp>
        <p:nvSpPr>
          <p:cNvPr id="2" name="">
            <a:extLst xmlns:a="http://schemas.openxmlformats.org/drawingml/2006/main">
              <a:ext uri="{FF2B5EF4-FFF2-40B4-BE49-F238E27FC236}">
                <a16:creationId xmlns:a16="http://schemas.microsoft.com/office/drawing/2014/main" id="{CEBC5A98-BE56-4EDB-81B3-FE3DF7239E4E}"/>
              </a:ext>
            </a:extLst>
          </p:cNvPr>
          <p:cNvSpPr>
            <a:spLocks xmlns:a="http://schemas.openxmlformats.org/drawingml/2006/main" noGrp="1"/>
          </p:cNvSpPr>
          <p:nvPr/>
        </p:nvSpPr>
        <p:spPr>
          <a:xfrm xmlns:a="http://schemas.openxmlformats.org/drawingml/2006/main">
            <a:off x="666750" y="619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C"/>
                </a:solidFill>
                <a:latin typeface="Inter"/>
                <a:ea typeface="Inter"/>
                <a:cs typeface="Inter"/>
              </a:defRPr>
            </a:pPr>
            <a:r>
              <a:rPr sz="3600" b="1">
                <a:solidFill>
                  <a:srgbClr val="F6F3EC"/>
                </a:solidFill>
                <a:latin typeface="Inter"/>
                <a:ea typeface="Inter"/>
                <a:cs typeface="Inter"/>
              </a:rPr>
              <a:t>An illustrative observation sequence</a:t>
            </a:r>
          </a:p>
        </p:txBody>
      </p:sp>
      <p:sp>
        <p:nvSpPr>
          <p:cNvPr id="3" name="">
            <a:extLst xmlns:a="http://schemas.openxmlformats.org/drawingml/2006/main">
              <a:ext uri="{FF2B5EF4-FFF2-40B4-BE49-F238E27FC236}">
                <a16:creationId xmlns:a16="http://schemas.microsoft.com/office/drawing/2014/main" id="{A2D15B1F-666D-43A4-92DF-3C44BEDBE7B1}"/>
              </a:ext>
            </a:extLst>
          </p:cNvPr>
          <p:cNvSpPr>
            <a:spLocks xmlns:a="http://schemas.openxmlformats.org/drawingml/2006/main" noGrp="1"/>
          </p:cNvSpPr>
          <p:nvPr/>
        </p:nvSpPr>
        <p:spPr>
          <a:xfrm xmlns:a="http://schemas.openxmlformats.org/drawingml/2006/main">
            <a:off x="704850" y="20955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7949"/>
                </a:solidFill>
                <a:latin typeface="Inter"/>
                <a:ea typeface="Inter"/>
                <a:cs typeface="Inter"/>
              </a:defRPr>
            </a:pPr>
            <a:r>
              <a:rPr sz="2400" b="1">
                <a:solidFill>
                  <a:srgbClr val="FF7949"/>
                </a:solidFill>
                <a:latin typeface="Inter"/>
                <a:ea typeface="Inter"/>
                <a:cs typeface="Inter"/>
              </a:rPr>
              <a:t>First pass</a:t>
            </a:r>
          </a:p>
        </p:txBody>
      </p:sp>
      <p:sp>
        <p:nvSpPr>
          <p:cNvPr id="4" name="">
            <a:extLst xmlns:a="http://schemas.openxmlformats.org/drawingml/2006/main">
              <a:ext uri="{FF2B5EF4-FFF2-40B4-BE49-F238E27FC236}">
                <a16:creationId xmlns:a16="http://schemas.microsoft.com/office/drawing/2014/main" id="{93D7DC13-3A41-4068-B7C5-2B814C3E580E}"/>
              </a:ext>
            </a:extLst>
          </p:cNvPr>
          <p:cNvSpPr>
            <a:spLocks xmlns:a="http://schemas.openxmlformats.org/drawingml/2006/main" noGrp="1"/>
          </p:cNvSpPr>
          <p:nvPr/>
        </p:nvSpPr>
        <p:spPr>
          <a:xfrm xmlns:a="http://schemas.openxmlformats.org/drawingml/2006/main">
            <a:off x="5381625" y="209550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3EC"/>
                </a:solidFill>
                <a:latin typeface="Inter"/>
                <a:ea typeface="Inter"/>
                <a:cs typeface="Inter"/>
              </a:defRPr>
            </a:pPr>
            <a:r>
              <a:rPr sz="2175" b="0">
                <a:solidFill>
                  <a:srgbClr val="F6F3EC"/>
                </a:solidFill>
                <a:latin typeface="Inter"/>
                <a:ea typeface="Inter"/>
                <a:cs typeface="Inter"/>
              </a:rPr>
              <a:t>Record a visible front and its ground location</a:t>
            </a:r>
          </a:p>
        </p:txBody>
      </p:sp>
      <p:sp>
        <p:nvSpPr>
          <p:cNvPr id="5" name="">
            <a:extLst xmlns:a="http://schemas.openxmlformats.org/drawingml/2006/main">
              <a:ext uri="{FF2B5EF4-FFF2-40B4-BE49-F238E27FC236}">
                <a16:creationId xmlns:a16="http://schemas.microsoft.com/office/drawing/2014/main" id="{1FD5FA61-946C-4AB3-95B9-72A754BAE125}"/>
              </a:ext>
            </a:extLst>
          </p:cNvPr>
          <p:cNvSpPr>
            <a:spLocks xmlns:a="http://schemas.openxmlformats.org/drawingml/2006/main" noGrp="1"/>
          </p:cNvSpPr>
          <p:nvPr/>
        </p:nvSpPr>
        <p:spPr>
          <a:xfrm xmlns:a="http://schemas.openxmlformats.org/drawingml/2006/main">
            <a:off x="704850" y="31908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7949"/>
                </a:solidFill>
                <a:latin typeface="Inter"/>
                <a:ea typeface="Inter"/>
                <a:cs typeface="Inter"/>
              </a:defRPr>
            </a:pPr>
            <a:r>
              <a:rPr sz="2400" b="1">
                <a:solidFill>
                  <a:srgbClr val="FF7949"/>
                </a:solidFill>
                <a:latin typeface="Inter"/>
                <a:ea typeface="Inter"/>
                <a:cs typeface="Inter"/>
              </a:rPr>
              <a:t>Return pass</a:t>
            </a:r>
          </a:p>
        </p:txBody>
      </p:sp>
      <p:sp>
        <p:nvSpPr>
          <p:cNvPr id="6" name="">
            <a:extLst xmlns:a="http://schemas.openxmlformats.org/drawingml/2006/main">
              <a:ext uri="{FF2B5EF4-FFF2-40B4-BE49-F238E27FC236}">
                <a16:creationId xmlns:a16="http://schemas.microsoft.com/office/drawing/2014/main" id="{0F7B4852-6B8D-422E-B993-F7C7E43FAF31}"/>
              </a:ext>
            </a:extLst>
          </p:cNvPr>
          <p:cNvSpPr>
            <a:spLocks xmlns:a="http://schemas.openxmlformats.org/drawingml/2006/main" noGrp="1"/>
          </p:cNvSpPr>
          <p:nvPr/>
        </p:nvSpPr>
        <p:spPr>
          <a:xfrm xmlns:a="http://schemas.openxmlformats.org/drawingml/2006/main">
            <a:off x="5381625" y="3190875"/>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3EC"/>
                </a:solidFill>
                <a:latin typeface="Inter"/>
                <a:ea typeface="Inter"/>
                <a:cs typeface="Inter"/>
              </a:defRPr>
            </a:pPr>
            <a:r>
              <a:rPr sz="2175" b="0">
                <a:solidFill>
                  <a:srgbClr val="F6F3EC"/>
                </a:solidFill>
                <a:latin typeface="Inter"/>
                <a:ea typeface="Inter"/>
                <a:cs typeface="Inter"/>
              </a:rPr>
              <a:t>Align a fresh observation of the same terrain</a:t>
            </a:r>
          </a:p>
        </p:txBody>
      </p:sp>
      <p:sp>
        <p:nvSpPr>
          <p:cNvPr id="7" name="">
            <a:extLst xmlns:a="http://schemas.openxmlformats.org/drawingml/2006/main">
              <a:ext uri="{FF2B5EF4-FFF2-40B4-BE49-F238E27FC236}">
                <a16:creationId xmlns:a16="http://schemas.microsoft.com/office/drawing/2014/main" id="{1061A4B9-569E-48DD-A63D-E3BA811E6BDA}"/>
              </a:ext>
            </a:extLst>
          </p:cNvPr>
          <p:cNvSpPr>
            <a:spLocks xmlns:a="http://schemas.openxmlformats.org/drawingml/2006/main" noGrp="1"/>
          </p:cNvSpPr>
          <p:nvPr/>
        </p:nvSpPr>
        <p:spPr>
          <a:xfrm xmlns:a="http://schemas.openxmlformats.org/drawingml/2006/main">
            <a:off x="704850" y="4286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7949"/>
                </a:solidFill>
                <a:latin typeface="Inter"/>
                <a:ea typeface="Inter"/>
                <a:cs typeface="Inter"/>
              </a:defRPr>
            </a:pPr>
            <a:r>
              <a:rPr sz="2400" b="1">
                <a:solidFill>
                  <a:srgbClr val="FF7949"/>
                </a:solidFill>
                <a:latin typeface="Inter"/>
                <a:ea typeface="Inter"/>
                <a:cs typeface="Inter"/>
              </a:rPr>
              <a:t>Review</a:t>
            </a:r>
          </a:p>
        </p:txBody>
      </p:sp>
      <p:sp>
        <p:nvSpPr>
          <p:cNvPr id="8" name="">
            <a:extLst xmlns:a="http://schemas.openxmlformats.org/drawingml/2006/main">
              <a:ext uri="{FF2B5EF4-FFF2-40B4-BE49-F238E27FC236}">
                <a16:creationId xmlns:a16="http://schemas.microsoft.com/office/drawing/2014/main" id="{8750C834-B678-4CF3-A2D3-353F3BFB7F27}"/>
              </a:ext>
            </a:extLst>
          </p:cNvPr>
          <p:cNvSpPr>
            <a:spLocks xmlns:a="http://schemas.openxmlformats.org/drawingml/2006/main" noGrp="1"/>
          </p:cNvSpPr>
          <p:nvPr/>
        </p:nvSpPr>
        <p:spPr>
          <a:xfrm xmlns:a="http://schemas.openxmlformats.org/drawingml/2006/main">
            <a:off x="5381625" y="428625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3EC"/>
                </a:solidFill>
                <a:latin typeface="Inter"/>
                <a:ea typeface="Inter"/>
                <a:cs typeface="Inter"/>
              </a:defRPr>
            </a:pPr>
            <a:r>
              <a:rPr sz="2175" b="0">
                <a:solidFill>
                  <a:srgbClr val="F6F3EC"/>
                </a:solidFill>
                <a:latin typeface="Inter"/>
                <a:ea typeface="Inter"/>
                <a:cs typeface="Inter"/>
              </a:rPr>
              <a:t>Show supported movement and areas still unseen</a:t>
            </a:r>
          </a:p>
        </p:txBody>
      </p:sp>
      <p:sp>
        <p:nvSpPr>
          <p:cNvPr id="9" name="">
            <a:extLst xmlns:a="http://schemas.openxmlformats.org/drawingml/2006/main">
              <a:ext uri="{FF2B5EF4-FFF2-40B4-BE49-F238E27FC236}">
                <a16:creationId xmlns:a16="http://schemas.microsoft.com/office/drawing/2014/main" id="{688E9E10-9864-453E-8AC3-3D36E5FCFF07}"/>
              </a:ext>
            </a:extLst>
          </p:cNvPr>
          <p:cNvSpPr>
            <a:spLocks xmlns:a="http://schemas.openxmlformats.org/drawingml/2006/main" noGrp="1"/>
          </p:cNvSpPr>
          <p:nvPr/>
        </p:nvSpPr>
        <p:spPr>
          <a:xfrm xmlns:a="http://schemas.openxmlformats.org/drawingml/2006/main">
            <a:off x="704850" y="58102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5B9B6"/>
                </a:solidFill>
                <a:latin typeface="Inter"/>
                <a:ea typeface="Inter"/>
                <a:cs typeface="Inter"/>
              </a:defRPr>
            </a:pPr>
            <a:r>
              <a:rPr sz="1575" b="0">
                <a:solidFill>
                  <a:srgbClr val="B5B9B6"/>
                </a:solidFill>
                <a:latin typeface="Inter"/>
                <a:ea typeface="Inter"/>
                <a:cs typeface="Inter"/>
              </a:rPr>
              <a:t>Illustrative walkthrough, not a live demo or measured result.</a:t>
            </a:r>
          </a:p>
        </p:txBody>
      </p:sp>
    </p:spTree>
    <p:extLst>
      <p:ext uri="{BB962C8B-B14F-4D97-AF65-F5344CB8AC3E}">
        <p14:creationId xmlns:p14="http://schemas.microsoft.com/office/powerpoint/2010/main" val="48664309"/>
      </p:ext>
    </p:extLst>
  </p:cSld>
</p:sld>
</file>

<file path=ppt/slides/slide7.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37D2B0-D437-4221-ABC6-0D3EACA27786}"/>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5B9B6"/>
                </a:solidFill>
                <a:latin typeface="Inter"/>
                <a:ea typeface="Inter"/>
                <a:cs typeface="Inter"/>
              </a:defRPr>
            </a:pPr>
            <a:r>
              <a:rPr sz="1500" b="0">
                <a:solidFill>
                  <a:srgbClr val="B5B9B6"/>
                </a:solidFill>
                <a:latin typeface="Inter"/>
                <a:ea typeface="Inter"/>
                <a:cs typeface="Inter"/>
              </a:rPr>
              <a:t>07</a:t>
            </a:r>
          </a:p>
        </p:txBody>
      </p:sp>
      <p:sp>
        <p:nvSpPr>
          <p:cNvPr id="2" name="">
            <a:extLst xmlns:a="http://schemas.openxmlformats.org/drawingml/2006/main">
              <a:ext uri="{FF2B5EF4-FFF2-40B4-BE49-F238E27FC236}">
                <a16:creationId xmlns:a16="http://schemas.microsoft.com/office/drawing/2014/main" id="{758F85A2-9ED7-401B-BC5B-5A9482E90CDC}"/>
              </a:ext>
            </a:extLst>
          </p:cNvPr>
          <p:cNvSpPr>
            <a:spLocks xmlns:a="http://schemas.openxmlformats.org/drawingml/2006/main" noGrp="1"/>
          </p:cNvSpPr>
          <p:nvPr/>
        </p:nvSpPr>
        <p:spPr>
          <a:xfrm xmlns:a="http://schemas.openxmlformats.org/drawingml/2006/main">
            <a:off x="666750" y="619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C"/>
                </a:solidFill>
                <a:latin typeface="Inter"/>
                <a:ea typeface="Inter"/>
                <a:cs typeface="Inter"/>
              </a:defRPr>
            </a:pPr>
            <a:r>
              <a:rPr sz="3600" b="1">
                <a:solidFill>
                  <a:srgbClr val="F6F3EC"/>
                </a:solidFill>
                <a:latin typeface="Inter"/>
                <a:ea typeface="Inter"/>
                <a:cs typeface="Inter"/>
              </a:rPr>
              <a:t>Uncertainty is part of the result</a:t>
            </a:r>
          </a:p>
        </p:txBody>
      </p:sp>
      <p:sp>
        <p:nvSpPr>
          <p:cNvPr id="3" name="">
            <a:extLst xmlns:a="http://schemas.openxmlformats.org/drawingml/2006/main">
              <a:ext uri="{FF2B5EF4-FFF2-40B4-BE49-F238E27FC236}">
                <a16:creationId xmlns:a16="http://schemas.microsoft.com/office/drawing/2014/main" id="{2FBC99C8-87A9-451F-A766-99BAE5033F64}"/>
              </a:ext>
            </a:extLst>
          </p:cNvPr>
          <p:cNvSpPr>
            <a:spLocks xmlns:a="http://schemas.openxmlformats.org/drawingml/2006/main" noGrp="1"/>
          </p:cNvSpPr>
          <p:nvPr/>
        </p:nvSpPr>
        <p:spPr>
          <a:xfrm xmlns:a="http://schemas.openxmlformats.org/drawingml/2006/main">
            <a:off x="666750" y="2143125"/>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7949"/>
                </a:solidFill>
                <a:latin typeface="Inter"/>
                <a:ea typeface="Inter"/>
                <a:cs typeface="Inter"/>
              </a:defRPr>
            </a:pPr>
            <a:r>
              <a:rPr sz="4800" b="1">
                <a:solidFill>
                  <a:srgbClr val="FF7949"/>
                </a:solidFill>
                <a:latin typeface="Inter"/>
                <a:ea typeface="Inter"/>
                <a:cs typeface="Inter"/>
              </a:rPr>
              <a:t>“Insufficient evidence”</a:t>
            </a:r>
          </a:p>
          <a:p xmlns:a="http://schemas.openxmlformats.org/drawingml/2006/main">
            <a:pPr>
              <a:defRPr sz="4800" b="1">
                <a:solidFill>
                  <a:srgbClr val="FF7949"/>
                </a:solidFill>
                <a:latin typeface="Inter"/>
                <a:ea typeface="Inter"/>
                <a:cs typeface="Inter"/>
              </a:defRPr>
            </a:pPr>
            <a:r>
              <a:rPr sz="4800" b="1">
                <a:solidFill>
                  <a:srgbClr val="FF7949"/>
                </a:solidFill>
                <a:latin typeface="Inter"/>
                <a:ea typeface="Inter"/>
                <a:cs typeface="Inter"/>
              </a:rPr>
              <a:t>is a useful answer</a:t>
            </a:r>
          </a:p>
        </p:txBody>
      </p:sp>
      <p:sp>
        <p:nvSpPr>
          <p:cNvPr id="4" name="">
            <a:extLst xmlns:a="http://schemas.openxmlformats.org/drawingml/2006/main">
              <a:ext uri="{FF2B5EF4-FFF2-40B4-BE49-F238E27FC236}">
                <a16:creationId xmlns:a16="http://schemas.microsoft.com/office/drawing/2014/main" id="{74AAC46C-2AB0-4AAF-8F71-8290D8E231E7}"/>
              </a:ext>
            </a:extLst>
          </p:cNvPr>
          <p:cNvSpPr>
            <a:spLocks xmlns:a="http://schemas.openxmlformats.org/drawingml/2006/main" noGrp="1"/>
          </p:cNvSpPr>
          <p:nvPr/>
        </p:nvSpPr>
        <p:spPr>
          <a:xfrm xmlns:a="http://schemas.openxmlformats.org/drawingml/2006/main">
            <a:off x="704850" y="471487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6F3EC"/>
                </a:solidFill>
                <a:latin typeface="Inter"/>
                <a:ea typeface="Inter"/>
                <a:cs typeface="Inter"/>
              </a:defRPr>
            </a:pPr>
            <a:r>
              <a:rPr sz="2400" b="0">
                <a:solidFill>
                  <a:srgbClr val="F6F3EC"/>
                </a:solidFill>
                <a:latin typeface="Inter"/>
                <a:ea typeface="Inter"/>
                <a:cs typeface="Inter"/>
              </a:rPr>
              <a:t>Missing coverage is unknown.</a:t>
            </a:r>
          </a:p>
          <a:p xmlns:a="http://schemas.openxmlformats.org/drawingml/2006/main">
            <a:pPr>
              <a:defRPr sz="2400" b="0">
                <a:solidFill>
                  <a:srgbClr val="F6F3EC"/>
                </a:solidFill>
                <a:latin typeface="Inter"/>
                <a:ea typeface="Inter"/>
                <a:cs typeface="Inter"/>
              </a:defRPr>
            </a:pPr>
            <a:r>
              <a:rPr sz="2400" b="0">
                <a:solidFill>
                  <a:srgbClr val="F6F3EC"/>
                </a:solidFill>
                <a:latin typeface="Inter"/>
                <a:ea typeface="Inter"/>
                <a:cs typeface="Inter"/>
              </a:rPr>
              <a:t>Poor geolocation means no ground-speed estimate.</a:t>
            </a:r>
          </a:p>
        </p:txBody>
      </p:sp>
    </p:spTree>
    <p:extLst>
      <p:ext uri="{BB962C8B-B14F-4D97-AF65-F5344CB8AC3E}">
        <p14:creationId xmlns:p14="http://schemas.microsoft.com/office/powerpoint/2010/main" val="1349703319"/>
      </p:ext>
    </p:extLst>
  </p:cSld>
</p:sld>
</file>

<file path=ppt/slides/slide8.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DDF988-1988-40F3-ACBA-F607516903F3}"/>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5B9B6"/>
                </a:solidFill>
                <a:latin typeface="Inter"/>
                <a:ea typeface="Inter"/>
                <a:cs typeface="Inter"/>
              </a:defRPr>
            </a:pPr>
            <a:r>
              <a:rPr sz="1500" b="0">
                <a:solidFill>
                  <a:srgbClr val="B5B9B6"/>
                </a:solidFill>
                <a:latin typeface="Inter"/>
                <a:ea typeface="Inter"/>
                <a:cs typeface="Inter"/>
              </a:rPr>
              <a:t>08</a:t>
            </a:r>
          </a:p>
        </p:txBody>
      </p:sp>
      <p:sp>
        <p:nvSpPr>
          <p:cNvPr id="2" name="">
            <a:extLst xmlns:a="http://schemas.openxmlformats.org/drawingml/2006/main">
              <a:ext uri="{FF2B5EF4-FFF2-40B4-BE49-F238E27FC236}">
                <a16:creationId xmlns:a16="http://schemas.microsoft.com/office/drawing/2014/main" id="{1804DE44-122B-42A8-B76A-E3D5DB720CBD}"/>
              </a:ext>
            </a:extLst>
          </p:cNvPr>
          <p:cNvSpPr>
            <a:spLocks xmlns:a="http://schemas.openxmlformats.org/drawingml/2006/main" noGrp="1"/>
          </p:cNvSpPr>
          <p:nvPr/>
        </p:nvSpPr>
        <p:spPr>
          <a:xfrm xmlns:a="http://schemas.openxmlformats.org/drawingml/2006/main">
            <a:off x="666750" y="619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C"/>
                </a:solidFill>
                <a:latin typeface="Inter"/>
                <a:ea typeface="Inter"/>
                <a:cs typeface="Inter"/>
              </a:defRPr>
            </a:pPr>
            <a:r>
              <a:rPr sz="3600" b="1">
                <a:solidFill>
                  <a:srgbClr val="F6F3EC"/>
                </a:solidFill>
                <a:latin typeface="Inter"/>
                <a:ea typeface="Inter"/>
                <a:cs typeface="Inter"/>
              </a:rPr>
              <a:t>What the first prototype must prove</a:t>
            </a:r>
          </a:p>
        </p:txBody>
      </p:sp>
      <p:sp>
        <p:nvSpPr>
          <p:cNvPr id="3" name="">
            <a:extLst xmlns:a="http://schemas.openxmlformats.org/drawingml/2006/main">
              <a:ext uri="{FF2B5EF4-FFF2-40B4-BE49-F238E27FC236}">
                <a16:creationId xmlns:a16="http://schemas.microsoft.com/office/drawing/2014/main" id="{C568FCC6-8DCD-420C-8CA0-5F00E16F817A}"/>
              </a:ext>
            </a:extLst>
          </p:cNvPr>
          <p:cNvSpPr>
            <a:spLocks xmlns:a="http://schemas.openxmlformats.org/drawingml/2006/main" noGrp="1"/>
          </p:cNvSpPr>
          <p:nvPr/>
        </p:nvSpPr>
        <p:spPr>
          <a:xfrm xmlns:a="http://schemas.openxmlformats.org/drawingml/2006/main">
            <a:off x="704850" y="23812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7949"/>
                </a:solidFill>
                <a:latin typeface="Inter"/>
                <a:ea typeface="Inter"/>
                <a:cs typeface="Inter"/>
              </a:defRPr>
            </a:pPr>
            <a:r>
              <a:rPr sz="2700" b="1">
                <a:solidFill>
                  <a:srgbClr val="FF7949"/>
                </a:solidFill>
                <a:latin typeface="Inter"/>
                <a:ea typeface="Inter"/>
                <a:cs typeface="Inter"/>
              </a:rPr>
              <a:t>Detection quality</a:t>
            </a:r>
          </a:p>
        </p:txBody>
      </p:sp>
      <p:sp>
        <p:nvSpPr>
          <p:cNvPr id="4" name="">
            <a:extLst xmlns:a="http://schemas.openxmlformats.org/drawingml/2006/main">
              <a:ext uri="{FF2B5EF4-FFF2-40B4-BE49-F238E27FC236}">
                <a16:creationId xmlns:a16="http://schemas.microsoft.com/office/drawing/2014/main" id="{AF998BE3-1A6E-4DD7-871F-4AFD3BCB241C}"/>
              </a:ext>
            </a:extLst>
          </p:cNvPr>
          <p:cNvSpPr>
            <a:spLocks xmlns:a="http://schemas.openxmlformats.org/drawingml/2006/main" noGrp="1"/>
          </p:cNvSpPr>
          <p:nvPr/>
        </p:nvSpPr>
        <p:spPr>
          <a:xfrm xmlns:a="http://schemas.openxmlformats.org/drawingml/2006/main">
            <a:off x="704850" y="3333750"/>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6F3EC"/>
                </a:solidFill>
                <a:latin typeface="Inter"/>
                <a:ea typeface="Inter"/>
                <a:cs typeface="Inter"/>
              </a:defRPr>
            </a:pPr>
            <a:r>
              <a:rPr sz="2325" b="0">
                <a:solidFill>
                  <a:srgbClr val="F6F3EC"/>
                </a:solidFill>
                <a:latin typeface="Inter"/>
                <a:ea typeface="Inter"/>
                <a:cs typeface="Inter"/>
              </a:rPr>
              <a:t>Missed fire and false alarms</a:t>
            </a:r>
          </a:p>
          <a:p xmlns:a="http://schemas.openxmlformats.org/drawingml/2006/main">
            <a:pPr>
              <a:defRPr sz="2325" b="0">
                <a:solidFill>
                  <a:srgbClr val="F6F3EC"/>
                </a:solidFill>
                <a:latin typeface="Inter"/>
                <a:ea typeface="Inter"/>
                <a:cs typeface="Inter"/>
              </a:defRPr>
            </a:pPr>
            <a:r>
              <a:rPr sz="2325" b="0">
                <a:solidFill>
                  <a:srgbClr val="F6F3EC"/>
                </a:solidFill>
                <a:latin typeface="Inter"/>
                <a:ea typeface="Inter"/>
                <a:cs typeface="Inter"/>
              </a:rPr>
              <a:t>Boundary and location error</a:t>
            </a:r>
          </a:p>
        </p:txBody>
      </p:sp>
      <p:sp>
        <p:nvSpPr>
          <p:cNvPr id="5" name="">
            <a:extLst xmlns:a="http://schemas.openxmlformats.org/drawingml/2006/main">
              <a:ext uri="{FF2B5EF4-FFF2-40B4-BE49-F238E27FC236}">
                <a16:creationId xmlns:a16="http://schemas.microsoft.com/office/drawing/2014/main" id="{97B33738-D753-472E-B047-838CB67E3244}"/>
              </a:ext>
            </a:extLst>
          </p:cNvPr>
          <p:cNvSpPr>
            <a:spLocks xmlns:a="http://schemas.openxmlformats.org/drawingml/2006/main" noGrp="1"/>
          </p:cNvSpPr>
          <p:nvPr/>
        </p:nvSpPr>
        <p:spPr>
          <a:xfrm xmlns:a="http://schemas.openxmlformats.org/drawingml/2006/main">
            <a:off x="6477000" y="23812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7949"/>
                </a:solidFill>
                <a:latin typeface="Inter"/>
                <a:ea typeface="Inter"/>
                <a:cs typeface="Inter"/>
              </a:defRPr>
            </a:pPr>
            <a:r>
              <a:rPr sz="2700" b="1">
                <a:solidFill>
                  <a:srgbClr val="FF7949"/>
                </a:solidFill>
                <a:latin typeface="Inter"/>
                <a:ea typeface="Inter"/>
                <a:cs typeface="Inter"/>
              </a:rPr>
              <a:t>Operational usefulness</a:t>
            </a:r>
          </a:p>
        </p:txBody>
      </p:sp>
      <p:sp>
        <p:nvSpPr>
          <p:cNvPr id="6" name="">
            <a:extLst xmlns:a="http://schemas.openxmlformats.org/drawingml/2006/main">
              <a:ext uri="{FF2B5EF4-FFF2-40B4-BE49-F238E27FC236}">
                <a16:creationId xmlns:a16="http://schemas.microsoft.com/office/drawing/2014/main" id="{D362454F-3E66-43B9-8D08-46C97F35D880}"/>
              </a:ext>
            </a:extLst>
          </p:cNvPr>
          <p:cNvSpPr>
            <a:spLocks xmlns:a="http://schemas.openxmlformats.org/drawingml/2006/main" noGrp="1"/>
          </p:cNvSpPr>
          <p:nvPr/>
        </p:nvSpPr>
        <p:spPr>
          <a:xfrm xmlns:a="http://schemas.openxmlformats.org/drawingml/2006/main">
            <a:off x="6477000" y="3333750"/>
            <a:ext cx="5000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6F3EC"/>
                </a:solidFill>
                <a:latin typeface="Inter"/>
                <a:ea typeface="Inter"/>
                <a:cs typeface="Inter"/>
              </a:defRPr>
            </a:pPr>
            <a:r>
              <a:rPr sz="2325" b="0">
                <a:solidFill>
                  <a:srgbClr val="F6F3EC"/>
                </a:solidFill>
                <a:latin typeface="Inter"/>
                <a:ea typeface="Inter"/>
                <a:cs typeface="Inter"/>
              </a:rPr>
              <a:t>Capture-to-display delay</a:t>
            </a:r>
          </a:p>
          <a:p xmlns:a="http://schemas.openxmlformats.org/drawingml/2006/main">
            <a:pPr>
              <a:defRPr sz="2325" b="0">
                <a:solidFill>
                  <a:srgbClr val="F6F3EC"/>
                </a:solidFill>
                <a:latin typeface="Inter"/>
                <a:ea typeface="Inter"/>
                <a:cs typeface="Inter"/>
              </a:defRPr>
            </a:pPr>
            <a:r>
              <a:rPr sz="2325" b="0">
                <a:solidFill>
                  <a:srgbClr val="F6F3EC"/>
                </a:solidFill>
                <a:latin typeface="Inter"/>
                <a:ea typeface="Inter"/>
                <a:cs typeface="Inter"/>
              </a:rPr>
              <a:t>Observed movement accuracy</a:t>
            </a:r>
          </a:p>
        </p:txBody>
      </p:sp>
      <p:sp>
        <p:nvSpPr>
          <p:cNvPr id="7" name="">
            <a:extLst xmlns:a="http://schemas.openxmlformats.org/drawingml/2006/main">
              <a:ext uri="{FF2B5EF4-FFF2-40B4-BE49-F238E27FC236}">
                <a16:creationId xmlns:a16="http://schemas.microsoft.com/office/drawing/2014/main" id="{287C90B1-3352-478B-A60A-7DD39AD326D1}"/>
              </a:ext>
            </a:extLst>
          </p:cNvPr>
          <p:cNvSpPr>
            <a:spLocks xmlns:a="http://schemas.openxmlformats.org/drawingml/2006/main" noGrp="1"/>
          </p:cNvSpPr>
          <p:nvPr/>
        </p:nvSpPr>
        <p:spPr>
          <a:xfrm xmlns:a="http://schemas.openxmlformats.org/drawingml/2006/main">
            <a:off x="704850" y="58102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5B9B6"/>
                </a:solidFill>
                <a:latin typeface="Inter"/>
                <a:ea typeface="Inter"/>
                <a:cs typeface="Inter"/>
              </a:defRPr>
            </a:pPr>
            <a:r>
              <a:rPr sz="1575" b="0">
                <a:solidFill>
                  <a:srgbClr val="B5B9B6"/>
                </a:solidFill>
                <a:latin typeface="Inter"/>
                <a:ea typeface="Inter"/>
                <a:cs typeface="Inter"/>
              </a:rPr>
              <a:t>Research-stage proposal. No field accuracy or latency results yet.</a:t>
            </a:r>
          </a:p>
        </p:txBody>
      </p:sp>
    </p:spTree>
    <p:extLst>
      <p:ext uri="{BB962C8B-B14F-4D97-AF65-F5344CB8AC3E}">
        <p14:creationId xmlns:p14="http://schemas.microsoft.com/office/powerpoint/2010/main" val="475785117"/>
      </p:ext>
    </p:extLst>
  </p:cSld>
</p:sld>
</file>

<file path=ppt/slides/slide9.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6DFBEE6-4D04-45E1-BBF4-FFFBDD3EC855}"/>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5B9B6"/>
                </a:solidFill>
                <a:latin typeface="Inter"/>
                <a:ea typeface="Inter"/>
                <a:cs typeface="Inter"/>
              </a:defRPr>
            </a:pPr>
            <a:r>
              <a:rPr sz="1500" b="0">
                <a:solidFill>
                  <a:srgbClr val="B5B9B6"/>
                </a:solidFill>
                <a:latin typeface="Inter"/>
                <a:ea typeface="Inter"/>
                <a:cs typeface="Inter"/>
              </a:rPr>
              <a:t>09</a:t>
            </a:r>
          </a:p>
        </p:txBody>
      </p:sp>
      <p:sp>
        <p:nvSpPr>
          <p:cNvPr id="2" name="">
            <a:extLst xmlns:a="http://schemas.openxmlformats.org/drawingml/2006/main">
              <a:ext uri="{FF2B5EF4-FFF2-40B4-BE49-F238E27FC236}">
                <a16:creationId xmlns:a16="http://schemas.microsoft.com/office/drawing/2014/main" id="{08C22BE4-B639-4280-AA41-BCDC128A7678}"/>
              </a:ext>
            </a:extLst>
          </p:cNvPr>
          <p:cNvSpPr>
            <a:spLocks xmlns:a="http://schemas.openxmlformats.org/drawingml/2006/main" noGrp="1"/>
          </p:cNvSpPr>
          <p:nvPr/>
        </p:nvSpPr>
        <p:spPr>
          <a:xfrm xmlns:a="http://schemas.openxmlformats.org/drawingml/2006/main">
            <a:off x="666750" y="619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C"/>
                </a:solidFill>
                <a:latin typeface="Inter"/>
                <a:ea typeface="Inter"/>
                <a:cs typeface="Inter"/>
              </a:defRPr>
            </a:pPr>
            <a:r>
              <a:rPr sz="3600" b="1">
                <a:solidFill>
                  <a:srgbClr val="F6F3EC"/>
                </a:solidFill>
                <a:latin typeface="Inter"/>
                <a:ea typeface="Inter"/>
                <a:cs typeface="Inter"/>
              </a:rPr>
              <a:t>A focused route to a field pilot</a:t>
            </a:r>
          </a:p>
        </p:txBody>
      </p:sp>
      <p:sp>
        <p:nvSpPr>
          <p:cNvPr id="3" name="">
            <a:extLst xmlns:a="http://schemas.openxmlformats.org/drawingml/2006/main">
              <a:ext uri="{FF2B5EF4-FFF2-40B4-BE49-F238E27FC236}">
                <a16:creationId xmlns:a16="http://schemas.microsoft.com/office/drawing/2014/main" id="{89B31FC8-01B4-4A56-9E75-C3A01084A977}"/>
              </a:ext>
            </a:extLst>
          </p:cNvPr>
          <p:cNvSpPr>
            <a:spLocks xmlns:a="http://schemas.openxmlformats.org/drawingml/2006/main" noGrp="1"/>
          </p:cNvSpPr>
          <p:nvPr/>
        </p:nvSpPr>
        <p:spPr>
          <a:xfrm xmlns:a="http://schemas.openxmlformats.org/drawingml/2006/main">
            <a:off x="704850" y="20955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7949"/>
                </a:solidFill>
                <a:latin typeface="Inter"/>
                <a:ea typeface="Inter"/>
                <a:cs typeface="Inter"/>
              </a:defRPr>
            </a:pPr>
            <a:r>
              <a:rPr sz="2400" b="1">
                <a:solidFill>
                  <a:srgbClr val="FF7949"/>
                </a:solidFill>
                <a:latin typeface="Inter"/>
                <a:ea typeface="Inter"/>
                <a:cs typeface="Inter"/>
              </a:rPr>
              <a:t>First partner</a:t>
            </a:r>
          </a:p>
        </p:txBody>
      </p:sp>
      <p:sp>
        <p:nvSpPr>
          <p:cNvPr id="4" name="">
            <a:extLst xmlns:a="http://schemas.openxmlformats.org/drawingml/2006/main">
              <a:ext uri="{FF2B5EF4-FFF2-40B4-BE49-F238E27FC236}">
                <a16:creationId xmlns:a16="http://schemas.microsoft.com/office/drawing/2014/main" id="{2718DCED-7392-498D-8557-03226C9D2606}"/>
              </a:ext>
            </a:extLst>
          </p:cNvPr>
          <p:cNvSpPr>
            <a:spLocks xmlns:a="http://schemas.openxmlformats.org/drawingml/2006/main" noGrp="1"/>
          </p:cNvSpPr>
          <p:nvPr/>
        </p:nvSpPr>
        <p:spPr>
          <a:xfrm xmlns:a="http://schemas.openxmlformats.org/drawingml/2006/main">
            <a:off x="5381625" y="209550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3EC"/>
                </a:solidFill>
                <a:latin typeface="Inter"/>
                <a:ea typeface="Inter"/>
                <a:cs typeface="Inter"/>
              </a:defRPr>
            </a:pPr>
            <a:r>
              <a:rPr sz="2175" b="0">
                <a:solidFill>
                  <a:srgbClr val="F6F3EC"/>
                </a:solidFill>
                <a:latin typeface="Inter"/>
                <a:ea typeface="Inter"/>
                <a:cs typeface="Inter"/>
              </a:rPr>
              <a:t>A drone operator and a responder or fire analyst</a:t>
            </a:r>
          </a:p>
        </p:txBody>
      </p:sp>
      <p:sp>
        <p:nvSpPr>
          <p:cNvPr id="5" name="">
            <a:extLst xmlns:a="http://schemas.openxmlformats.org/drawingml/2006/main">
              <a:ext uri="{FF2B5EF4-FFF2-40B4-BE49-F238E27FC236}">
                <a16:creationId xmlns:a16="http://schemas.microsoft.com/office/drawing/2014/main" id="{4C2D9EEB-2D95-4F7B-9EA9-6EC9243D80E1}"/>
              </a:ext>
            </a:extLst>
          </p:cNvPr>
          <p:cNvSpPr>
            <a:spLocks xmlns:a="http://schemas.openxmlformats.org/drawingml/2006/main" noGrp="1"/>
          </p:cNvSpPr>
          <p:nvPr/>
        </p:nvSpPr>
        <p:spPr>
          <a:xfrm xmlns:a="http://schemas.openxmlformats.org/drawingml/2006/main">
            <a:off x="704850" y="31908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7949"/>
                </a:solidFill>
                <a:latin typeface="Inter"/>
                <a:ea typeface="Inter"/>
                <a:cs typeface="Inter"/>
              </a:defRPr>
            </a:pPr>
            <a:r>
              <a:rPr sz="2400" b="1">
                <a:solidFill>
                  <a:srgbClr val="FF7949"/>
                </a:solidFill>
                <a:latin typeface="Inter"/>
                <a:ea typeface="Inter"/>
                <a:cs typeface="Inter"/>
              </a:rPr>
              <a:t>First trial</a:t>
            </a:r>
          </a:p>
        </p:txBody>
      </p:sp>
      <p:sp>
        <p:nvSpPr>
          <p:cNvPr id="6" name="">
            <a:extLst xmlns:a="http://schemas.openxmlformats.org/drawingml/2006/main">
              <a:ext uri="{FF2B5EF4-FFF2-40B4-BE49-F238E27FC236}">
                <a16:creationId xmlns:a16="http://schemas.microsoft.com/office/drawing/2014/main" id="{F3306E86-F2F0-4732-9C53-69BB0DCEF9AA}"/>
              </a:ext>
            </a:extLst>
          </p:cNvPr>
          <p:cNvSpPr>
            <a:spLocks xmlns:a="http://schemas.openxmlformats.org/drawingml/2006/main" noGrp="1"/>
          </p:cNvSpPr>
          <p:nvPr/>
        </p:nvSpPr>
        <p:spPr>
          <a:xfrm xmlns:a="http://schemas.openxmlformats.org/drawingml/2006/main">
            <a:off x="5381625" y="3190875"/>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3EC"/>
                </a:solidFill>
                <a:latin typeface="Inter"/>
                <a:ea typeface="Inter"/>
                <a:cs typeface="Inter"/>
              </a:defRPr>
            </a:pPr>
            <a:r>
              <a:rPr sz="2175" b="0">
                <a:solidFill>
                  <a:srgbClr val="F6F3EC"/>
                </a:solidFill>
                <a:latin typeface="Inter"/>
                <a:ea typeface="Inter"/>
                <a:cs typeface="Inter"/>
              </a:rPr>
              <a:t>One location with synchronized, labeled recordings</a:t>
            </a:r>
          </a:p>
        </p:txBody>
      </p:sp>
      <p:sp>
        <p:nvSpPr>
          <p:cNvPr id="7" name="">
            <a:extLst xmlns:a="http://schemas.openxmlformats.org/drawingml/2006/main">
              <a:ext uri="{FF2B5EF4-FFF2-40B4-BE49-F238E27FC236}">
                <a16:creationId xmlns:a16="http://schemas.microsoft.com/office/drawing/2014/main" id="{D6B9C775-363E-4100-A613-7CBF8689FCB2}"/>
              </a:ext>
            </a:extLst>
          </p:cNvPr>
          <p:cNvSpPr>
            <a:spLocks xmlns:a="http://schemas.openxmlformats.org/drawingml/2006/main" noGrp="1"/>
          </p:cNvSpPr>
          <p:nvPr/>
        </p:nvSpPr>
        <p:spPr>
          <a:xfrm xmlns:a="http://schemas.openxmlformats.org/drawingml/2006/main">
            <a:off x="704850" y="4286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7949"/>
                </a:solidFill>
                <a:latin typeface="Inter"/>
                <a:ea typeface="Inter"/>
                <a:cs typeface="Inter"/>
              </a:defRPr>
            </a:pPr>
            <a:r>
              <a:rPr sz="2400" b="1">
                <a:solidFill>
                  <a:srgbClr val="FF7949"/>
                </a:solidFill>
                <a:latin typeface="Inter"/>
                <a:ea typeface="Inter"/>
                <a:cs typeface="Inter"/>
              </a:rPr>
              <a:t>First value test</a:t>
            </a:r>
          </a:p>
        </p:txBody>
      </p:sp>
      <p:sp>
        <p:nvSpPr>
          <p:cNvPr id="8" name="">
            <a:extLst xmlns:a="http://schemas.openxmlformats.org/drawingml/2006/main">
              <a:ext uri="{FF2B5EF4-FFF2-40B4-BE49-F238E27FC236}">
                <a16:creationId xmlns:a16="http://schemas.microsoft.com/office/drawing/2014/main" id="{1A0F1919-88E5-48F7-AAE8-E6271F394719}"/>
              </a:ext>
            </a:extLst>
          </p:cNvPr>
          <p:cNvSpPr>
            <a:spLocks xmlns:a="http://schemas.openxmlformats.org/drawingml/2006/main" noGrp="1"/>
          </p:cNvSpPr>
          <p:nvPr/>
        </p:nvSpPr>
        <p:spPr>
          <a:xfrm xmlns:a="http://schemas.openxmlformats.org/drawingml/2006/main">
            <a:off x="5381625" y="428625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3EC"/>
                </a:solidFill>
                <a:latin typeface="Inter"/>
                <a:ea typeface="Inter"/>
                <a:cs typeface="Inter"/>
              </a:defRPr>
            </a:pPr>
            <a:r>
              <a:rPr sz="2175" b="0">
                <a:solidFill>
                  <a:srgbClr val="F6F3EC"/>
                </a:solidFill>
                <a:latin typeface="Inter"/>
                <a:ea typeface="Inter"/>
                <a:cs typeface="Inter"/>
              </a:rPr>
              <a:t>Can the analyst produce a clearer incident update?</a:t>
            </a:r>
          </a:p>
        </p:txBody>
      </p:sp>
      <p:sp>
        <p:nvSpPr>
          <p:cNvPr id="9" name="">
            <a:extLst xmlns:a="http://schemas.openxmlformats.org/drawingml/2006/main">
              <a:ext uri="{FF2B5EF4-FFF2-40B4-BE49-F238E27FC236}">
                <a16:creationId xmlns:a16="http://schemas.microsoft.com/office/drawing/2014/main" id="{0A167E57-68DF-4FEC-B78D-13F1915F5227}"/>
              </a:ext>
            </a:extLst>
          </p:cNvPr>
          <p:cNvSpPr>
            <a:spLocks xmlns:a="http://schemas.openxmlformats.org/drawingml/2006/main" noGrp="1"/>
          </p:cNvSpPr>
          <p:nvPr/>
        </p:nvSpPr>
        <p:spPr>
          <a:xfrm xmlns:a="http://schemas.openxmlformats.org/drawingml/2006/main">
            <a:off x="704850" y="58102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5B9B6"/>
                </a:solidFill>
                <a:latin typeface="Inter"/>
                <a:ea typeface="Inter"/>
                <a:cs typeface="Inter"/>
              </a:defRPr>
            </a:pPr>
            <a:r>
              <a:rPr sz="1575" b="0">
                <a:solidFill>
                  <a:srgbClr val="B5B9B6"/>
                </a:solidFill>
                <a:latin typeface="Inter"/>
                <a:ea typeface="Inter"/>
                <a:cs typeface="Inter"/>
              </a:rPr>
              <a:t>Pilot and customer assumptions require interviews and field validation.</a:t>
            </a:r>
          </a:p>
        </p:txBody>
      </p:sp>
    </p:spTree>
    <p:extLst>
      <p:ext uri="{BB962C8B-B14F-4D97-AF65-F5344CB8AC3E}">
        <p14:creationId xmlns:p14="http://schemas.microsoft.com/office/powerpoint/2010/main" val="1757777481"/>
      </p:ext>
    </p:extLst>
  </p:cSld>
</p:sld>
</file>

<file path=ppt/slides/slide10.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875538283d847a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3BFCE92-3718-4000-8DC6-E836BCBE6996}"/>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5B9B6"/>
                </a:solidFill>
                <a:latin typeface="Inter"/>
                <a:ea typeface="Inter"/>
                <a:cs typeface="Inter"/>
              </a:defRPr>
            </a:pPr>
            <a:r>
              <a:rPr sz="1500" b="0">
                <a:solidFill>
                  <a:srgbClr val="B5B9B6"/>
                </a:solidFill>
                <a:latin typeface="Inter"/>
                <a:ea typeface="Inter"/>
                <a:cs typeface="Inter"/>
              </a:rPr>
              <a:t>10</a:t>
            </a:r>
          </a:p>
        </p:txBody>
      </p:sp>
      <p:sp>
        <p:nvSpPr>
          <p:cNvPr id="3" name="">
            <a:extLst xmlns:a="http://schemas.openxmlformats.org/drawingml/2006/main">
              <a:ext uri="{FF2B5EF4-FFF2-40B4-BE49-F238E27FC236}">
                <a16:creationId xmlns:a16="http://schemas.microsoft.com/office/drawing/2014/main" id="{53A5D2A1-5C2A-49CD-A07D-F29B872073E5}"/>
              </a:ext>
            </a:extLst>
          </p:cNvPr>
          <p:cNvSpPr>
            <a:spLocks xmlns:a="http://schemas.openxmlformats.org/drawingml/2006/main" noGrp="1"/>
          </p:cNvSpPr>
          <p:nvPr/>
        </p:nvSpPr>
        <p:spPr>
          <a:xfrm xmlns:a="http://schemas.openxmlformats.org/drawingml/2006/main">
            <a:off x="666750" y="714375"/>
            <a:ext cx="762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7949"/>
                </a:solidFill>
                <a:latin typeface="Inter"/>
                <a:ea typeface="Inter"/>
                <a:cs typeface="Inter"/>
              </a:defRPr>
            </a:pPr>
            <a:r>
              <a:rPr sz="2550" b="1">
                <a:solidFill>
                  <a:srgbClr val="FF7949"/>
                </a:solidFill>
                <a:latin typeface="Inter"/>
                <a:ea typeface="Inter"/>
                <a:cs typeface="Inter"/>
              </a:rPr>
              <a:t>FireWatch AI</a:t>
            </a:r>
          </a:p>
        </p:txBody>
      </p:sp>
      <p:sp>
        <p:nvSpPr>
          <p:cNvPr id="4" name="">
            <a:extLst xmlns:a="http://schemas.openxmlformats.org/drawingml/2006/main">
              <a:ext uri="{FF2B5EF4-FFF2-40B4-BE49-F238E27FC236}">
                <a16:creationId xmlns:a16="http://schemas.microsoft.com/office/drawing/2014/main" id="{72A14C4E-B2BF-4297-9466-C2392E08C9F0}"/>
              </a:ext>
            </a:extLst>
          </p:cNvPr>
          <p:cNvSpPr>
            <a:spLocks xmlns:a="http://schemas.openxmlformats.org/drawingml/2006/main" noGrp="1"/>
          </p:cNvSpPr>
          <p:nvPr/>
        </p:nvSpPr>
        <p:spPr>
          <a:xfrm xmlns:a="http://schemas.openxmlformats.org/drawingml/2006/main">
            <a:off x="666750" y="2095500"/>
            <a:ext cx="8858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6F3EC"/>
                </a:solidFill>
                <a:latin typeface="Inter"/>
                <a:ea typeface="Inter"/>
                <a:cs typeface="Inter"/>
              </a:defRPr>
            </a:pPr>
            <a:r>
              <a:rPr sz="4875" b="1">
                <a:solidFill>
                  <a:srgbClr val="F6F3EC"/>
                </a:solidFill>
                <a:latin typeface="Inter"/>
                <a:ea typeface="Inter"/>
                <a:cs typeface="Inter"/>
              </a:rPr>
              <a:t>A clearer view of</a:t>
            </a:r>
          </a:p>
          <a:p xmlns:a="http://schemas.openxmlformats.org/drawingml/2006/main">
            <a:pPr>
              <a:defRPr sz="4875" b="1">
                <a:solidFill>
                  <a:srgbClr val="F6F3EC"/>
                </a:solidFill>
                <a:latin typeface="Inter"/>
                <a:ea typeface="Inter"/>
                <a:cs typeface="Inter"/>
              </a:defRPr>
            </a:pPr>
            <a:r>
              <a:rPr sz="4875" b="1">
                <a:solidFill>
                  <a:srgbClr val="F6F3EC"/>
                </a:solidFill>
                <a:latin typeface="Inter"/>
                <a:ea typeface="Inter"/>
                <a:cs typeface="Inter"/>
              </a:rPr>
              <a:t>what the fire is doing</a:t>
            </a:r>
          </a:p>
        </p:txBody>
      </p:sp>
      <p:sp>
        <p:nvSpPr>
          <p:cNvPr id="5" name="">
            <a:extLst xmlns:a="http://schemas.openxmlformats.org/drawingml/2006/main">
              <a:ext uri="{FF2B5EF4-FFF2-40B4-BE49-F238E27FC236}">
                <a16:creationId xmlns:a16="http://schemas.microsoft.com/office/drawing/2014/main" id="{017CEBC4-86D5-4EBD-9313-C4C543200E4B}"/>
              </a:ext>
            </a:extLst>
          </p:cNvPr>
          <p:cNvSpPr>
            <a:spLocks xmlns:a="http://schemas.openxmlformats.org/drawingml/2006/main" noGrp="1"/>
          </p:cNvSpPr>
          <p:nvPr/>
        </p:nvSpPr>
        <p:spPr>
          <a:xfrm xmlns:a="http://schemas.openxmlformats.org/drawingml/2006/main">
            <a:off x="704850" y="4667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6F3EC"/>
                </a:solidFill>
                <a:latin typeface="Inter"/>
                <a:ea typeface="Inter"/>
                <a:cs typeface="Inter"/>
              </a:defRPr>
            </a:pPr>
            <a:r>
              <a:rPr sz="2250" b="0">
                <a:solidFill>
                  <a:srgbClr val="F6F3EC"/>
                </a:solidFill>
                <a:latin typeface="Inter"/>
                <a:ea typeface="Inter"/>
                <a:cs typeface="Inter"/>
              </a:rPr>
              <a:t>Seeking a pilot partner with drone data</a:t>
            </a:r>
          </a:p>
          <a:p xmlns:a="http://schemas.openxmlformats.org/drawingml/2006/main">
            <a:pPr>
              <a:defRPr sz="2250" b="0">
                <a:solidFill>
                  <a:srgbClr val="F6F3EC"/>
                </a:solidFill>
                <a:latin typeface="Inter"/>
                <a:ea typeface="Inter"/>
                <a:cs typeface="Inter"/>
              </a:defRPr>
            </a:pPr>
            <a:r>
              <a:rPr sz="2250" b="0">
                <a:solidFill>
                  <a:srgbClr val="F6F3EC"/>
                </a:solidFill>
                <a:latin typeface="Inter"/>
                <a:ea typeface="Inter"/>
                <a:cs typeface="Inter"/>
              </a:rPr>
              <a:t>and responder feedback</a:t>
            </a:r>
          </a:p>
        </p:txBody>
      </p:sp>
      <p:sp>
        <p:nvSpPr>
          <p:cNvPr id="6" name="">
            <a:extLst xmlns:a="http://schemas.openxmlformats.org/drawingml/2006/main">
              <a:ext uri="{FF2B5EF4-FFF2-40B4-BE49-F238E27FC236}">
                <a16:creationId xmlns:a16="http://schemas.microsoft.com/office/drawing/2014/main" id="{55B5EE15-7E4D-4793-9C95-FA8FD608F6C0}"/>
              </a:ext>
            </a:extLst>
          </p:cNvPr>
          <p:cNvSpPr>
            <a:spLocks xmlns:a="http://schemas.openxmlformats.org/drawingml/2006/main" noGrp="1"/>
          </p:cNvSpPr>
          <p:nvPr/>
        </p:nvSpPr>
        <p:spPr>
          <a:xfrm xmlns:a="http://schemas.openxmlformats.org/drawingml/2006/main">
            <a:off x="8382000" y="6238875"/>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5B9B6"/>
                </a:solidFill>
                <a:latin typeface="Inter"/>
                <a:ea typeface="Inter"/>
                <a:cs typeface="Inter"/>
              </a:defRPr>
            </a:pPr>
            <a:r>
              <a:rPr sz="1125" b="0">
                <a:solidFill>
                  <a:srgbClr val="B5B9B6"/>
                </a:solidFill>
                <a:latin typeface="Inter"/>
                <a:ea typeface="Inter"/>
                <a:cs typeface="Inter"/>
              </a:rPr>
              <a:t>AI-generated conceptual image</a:t>
            </a:r>
          </a:p>
        </p:txBody>
      </p:sp>
    </p:spTree>
    <p:extLst>
      <p:ext uri="{BB962C8B-B14F-4D97-AF65-F5344CB8AC3E}">
        <p14:creationId xmlns:p14="http://schemas.microsoft.com/office/powerpoint/2010/main" val="592071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2026-09-26T13:13:25.9670000Z</dcterms:created>
  <dcterms:modified xsi:type="dcterms:W3CDTF">2026-09-26T13:13:25.9670000Z</dcterms:modified>
</coreProperties>
</file>