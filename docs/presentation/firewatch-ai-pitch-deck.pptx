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3840eb0a2f4985" /><Relationship Type="http://schemas.openxmlformats.org/officeDocument/2006/relationships/extended-properties" Target="/docProps/app.xml" Id="Rf69e1c213a3f42cb" /><Relationship Type="http://schemas.openxmlformats.org/officeDocument/2006/relationships/officeDocument" Target="/ppt/presentation.xml" Id="R374e33dd635447b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a279f625f2b4215"/>
  </p:sldMasterIdLst>
  <p:notesMasterIdLst>
    <p:notesMasterId xmlns:r="http://schemas.openxmlformats.org/officeDocument/2006/relationships" r:id="Rcf324b01fd13441a"/>
  </p:notesMasterIdLst>
  <p:sldIdLst>
    <p:sldId xmlns:r="http://schemas.openxmlformats.org/officeDocument/2006/relationships" id="256" r:id="Re7aeb68c892d421c"/>
    <p:sldId xmlns:r="http://schemas.openxmlformats.org/officeDocument/2006/relationships" id="257" r:id="Rc98a2888d6a5478d"/>
    <p:sldId xmlns:r="http://schemas.openxmlformats.org/officeDocument/2006/relationships" id="258" r:id="R54908984b3b442de"/>
    <p:sldId xmlns:r="http://schemas.openxmlformats.org/officeDocument/2006/relationships" id="259" r:id="R083f8fcc7fe645d8"/>
    <p:sldId xmlns:r="http://schemas.openxmlformats.org/officeDocument/2006/relationships" id="260" r:id="Rdfea0b596cbf44a3"/>
    <p:sldId xmlns:r="http://schemas.openxmlformats.org/officeDocument/2006/relationships" id="261" r:id="R02432b92441c40dd"/>
  </p:sldIdLst>
  <p:sldSz cx="12192000" cy="6858000"/>
  <p:notesSz cx="6858000" cy="9144000"/>
  <p:embeddedFontLst>
    <p:embeddedFont>
      <p:font typeface="Plus Jakarta Sans"/>
      <p:regular xmlns:r="http://schemas.openxmlformats.org/officeDocument/2006/relationships" r:id="Rb927aa840ed44778"/>
      <p:bold xmlns:r="http://schemas.openxmlformats.org/officeDocument/2006/relationships" r:id="R35b39fbd76c94019"/>
      <p:italic xmlns:r="http://schemas.openxmlformats.org/officeDocument/2006/relationships" r:id="R48fe9bc6e22e4f46"/>
      <p:boldItalic xmlns:r="http://schemas.openxmlformats.org/officeDocument/2006/relationships" r:id="R20535982ef9248fe"/>
    </p:embeddedFont>
    <p:embeddedFont>
      <p:font typeface="Inter"/>
      <p:regular xmlns:r="http://schemas.openxmlformats.org/officeDocument/2006/relationships" r:id="R141fad84616e4ca6"/>
      <p:bold xmlns:r="http://schemas.openxmlformats.org/officeDocument/2006/relationships" r:id="R55cdf6b2d4f141f0"/>
      <p:italic xmlns:r="http://schemas.openxmlformats.org/officeDocument/2006/relationships" r:id="R9988befd4d01406e"/>
      <p:boldItalic xmlns:r="http://schemas.openxmlformats.org/officeDocument/2006/relationships" r:id="Rf102334accc54057"/>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77f29cbcf24f47" /><Relationship Type="http://schemas.openxmlformats.org/officeDocument/2006/relationships/slideMaster" Target="/ppt/slideMasters/slideMaster1.xml" Id="R8a279f625f2b4215" /><Relationship Type="http://schemas.openxmlformats.org/officeDocument/2006/relationships/notesMaster" Target="/ppt/notesMasters/notesMaster1.xml" Id="Rcf324b01fd13441a" /><Relationship Type="http://schemas.openxmlformats.org/officeDocument/2006/relationships/presProps" Target="/ppt/presProps.xml" Id="R18541eaa2bcd46cb" /><Relationship Type="http://schemas.openxmlformats.org/officeDocument/2006/relationships/tableStyles" Target="/ppt/tableStyles.xml" Id="R92e993875eb84281" /><Relationship Type="http://schemas.openxmlformats.org/officeDocument/2006/relationships/font" Target="/ppt/fonts/font.dat" Id="Rb927aa840ed44778" /><Relationship Type="http://schemas.openxmlformats.org/officeDocument/2006/relationships/font" Target="/ppt/fonts/font2.dat" Id="R35b39fbd76c94019" /><Relationship Type="http://schemas.openxmlformats.org/officeDocument/2006/relationships/font" Target="/ppt/fonts/font3.dat" Id="R48fe9bc6e22e4f46" /><Relationship Type="http://schemas.openxmlformats.org/officeDocument/2006/relationships/font" Target="/ppt/fonts/font4.dat" Id="R20535982ef9248fe" /><Relationship Type="http://schemas.openxmlformats.org/officeDocument/2006/relationships/font" Target="/ppt/fonts/font5.dat" Id="R141fad84616e4ca6" /><Relationship Type="http://schemas.openxmlformats.org/officeDocument/2006/relationships/font" Target="/ppt/fonts/font6.dat" Id="R55cdf6b2d4f141f0" /><Relationship Type="http://schemas.openxmlformats.org/officeDocument/2006/relationships/font" Target="/ppt/fonts/font7.dat" Id="R9988befd4d01406e" /><Relationship Type="http://schemas.openxmlformats.org/officeDocument/2006/relationships/font" Target="/ppt/fonts/font8.dat" Id="Rf102334accc54057" /><Relationship Type="http://schemas.openxmlformats.org/officeDocument/2006/relationships/slide" Target="/ppt/slides/slide1.xml" Id="Re7aeb68c892d421c" /><Relationship Type="http://schemas.openxmlformats.org/officeDocument/2006/relationships/slide" Target="/ppt/slides/slide2.xml" Id="Rc98a2888d6a5478d" /><Relationship Type="http://schemas.openxmlformats.org/officeDocument/2006/relationships/slide" Target="/ppt/slides/slide3.xml" Id="R54908984b3b442de" /><Relationship Type="http://schemas.openxmlformats.org/officeDocument/2006/relationships/slide" Target="/ppt/slides/slide4.xml" Id="R083f8fcc7fe645d8" /><Relationship Type="http://schemas.openxmlformats.org/officeDocument/2006/relationships/slide" Target="/ppt/slides/slide5.xml" Id="Rdfea0b596cbf44a3" /><Relationship Type="http://schemas.openxmlformats.org/officeDocument/2006/relationships/slide" Target="/ppt/slides/slide6.xml" Id="R02432b92441c40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469b19dfeb46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2f857ded04c4f" /><Relationship Type="http://schemas.openxmlformats.org/officeDocument/2006/relationships/notesMaster" Target="/ppt/notesMasters/notesMaster1.xml" Id="R016b5a3c178848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60e8ef74cf414c" /><Relationship Type="http://schemas.openxmlformats.org/officeDocument/2006/relationships/notesMaster" Target="/ppt/notesMasters/notesMaster1.xml" Id="R32044522760743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1dbcb40f574c35" /><Relationship Type="http://schemas.openxmlformats.org/officeDocument/2006/relationships/notesMaster" Target="/ppt/notesMasters/notesMaster1.xml" Id="R1f21d4b48e2b45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a7a123ed124297" /><Relationship Type="http://schemas.openxmlformats.org/officeDocument/2006/relationships/notesMaster" Target="/ppt/notesMasters/notesMaster1.xml" Id="Rb8160d17b42d42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46b4f46c6a41eb" /><Relationship Type="http://schemas.openxmlformats.org/officeDocument/2006/relationships/notesMaster" Target="/ppt/notesMasters/notesMaster1.xml" Id="R0fd95d6a66a64a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2961bb1877400d" /><Relationship Type="http://schemas.openxmlformats.org/officeDocument/2006/relationships/notesMaster" Target="/ppt/notesMasters/notesMaster1.xml" Id="Rb07a913a280b4e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0:00–0:25. Introduce FireWatch AI as an observation product. A responder sees a drone feed, but still needs a shared ground picture. Our initial scope is existing fire and observed change. Future spread forecasting sits outside this first product. Explain that the following slides separate working offline research from the proposed operational workflow.</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0:25–1:10. PROBLEM — FOUR-MINUTE PITCH</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Changing wind, terrain and vegetation affect where a wildfire could spread. A fire-behavior analyst must assess which communities could be threatened and help an incident commander compare response options. Fires accounted for 42% of global tree-cover loss in 2025, and smoke exposes people far beyond the fire itself. FireWatch explores possible spread and response scenarios. The simulator is a prototype; operational forecast accuracy remains unvalidated.</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SOURCES AND DEFINITIONS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WRI, April 29, 2026, based on University of Maryland GLAD data: https://www.wri.org/news/release-tropical-rainforest-loss-drops-36-2025-fires-threaten-global-progress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Fires accounted for 42% of the 25.5 million hectares of global tree-cover loss in 2025. This is the share of that year's tree-cover loss, not the share of all global forests burned. Tree-cover loss is not necessarily permanent deforestation and does not measure net change after regrowth.</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WHO, July 31, 2026: https://www.who.int/greece/news/item/31-07-2026-wildfire-smoke--a-frequently-underestimated-health-risk</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Smoke can travel across countries and continents. PM2.5 is a major health concern. No fixed burned-area-to-AQI relationship is claimed.</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NWCG Fire Behavior Analyst position: https://www.nwcg.gov/positions/fire-behavior-analyst/incident-position-description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This is the proposed user, not a claim of adoption.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US Forest Service decision-support research: https://research.fs.usda.gov/treesearch/63429</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Existing tools support uncertainty analysis and response alternatives. FireWatch's usability advantage requires testing.</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400"/>
              <a:buNone/>
            </a:pPr>
            <a:r>
              <a:t>1:10–1:55 (45 seconds). SOLUTION — FOUR-MINUTE PITCH</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SPEAKING CUES</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Select a location; explore physics-based spread; vary weather and response scenarios. Replay historical fires and inspect their sources. Technosylva already provides operational forecasting and what-if analysis. FireWatch’s intended advantage for researchers is the ability to inspect inputs and experiment with model changes, supported by a planned open-source contribution model. Machine learning estimates canopy; physics calculates spread. This is a research proposition, not demonstrated superiority in forecasting accuracy.</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SUPPORTING REFERENCES</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Repository: https://github.com/RubSar/firewatch-ai</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pitch.md, sections 5–10 and 16: workflow, physics, canopy model, evaluation and limitations.</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frontend/sim/src/model.ts: Rothermel-derived wind/moisture terms, elliptical directional spread, minimum-travel-time propagation and crown-fire criteria. This is a simplified implementation, not the complete original model.</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frontend/api/src/providers/canopy-learned.ts and frontend/api/src/canopy/model.json: gradient-boosted canopy estimates. No demonstrated improvement in fire-spread accuracy is claimed.</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frontend/api/src/providers/provenance.ts: inputs include source and quality metadata; fallback paths can supply derived or synthetic values.</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frontend/Wildfire/src/history/HistoryPage.tsx and docs/concurrent-analysis/09-historical-similarity/historical-preview.md: separate retrospective comparison view, not an automatic simulator calibration or training pipeline.</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Rothermel (1972): https://research.fs.usda.gov/treesearch/32533</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Finney (2002), Fire growth using minimum travel time methods: https://doi.org/10.1139/x02-068</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VALIDATION BOUNDARY</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Historical matching percentages describe environmental differences, not future growth probabilities. Kernel tests verify specified software behavior, not field forecasting accuracy. Historical replays use known past inputs/outcomes and do not establish operational performance. Suppression remains simplified and unvalidated. The product is a prototype for scenario exploration.</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ALTERNATIVE AND DIFFERENTIATION</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Technosylva: established wildfire intelligence provider serving utilities and fire agencies, including operational risk modeling, what-if analysis, situational awareness and incident management. These features are not claimed as unique to FireWatch.</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https://technosylva.com/</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https://technosylva.com/fire-agencies/</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Research checked September 27, 2026.</a:t>
            </a:r>
            <a:endParaRPr>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SzPts val="1400"/>
              <a:buNone/>
            </a:pPr>
            <a:r>
              <a:t>FireWatch: current simulator and historical atlas expose input sources and limitations; source inspection and model changes are developer/research workflows, not an in-app model editor. Open-source licensing and community contribution processes are planned, not established adoption. No comparative user study, price advantage, forecast-accuracy advantage or broader validated geographic coverage is claimed. Do not repeat the unsupported assertions that Technosylva has no public data, contributes nothing to open source, or only works in 11 countries. Ecological impact valuation remains a future vision, not a present differentiating capability.</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400"/>
              <a:buNone/>
            </a:pPr>
            <a:r>
              <a:t>1:55–2:40. Walk through a recorded sample, the RGB and thermal outputs, and the quality flags. Explain what is missing rather than claiming an integrated live system. Use the backup recording if needed. Repository access and the final demo must be verified before presenting. Codex helped implementation and documentation. Independent annotation acceptance remains pending. Source: backend/vision/README.md.</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2:40–3:20 (40 seconds). EXECUTION PLAN — FOUR-MINUTE PITCH</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SPEAKING CUES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The simulator and historical atlas are built. Next: improve fuel and fire-duration behavior, expand reviewed historical data and freeze evaluation inputs. Reliable validation needs evidence separating natural spread from firefighting effects. Use documented free-growth periods where possible; flag uncertain intervention histories. Compare unseen incidents against simple baselines. Add secure access, saved scenarios and monitored deployment before a supervised analyst pilot. Operational forecasting requires further validation.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SUPPORTING REFERENCES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pitch.md, sections 9, 14, 16 and 17: changing hindcast inputs, production readiness, model limitations and priorities.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frontend/api/src/server.ts: incidents stored in memory.</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docs/concurrent-analysis/09-historical-similarity/data-quality-phase.md: provenance, enrichment, missingness and review requirements.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docs/concurrent-analysis/09-historical-similarity/historical-preview.md: historical atlas and descriptive comparisons.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Repository: https://github.com/RubSar/firewatch-ai</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INTERPRETATION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This is a proposed sequence, not a committed delivery schedule or accuracy target. Fixed datasets mean versioned snapshots of the evaluation inputs, so repeated runs can isolate code changes. Historical-data quality work does not imply automatic simulator training. The pilot evaluates usability and evidence interpretation under expert supervision; it is not deployment for evacuation or other life-safety decisions.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RELIABLE VALIDATION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User-requested risk: historical fire perimeters can reflect both natural spread and suppression. A free-growth replay excludes human intervention, so a difference from the recorded perimeter cannot automatically be attributed to spread-model error. Look for dated incident reports and documented intervention timelines to identify suitable free-growth intervals. Label unknown intervention history explicitly; do not assume missing records mean no firefighting. Where effects cannot be separated, report the comparison as confounded rather than a clean validation result. The application also offers simplified experimental suppression controls; this limitation concerns the free-growth validation configuration, not an assertion that the entire application lacks response controls.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Source: pitch.md sections 2 and 9 (free-growth replays and suppression limitations); user-provided validation requirement.</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Template prompt: Biggest technical risks between now and a real launch, and how you would address each — one line per risk. Checked against the saved source-template snapshot because the live Google Slides URL was not accessible to the web reader.</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https://docs.google.com/presentation/d/1CXkw9hBPNxoInDOgL3rJusoNmciNHHjcacEiGF9pNcw/edit?slide=id.p5#slide=id.p5</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3:20–4:00 (40 seconds). MARKET &amp; GO-TO-MARKET — FOUR-MINUTE PITCH</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SPEAKING CUES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Los Angeles: estimated $40 billion in insured losses from the January 2025 wildfires. Insurance totals do not capture the full ecological impact. Nature deserves assessment after every wildfire. Start with researchers and agency analysts who can inspect models, share regional data and compare scenarios. Long-term vision: open data and transparent models for ecological impacts and recovery. Seek research and data partners to help test that vision.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SOURCES</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Swiss Re Institute, sigma 1/2026: combined January 2025 Los Angeles wildfire insured losses of USD 40 billion.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https://www.swissre.com/institute/research/sigma-research/sigma-2026-01-natcat-2025-wildfire-storm-risk/global-natcat-losses-2025.html</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USGS, Economics of Wildland Fire: costs of wildfire-damaged ecosystems and complexity of valuation.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https://www.usgs.gov/centers/fort-collins-science-center/science/economics-wildland-fire</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INTERPRETATION</a:t>
            </a:r>
            <a:endParaRPr>
              <a:latin typeface="Plus Jakarta Sans"/>
              <a:ea typeface="Plus Jakarta Sans"/>
              <a:cs typeface="Plus Jakarta Sans"/>
            </a:endParaRPr>
          </a:p>
          <a:p xmlns:a="http://schemas.openxmlformats.org/drawingml/2006/main">
            <a:pPr marL="0" lvl="0" indent="0" algn="l">
              <a:lnSpc>
                <a:spcPct val="100000"/>
              </a:lnSpc>
              <a:spcBef>
                <a:spcPts val="0"/>
              </a:spcBef>
              <a:spcAft>
                <a:spcPts val="0"/>
              </a:spcAft>
              <a:buSzPts val="1400"/>
              <a:buNone/>
            </a:pPr>
            <a:r>
              <a:t>The MARKET SIZE template label is retained at the user’s request. The $40 billion is an estimate of insured losses from a wildfire event, not FireWatch’s addressable market, insurance premiums or payments already made. Ecological assessments already exist; this slide does not claim nobody measures natural-resource damage. Ecosystem impact assessment is a future vision, not a current validated FireWatch feature. Open-source release and contribution processes are planned; do not imply established community adoption. Fire can benefit adapted ecosystems, so assessment should distinguish damage, ecological benefits and recovery using local evidence.</a:t>
            </a:r>
            <a:endParaRPr>
              <a:latin typeface="Plus Jakarta Sans"/>
              <a:ea typeface="Plus Jakarta Sans"/>
              <a:cs typeface="Plus Jakarta Sans"/>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76d097eca540f3"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286510953b488d" /><Relationship Type="http://schemas.openxmlformats.org/officeDocument/2006/relationships/slideLayout" Target="/ppt/slideLayouts/slideLayout1.xml" Id="R030c1f7ce7e24c1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30c1f7ce7e24c1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6fe65f359b4d25" /><Relationship Type="http://schemas.openxmlformats.org/officeDocument/2006/relationships/image" Target="/ppt/media/image.png" Id="R6faebc139d6c42ac" /><Relationship Type="http://schemas.openxmlformats.org/officeDocument/2006/relationships/notesSlide" Target="/ppt/notesSlides/notesSlide1.xml" Id="Rc16f186bd6854c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9821e4f9cb4e20" /><Relationship Type="http://schemas.openxmlformats.org/officeDocument/2006/relationships/notesSlide" Target="/ppt/notesSlides/notesSlide2.xml" Id="Rf019fa72cf484a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710b75f3644728" /><Relationship Type="http://schemas.openxmlformats.org/officeDocument/2006/relationships/notesSlide" Target="/ppt/notesSlides/notesSlide3.xml" Id="Rbbd2db86c2ae40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187d0bde4c4bdf" /><Relationship Type="http://schemas.openxmlformats.org/officeDocument/2006/relationships/notesSlide" Target="/ppt/notesSlides/notesSlide4.xml" Id="R64893c638cd447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dd94ec39a54524" /><Relationship Type="http://schemas.openxmlformats.org/officeDocument/2006/relationships/notesSlide" Target="/ppt/notesSlides/notesSlide5.xml" Id="R431ff0dd2cba47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e61665092742c1" /><Relationship Type="http://schemas.openxmlformats.org/officeDocument/2006/relationships/notesSlide" Target="/ppt/notesSlides/notesSlide6.xml" Id="Rbef2f6d6379b49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18D0A889-F289-4B3F-A868-F474C6F4868E}"/>
              </a:ext>
            </a:extLst>
          </p:cNvPr>
          <p:cNvSpPr>
            <a:spLocks xmlns:a="http://schemas.openxmlformats.org/drawingml/2006/main" noGrp="1"/>
          </p:cNvSpPr>
          <p:nvPr/>
        </p:nvSpPr>
        <p:spPr>
          <a:xfrm xmlns:a="http://schemas.openxmlformats.org/drawingml/2006/main">
            <a:off x="548640" y="548640"/>
            <a:ext cx="7315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0" u="none" strike="noStrike" cap="none">
                <a:solidFill>
                  <a:srgbClr val="F86130"/>
                </a:solidFill>
                <a:latin typeface="Plus Jakarta Sans"/>
                <a:ea typeface="Plus Jakarta Sans"/>
                <a:cs typeface="Plus Jakarta Sans"/>
              </a:rPr>
              <a:t>FIREBIRD BUILD</a:t>
            </a:r>
            <a:endParaRPr sz="1300" b="0" i="0" u="none" strike="noStrike" cap="none">
              <a:solidFill>
                <a:schemeClr val="dk1"/>
              </a:solidFill>
              <a:latin typeface="Plus Jakarta Sans"/>
              <a:ea typeface="Plus Jakarta Sans"/>
              <a:cs typeface="Plus Jakarta Sans"/>
            </a:endParaRPr>
          </a:p>
        </p:txBody>
      </p:sp>
      <p:sp>
        <p:nvSpPr>
          <p:cNvPr id="17" name="Google Shape;17;p3">
            <a:extLst xmlns:a="http://schemas.openxmlformats.org/drawingml/2006/main">
              <a:ext uri="{FF2B5EF4-FFF2-40B4-BE49-F238E27FC236}">
                <a16:creationId xmlns:a16="http://schemas.microsoft.com/office/drawing/2014/main" id="{96E21B8D-C2D5-4F1D-A0EB-A835865CAAE4}"/>
              </a:ext>
            </a:extLst>
          </p:cNvPr>
          <p:cNvSpPr>
            <a:spLocks xmlns:a="http://schemas.openxmlformats.org/drawingml/2006/main" noGrp="1"/>
          </p:cNvSpPr>
          <p:nvPr/>
        </p:nvSpPr>
        <p:spPr>
          <a:xfrm xmlns:a="http://schemas.openxmlformats.org/drawingml/2006/main">
            <a:off x="548640" y="1280160"/>
            <a:ext cx="10515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2400"/>
              <a:buFont typeface="Space Grotesk"/>
              <a:buNone/>
            </a:pPr>
            <a:r>
              <a:rPr sz="2400" b="1" i="0" u="none" strike="noStrike" cap="none">
                <a:solidFill>
                  <a:srgbClr val="6B6B68"/>
                </a:solidFill>
                <a:latin typeface="Plus Jakarta Sans"/>
                <a:ea typeface="Plus Jakarta Sans"/>
                <a:cs typeface="Plus Jakarta Sans"/>
              </a:rPr>
              <a:t>FireWatch AI</a:t>
            </a:r>
            <a:endParaRPr sz="2400" b="0" i="0" u="none" strike="noStrike" cap="none">
              <a:solidFill>
                <a:schemeClr val="dk1"/>
              </a:solidFill>
              <a:latin typeface="Plus Jakarta Sans"/>
              <a:ea typeface="Plus Jakarta Sans"/>
              <a:cs typeface="Plus Jakarta Sans"/>
            </a:endParaRPr>
          </a:p>
        </p:txBody>
      </p:sp>
      <p:sp>
        <p:nvSpPr>
          <p:cNvPr id="18" name="Google Shape;18;p3">
            <a:extLst xmlns:a="http://schemas.openxmlformats.org/drawingml/2006/main">
              <a:ext uri="{FF2B5EF4-FFF2-40B4-BE49-F238E27FC236}">
                <a16:creationId xmlns:a16="http://schemas.microsoft.com/office/drawing/2014/main" id="{60FC180F-8E48-46FE-95EB-7643E1D8776A}"/>
              </a:ext>
            </a:extLst>
          </p:cNvPr>
          <p:cNvSpPr>
            <a:spLocks xmlns:a="http://schemas.openxmlformats.org/drawingml/2006/main" noGrp="1"/>
          </p:cNvSpPr>
          <p:nvPr/>
        </p:nvSpPr>
        <p:spPr>
          <a:xfrm xmlns:a="http://schemas.openxmlformats.org/drawingml/2006/main">
            <a:off x="548640" y="1874520"/>
            <a:ext cx="1051560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4800"/>
              <a:buFont typeface="Space Grotesk"/>
              <a:buNone/>
            </a:pPr>
            <a:r>
              <a:rPr sz="4800" b="1" i="0" u="none" strike="noStrike" cap="none">
                <a:solidFill>
                  <a:srgbClr val="0E0D0D"/>
                </a:solidFill>
                <a:latin typeface="Plus Jakarta Sans"/>
                <a:ea typeface="Plus Jakarta Sans"/>
                <a:cs typeface="Plus Jakarta Sans"/>
              </a:rPr>
              <a:t>FireWatch AI</a:t>
            </a:r>
            <a:endParaRPr sz="4800" b="0" i="0" u="none" strike="noStrike" cap="none">
              <a:solidFill>
                <a:schemeClr val="dk1"/>
              </a:solidFill>
              <a:latin typeface="Plus Jakarta Sans"/>
              <a:ea typeface="Plus Jakarta Sans"/>
              <a:cs typeface="Plus Jakarta Sans"/>
            </a:endParaRPr>
          </a:p>
        </p:txBody>
      </p:sp>
      <p:cxnSp>
        <p:nvCxnSpPr>
          <p:cNvPr id="49" name="Google Shape;19;p3"/>
          <p:cNvCxnSpPr/>
          <p:nvPr/>
        </p:nvCxnSpPr>
        <p:spPr>
          <a:xfrm xmlns:a="http://schemas.openxmlformats.org/drawingml/2006/main">
            <a:off x="548640" y="3063240"/>
            <a:ext cx="2011680" cy="0"/>
          </a:xfrm>
          <a:prstGeom xmlns:a="http://schemas.openxmlformats.org/drawingml/2006/main" prst="straightConnector1">
            <a:avLst/>
          </a:prstGeom>
          <a:ln xmlns:a="http://schemas.openxmlformats.org/drawingml/2006/main" w="25400" cap="flat">
            <a:solidFill>
              <a:srgbClr val="F86130"/>
            </a:solidFill>
            <a:prstDash val="solid"/>
            <a:round/>
            <a:headEnd type="none" w="sm" len="sm"/>
            <a:tailEnd type="none" w="sm" len="sm"/>
          </a:ln>
        </p:spPr>
      </p:cxnSp>
      <p:sp>
        <p:nvSpPr>
          <p:cNvPr id="20" name="Google Shape;20;p3">
            <a:extLst xmlns:a="http://schemas.openxmlformats.org/drawingml/2006/main">
              <a:ext uri="{FF2B5EF4-FFF2-40B4-BE49-F238E27FC236}">
                <a16:creationId xmlns:a16="http://schemas.microsoft.com/office/drawing/2014/main" id="{D96158AE-11F0-4074-9248-27E1C10848E6}"/>
              </a:ext>
            </a:extLst>
          </p:cNvPr>
          <p:cNvSpPr>
            <a:spLocks xmlns:a="http://schemas.openxmlformats.org/drawingml/2006/main" noGrp="1"/>
          </p:cNvSpPr>
          <p:nvPr/>
        </p:nvSpPr>
        <p:spPr>
          <a:xfrm xmlns:a="http://schemas.openxmlformats.org/drawingml/2006/main">
            <a:off x="548640" y="3246120"/>
            <a:ext cx="100584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1800"/>
              <a:buFont typeface="Inter"/>
              <a:buNone/>
            </a:pPr>
            <a:r>
              <a:rPr sz="1800" b="0" i="1" u="none" strike="noStrike" cap="none">
                <a:solidFill>
                  <a:srgbClr val="0E0D0D"/>
                </a:solidFill>
                <a:latin typeface="Plus Jakarta Sans"/>
                <a:ea typeface="Plus Jakarta Sans"/>
                <a:cs typeface="Plus Jakarta Sans"/>
              </a:rPr>
              <a:t>See where wildfire could spread. Explore how to respond.</a:t>
            </a:r>
            <a:endParaRPr sz="1800" b="0" i="0" u="none" strike="noStrike" cap="none">
              <a:solidFill>
                <a:schemeClr val="dk1"/>
              </a:solidFill>
              <a:latin typeface="Plus Jakarta Sans"/>
              <a:ea typeface="Plus Jakarta Sans"/>
              <a:cs typeface="Plus Jakarta Sans"/>
            </a:endParaRPr>
          </a:p>
        </p:txBody>
      </p:sp>
      <p:sp>
        <p:nvSpPr>
          <p:cNvPr id="21" name="Google Shape;21;p3">
            <a:extLst xmlns:a="http://schemas.openxmlformats.org/drawingml/2006/main">
              <a:ext uri="{FF2B5EF4-FFF2-40B4-BE49-F238E27FC236}">
                <a16:creationId xmlns:a16="http://schemas.microsoft.com/office/drawing/2014/main" id="{DC00E219-A169-4D3C-B093-A6B11222148C}"/>
              </a:ext>
            </a:extLst>
          </p:cNvPr>
          <p:cNvSpPr>
            <a:spLocks xmlns:a="http://schemas.openxmlformats.org/drawingml/2006/main" noGrp="1"/>
          </p:cNvSpPr>
          <p:nvPr/>
        </p:nvSpPr>
        <p:spPr>
          <a:xfrm xmlns:a="http://schemas.openxmlformats.org/drawingml/2006/main">
            <a:off x="548640" y="4482040"/>
            <a:ext cx="5029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PRESENTER</a:t>
            </a:r>
            <a:endParaRPr sz="1000" b="0" i="0" u="none" strike="noStrike" cap="none">
              <a:solidFill>
                <a:schemeClr val="dk1"/>
              </a:solidFill>
              <a:latin typeface="Plus Jakarta Sans"/>
              <a:ea typeface="Plus Jakarta Sans"/>
              <a:cs typeface="Plus Jakarta Sans"/>
            </a:endParaRPr>
          </a:p>
        </p:txBody>
      </p:sp>
      <p:sp>
        <p:nvSpPr>
          <p:cNvPr id="22" name="Google Shape;22;p3">
            <a:extLst xmlns:a="http://schemas.openxmlformats.org/drawingml/2006/main">
              <a:ext uri="{FF2B5EF4-FFF2-40B4-BE49-F238E27FC236}">
                <a16:creationId xmlns:a16="http://schemas.microsoft.com/office/drawing/2014/main" id="{7DAAC14E-70A9-4128-8732-FD5E5057860A}"/>
              </a:ext>
            </a:extLst>
          </p:cNvPr>
          <p:cNvSpPr>
            <a:spLocks xmlns:a="http://schemas.openxmlformats.org/drawingml/2006/main" noGrp="1"/>
          </p:cNvSpPr>
          <p:nvPr/>
        </p:nvSpPr>
        <p:spPr>
          <a:xfrm xmlns:a="http://schemas.openxmlformats.org/drawingml/2006/main">
            <a:off x="548640" y="4756360"/>
            <a:ext cx="5029200" cy="36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1400"/>
              <a:buFont typeface="Inter"/>
              <a:buNone/>
            </a:pPr>
            <a:r>
              <a:rPr sz="1400" b="1" i="0" u="none" strike="noStrike" cap="none">
                <a:solidFill>
                  <a:srgbClr val="0E0D0D"/>
                </a:solidFill>
                <a:latin typeface="Plus Jakarta Sans"/>
                <a:ea typeface="Plus Jakarta Sans"/>
                <a:cs typeface="Plus Jakarta Sans"/>
              </a:rPr>
              <a:t>Varuzhan Harutyunyan</a:t>
            </a:r>
            <a:endParaRPr sz="1400" b="0" i="0" u="none" strike="noStrike" cap="none">
              <a:solidFill>
                <a:schemeClr val="dk1"/>
              </a:solidFill>
              <a:latin typeface="Plus Jakarta Sans"/>
              <a:ea typeface="Plus Jakarta Sans"/>
              <a:cs typeface="Plus Jakarta Sans"/>
            </a:endParaRPr>
          </a:p>
        </p:txBody>
      </p:sp>
      <p:sp>
        <p:nvSpPr>
          <p:cNvPr id="23" name="Google Shape;23;p3">
            <a:extLst xmlns:a="http://schemas.openxmlformats.org/drawingml/2006/main">
              <a:ext uri="{FF2B5EF4-FFF2-40B4-BE49-F238E27FC236}">
                <a16:creationId xmlns:a16="http://schemas.microsoft.com/office/drawing/2014/main" id="{F79255F3-FD3F-4450-A2F6-3DA097D7EB87}"/>
              </a:ext>
            </a:extLst>
          </p:cNvPr>
          <p:cNvSpPr>
            <a:spLocks xmlns:a="http://schemas.openxmlformats.org/drawingml/2006/main" noGrp="1"/>
          </p:cNvSpPr>
          <p:nvPr/>
        </p:nvSpPr>
        <p:spPr>
          <a:xfrm xmlns:a="http://schemas.openxmlformats.org/drawingml/2006/main">
            <a:off x="5943600" y="4482040"/>
            <a:ext cx="54864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TEAM</a:t>
            </a:r>
            <a:endParaRPr sz="1000" b="0" i="0" u="none" strike="noStrike" cap="none">
              <a:solidFill>
                <a:schemeClr val="dk1"/>
              </a:solidFill>
              <a:latin typeface="Plus Jakarta Sans"/>
              <a:ea typeface="Plus Jakarta Sans"/>
              <a:cs typeface="Plus Jakarta Sans"/>
            </a:endParaRPr>
          </a:p>
        </p:txBody>
      </p:sp>
      <p:sp>
        <p:nvSpPr>
          <p:cNvPr id="24" name="Google Shape;24;p3">
            <a:extLst xmlns:a="http://schemas.openxmlformats.org/drawingml/2006/main">
              <a:ext uri="{FF2B5EF4-FFF2-40B4-BE49-F238E27FC236}">
                <a16:creationId xmlns:a16="http://schemas.microsoft.com/office/drawing/2014/main" id="{0B3B27F1-CC80-4176-9285-AC1B5CE30031}"/>
              </a:ext>
            </a:extLst>
          </p:cNvPr>
          <p:cNvSpPr>
            <a:spLocks xmlns:a="http://schemas.openxmlformats.org/drawingml/2006/main" noGrp="1"/>
          </p:cNvSpPr>
          <p:nvPr/>
        </p:nvSpPr>
        <p:spPr>
          <a:xfrm xmlns:a="http://schemas.openxmlformats.org/drawingml/2006/main">
            <a:off x="5943600" y="4756404"/>
            <a:ext cx="54864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1400"/>
              <a:buFont typeface="Inter"/>
              <a:buNone/>
            </a:pPr>
            <a:r>
              <a:rPr sz="1400" b="1" i="0" u="none" strike="noStrike" cap="none">
                <a:solidFill>
                  <a:srgbClr val="0E0D0D"/>
                </a:solidFill>
                <a:latin typeface="Plus Jakarta Sans"/>
                <a:ea typeface="Plus Jakarta Sans"/>
                <a:cs typeface="Plus Jakarta Sans"/>
              </a:rPr>
              <a:t>Ruben Sargsyan, Vazgen Torosyan,</a:t>
            </a:r>
            <a:endParaRPr sz="14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0E0D0D"/>
              </a:buClr>
              <a:buSzPts val="1400"/>
              <a:buFont typeface="Inter"/>
              <a:buNone/>
            </a:pPr>
            <a:r>
              <a:rPr sz="1400" b="1" i="0" u="none" strike="noStrike" cap="none">
                <a:solidFill>
                  <a:srgbClr val="0E0D0D"/>
                </a:solidFill>
                <a:latin typeface="Plus Jakarta Sans"/>
                <a:ea typeface="Plus Jakarta Sans"/>
                <a:cs typeface="Plus Jakarta Sans"/>
              </a:rPr>
              <a:t>Tigran Makichyan</a:t>
            </a:r>
          </a:p>
        </p:txBody>
      </p:sp>
      <p:pic>
        <p:nvPicPr>
          <p:cNvPr id="55" name="Google Shape;25;p3"/>
          <p:cNvPicPr>
            <a:picLocks xmlns:a="http://schemas.openxmlformats.org/drawingml/2006/main" noChangeAspect="1"/>
          </p:cNvPicPr>
          <p:nvPr/>
        </p:nvPicPr>
        <p:blipFill rotWithShape="1">
          <a:blip xmlns:r="http://schemas.openxmlformats.org/officeDocument/2006/relationships" xmlns:a="http://schemas.openxmlformats.org/drawingml/2006/main" r:embed="R6faebc139d6c42ac">
            <a:alphaModFix/>
          </a:blip>
          <a:srcRect xmlns:a="http://schemas.openxmlformats.org/drawingml/2006/main" l="0" t="0" r="0" b="0"/>
          <a:stretch xmlns:a="http://schemas.openxmlformats.org/drawingml/2006/main"/>
        </p:blipFill>
        <p:spPr>
          <a:xfrm xmlns:a="http://schemas.openxmlformats.org/drawingml/2006/main">
            <a:off x="548650" y="5889483"/>
            <a:ext cx="11029375" cy="41911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495558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Google Shape;31;p4">
            <a:extLst xmlns:a="http://schemas.openxmlformats.org/drawingml/2006/main">
              <a:ext uri="{FF2B5EF4-FFF2-40B4-BE49-F238E27FC236}">
                <a16:creationId xmlns:a16="http://schemas.microsoft.com/office/drawing/2014/main" id="{AD9A09F8-373E-47BA-B28E-1B12E3568851}"/>
              </a:ext>
            </a:extLst>
          </p:cNvPr>
          <p:cNvSpPr>
            <a:spLocks xmlns:a="http://schemas.openxmlformats.org/drawingml/2006/main" noGrp="1"/>
          </p:cNvSpPr>
          <p:nvPr/>
        </p:nvSpPr>
        <p:spPr>
          <a:xfrm xmlns:a="http://schemas.openxmlformats.org/drawingml/2006/main">
            <a:off x="548640" y="36576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PROBLEM</a:t>
            </a:r>
            <a:endParaRPr sz="1200" b="0" i="0" u="none" strike="noStrike" cap="none">
              <a:solidFill>
                <a:schemeClr val="dk1"/>
              </a:solidFill>
              <a:latin typeface="Plus Jakarta Sans"/>
              <a:ea typeface="Plus Jakarta Sans"/>
              <a:cs typeface="Plus Jakarta Sans"/>
            </a:endParaRPr>
          </a:p>
        </p:txBody>
      </p:sp>
      <p:sp>
        <p:nvSpPr>
          <p:cNvPr id="32" name="Google Shape;32;p4">
            <a:extLst xmlns:a="http://schemas.openxmlformats.org/drawingml/2006/main">
              <a:ext uri="{FF2B5EF4-FFF2-40B4-BE49-F238E27FC236}">
                <a16:creationId xmlns:a16="http://schemas.microsoft.com/office/drawing/2014/main" id="{1D448DFC-E9B1-4B61-9AA4-D120430EBD3E}"/>
              </a:ext>
            </a:extLst>
          </p:cNvPr>
          <p:cNvSpPr>
            <a:spLocks xmlns:a="http://schemas.openxmlformats.org/drawingml/2006/main" noGrp="1"/>
          </p:cNvSpPr>
          <p:nvPr/>
        </p:nvSpPr>
        <p:spPr>
          <a:xfrm xmlns:a="http://schemas.openxmlformats.org/drawingml/2006/main">
            <a:off x="548640" y="777240"/>
            <a:ext cx="105156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200"/>
              <a:buFont typeface="Space Grotesk"/>
              <a:buNone/>
            </a:pPr>
            <a:r>
              <a:rPr sz="3200" b="1" i="0" u="none" strike="noStrike" cap="none">
                <a:solidFill>
                  <a:srgbClr val="0E0D0D"/>
                </a:solidFill>
                <a:latin typeface="Plus Jakarta Sans"/>
                <a:ea typeface="Plus Jakarta Sans"/>
                <a:cs typeface="Plus Jakarta Sans"/>
              </a:rPr>
              <a:t>Responders must act while wildfire</a:t>
            </a:r>
            <a:endParaRPr sz="32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0E0D0D"/>
              </a:buClr>
              <a:buSzPts val="3200"/>
              <a:buFont typeface="Space Grotesk"/>
              <a:buNone/>
            </a:pPr>
            <a:r>
              <a:rPr sz="3200" b="1" i="0" u="none" strike="noStrike" cap="none">
                <a:solidFill>
                  <a:srgbClr val="0E0D0D"/>
                </a:solidFill>
                <a:latin typeface="Plus Jakarta Sans"/>
                <a:ea typeface="Plus Jakarta Sans"/>
                <a:cs typeface="Plus Jakarta Sans"/>
              </a:rPr>
              <a:t>spread remains uncertain.</a:t>
            </a:r>
          </a:p>
        </p:txBody>
      </p:sp>
      <p:sp>
        <p:nvSpPr>
          <p:cNvPr id="33" name="Google Shape;33;p4">
            <a:extLst xmlns:a="http://schemas.openxmlformats.org/drawingml/2006/main">
              <a:ext uri="{FF2B5EF4-FFF2-40B4-BE49-F238E27FC236}">
                <a16:creationId xmlns:a16="http://schemas.microsoft.com/office/drawing/2014/main" id="{ED5A2F43-5541-4E16-BF69-30421D81DF6D}"/>
              </a:ext>
            </a:extLst>
          </p:cNvPr>
          <p:cNvSpPr>
            <a:spLocks xmlns:a="http://schemas.openxmlformats.org/drawingml/2006/main" noGrp="1"/>
          </p:cNvSpPr>
          <p:nvPr/>
        </p:nvSpPr>
        <p:spPr>
          <a:xfrm xmlns:a="http://schemas.openxmlformats.org/drawingml/2006/main">
            <a:off x="548640" y="201168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PROBLEM STATEMENT</a:t>
            </a:r>
            <a:endParaRPr sz="1000" b="0" i="0" u="none" strike="noStrike" cap="none">
              <a:solidFill>
                <a:schemeClr val="dk1"/>
              </a:solidFill>
              <a:latin typeface="Plus Jakarta Sans"/>
              <a:ea typeface="Plus Jakarta Sans"/>
              <a:cs typeface="Plus Jakarta Sans"/>
            </a:endParaRPr>
          </a:p>
        </p:txBody>
      </p:sp>
      <p:sp>
        <p:nvSpPr>
          <p:cNvPr id="34" name="Google Shape;34;p4">
            <a:extLst xmlns:a="http://schemas.openxmlformats.org/drawingml/2006/main">
              <a:ext uri="{FF2B5EF4-FFF2-40B4-BE49-F238E27FC236}">
                <a16:creationId xmlns:a16="http://schemas.microsoft.com/office/drawing/2014/main" id="{69E1A5F0-E104-489C-B5C1-51326D767222}"/>
              </a:ext>
            </a:extLst>
          </p:cNvPr>
          <p:cNvSpPr>
            <a:spLocks xmlns:a="http://schemas.openxmlformats.org/drawingml/2006/main" noGrp="1"/>
          </p:cNvSpPr>
          <p:nvPr/>
        </p:nvSpPr>
        <p:spPr>
          <a:xfrm xmlns:a="http://schemas.openxmlformats.org/drawingml/2006/main">
            <a:off x="548640" y="2304288"/>
            <a:ext cx="11064240" cy="9144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 name="Google Shape;35;p4">
            <a:extLst xmlns:a="http://schemas.openxmlformats.org/drawingml/2006/main">
              <a:ext uri="{FF2B5EF4-FFF2-40B4-BE49-F238E27FC236}">
                <a16:creationId xmlns:a16="http://schemas.microsoft.com/office/drawing/2014/main" id="{856DF8D5-2A11-45F8-A8D3-A715E03D4DBA}"/>
              </a:ext>
            </a:extLst>
          </p:cNvPr>
          <p:cNvSpPr>
            <a:spLocks xmlns:a="http://schemas.openxmlformats.org/drawingml/2006/main" noGrp="1"/>
          </p:cNvSpPr>
          <p:nvPr/>
        </p:nvSpPr>
        <p:spPr>
          <a:xfrm xmlns:a="http://schemas.openxmlformats.org/drawingml/2006/main">
            <a:off x="731520" y="2304288"/>
            <a:ext cx="106984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Changing wind, terrain and vegetation shape a wildfire’s path. Responders must anticipate what could be threatened next and compare where to focus limited resources.</a:t>
            </a:r>
            <a:endParaRPr sz="1300" b="0" i="0" u="none" strike="noStrike" cap="none">
              <a:solidFill>
                <a:schemeClr val="dk1"/>
              </a:solidFill>
              <a:latin typeface="Plus Jakarta Sans"/>
              <a:ea typeface="Plus Jakarta Sans"/>
              <a:cs typeface="Plus Jakarta Sans"/>
            </a:endParaRPr>
          </a:p>
        </p:txBody>
      </p:sp>
      <p:sp>
        <p:nvSpPr>
          <p:cNvPr id="36" name="Google Shape;36;p4">
            <a:extLst xmlns:a="http://schemas.openxmlformats.org/drawingml/2006/main">
              <a:ext uri="{FF2B5EF4-FFF2-40B4-BE49-F238E27FC236}">
                <a16:creationId xmlns:a16="http://schemas.microsoft.com/office/drawing/2014/main" id="{3BA99411-F9AC-4023-94A5-0C1A3671C651}"/>
              </a:ext>
            </a:extLst>
          </p:cNvPr>
          <p:cNvSpPr>
            <a:spLocks xmlns:a="http://schemas.openxmlformats.org/drawingml/2006/main" noGrp="1"/>
          </p:cNvSpPr>
          <p:nvPr/>
        </p:nvSpPr>
        <p:spPr>
          <a:xfrm xmlns:a="http://schemas.openxmlformats.org/drawingml/2006/main">
            <a:off x="548640" y="3474720"/>
            <a:ext cx="5349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WHY THIS PROBLEM</a:t>
            </a:r>
            <a:endParaRPr sz="1000" b="0" i="0" u="none" strike="noStrike" cap="none">
              <a:solidFill>
                <a:schemeClr val="dk1"/>
              </a:solidFill>
              <a:latin typeface="Plus Jakarta Sans"/>
              <a:ea typeface="Plus Jakarta Sans"/>
              <a:cs typeface="Plus Jakarta Sans"/>
            </a:endParaRPr>
          </a:p>
        </p:txBody>
      </p:sp>
      <p:sp>
        <p:nvSpPr>
          <p:cNvPr id="37" name="Google Shape;37;p4">
            <a:extLst xmlns:a="http://schemas.openxmlformats.org/drawingml/2006/main">
              <a:ext uri="{FF2B5EF4-FFF2-40B4-BE49-F238E27FC236}">
                <a16:creationId xmlns:a16="http://schemas.microsoft.com/office/drawing/2014/main" id="{B541B4B0-B7B1-4DB2-B4DF-577CD873B327}"/>
              </a:ext>
            </a:extLst>
          </p:cNvPr>
          <p:cNvSpPr>
            <a:spLocks xmlns:a="http://schemas.openxmlformats.org/drawingml/2006/main" noGrp="1"/>
          </p:cNvSpPr>
          <p:nvPr/>
        </p:nvSpPr>
        <p:spPr>
          <a:xfrm xmlns:a="http://schemas.openxmlformats.org/drawingml/2006/main">
            <a:off x="548640" y="3767328"/>
            <a:ext cx="5349240" cy="14630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 name="Google Shape;38;p4">
            <a:extLst xmlns:a="http://schemas.openxmlformats.org/drawingml/2006/main">
              <a:ext uri="{FF2B5EF4-FFF2-40B4-BE49-F238E27FC236}">
                <a16:creationId xmlns:a16="http://schemas.microsoft.com/office/drawing/2014/main" id="{9F996D0D-A98C-4963-841D-41F642C3203E}"/>
              </a:ext>
            </a:extLst>
          </p:cNvPr>
          <p:cNvSpPr>
            <a:spLocks xmlns:a="http://schemas.openxmlformats.org/drawingml/2006/main" noGrp="1"/>
          </p:cNvSpPr>
          <p:nvPr/>
        </p:nvSpPr>
        <p:spPr>
          <a:xfrm xmlns:a="http://schemas.openxmlformats.org/drawingml/2006/main">
            <a:off x="731520" y="3767328"/>
            <a:ext cx="498348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Fires accounted for </a:t>
            </a:r>
            <a:r>
              <a:rPr sz="1300" b="1" i="1" u="none" strike="noStrike" cap="none">
                <a:solidFill>
                  <a:srgbClr val="F86130"/>
                </a:solidFill>
                <a:latin typeface="Plus Jakarta Sans"/>
                <a:ea typeface="Plus Jakarta Sans"/>
                <a:cs typeface="Plus Jakarta Sans"/>
              </a:rPr>
              <a:t>42%</a:t>
            </a:r>
            <a:r>
              <a:rPr sz="1300" b="0" i="1" u="none" strike="noStrike" cap="none">
                <a:solidFill>
                  <a:srgbClr val="F86130"/>
                </a:solidFill>
                <a:latin typeface="Plus Jakarta Sans"/>
                <a:ea typeface="Plus Jakarta Sans"/>
                <a:cs typeface="Plus Jakarta Sans"/>
              </a:rPr>
              <a:t> of global tree-cover loss in 2025. The consequences extend beyond burned land, threatening communities and exposing people far away to smoke.</a:t>
            </a:r>
            <a:endParaRPr sz="1300" b="0" i="0" u="none" strike="noStrike" cap="none">
              <a:solidFill>
                <a:schemeClr val="dk1"/>
              </a:solidFill>
              <a:latin typeface="Plus Jakarta Sans"/>
              <a:ea typeface="Plus Jakarta Sans"/>
              <a:cs typeface="Plus Jakarta Sans"/>
            </a:endParaRPr>
          </a:p>
        </p:txBody>
      </p:sp>
      <p:sp>
        <p:nvSpPr>
          <p:cNvPr id="39" name="Google Shape;39;p4">
            <a:extLst xmlns:a="http://schemas.openxmlformats.org/drawingml/2006/main">
              <a:ext uri="{FF2B5EF4-FFF2-40B4-BE49-F238E27FC236}">
                <a16:creationId xmlns:a16="http://schemas.microsoft.com/office/drawing/2014/main" id="{A561B27C-F667-4C3B-8C63-D7CE07A57606}"/>
              </a:ext>
            </a:extLst>
          </p:cNvPr>
          <p:cNvSpPr>
            <a:spLocks xmlns:a="http://schemas.openxmlformats.org/drawingml/2006/main" noGrp="1"/>
          </p:cNvSpPr>
          <p:nvPr/>
        </p:nvSpPr>
        <p:spPr>
          <a:xfrm xmlns:a="http://schemas.openxmlformats.org/drawingml/2006/main">
            <a:off x="6263640" y="3474720"/>
            <a:ext cx="5349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END USER (BE SPECIFIC)</a:t>
            </a:r>
            <a:endParaRPr sz="1000" b="0" i="0" u="none" strike="noStrike" cap="none">
              <a:solidFill>
                <a:schemeClr val="dk1"/>
              </a:solidFill>
              <a:latin typeface="Plus Jakarta Sans"/>
              <a:ea typeface="Plus Jakarta Sans"/>
              <a:cs typeface="Plus Jakarta Sans"/>
            </a:endParaRPr>
          </a:p>
        </p:txBody>
      </p:sp>
      <p:sp>
        <p:nvSpPr>
          <p:cNvPr id="40" name="Google Shape;40;p4">
            <a:extLst xmlns:a="http://schemas.openxmlformats.org/drawingml/2006/main">
              <a:ext uri="{FF2B5EF4-FFF2-40B4-BE49-F238E27FC236}">
                <a16:creationId xmlns:a16="http://schemas.microsoft.com/office/drawing/2014/main" id="{478BC258-B2A0-45E1-BD66-7349F9C513F9}"/>
              </a:ext>
            </a:extLst>
          </p:cNvPr>
          <p:cNvSpPr>
            <a:spLocks xmlns:a="http://schemas.openxmlformats.org/drawingml/2006/main" noGrp="1"/>
          </p:cNvSpPr>
          <p:nvPr/>
        </p:nvSpPr>
        <p:spPr>
          <a:xfrm xmlns:a="http://schemas.openxmlformats.org/drawingml/2006/main">
            <a:off x="6263640" y="3767328"/>
            <a:ext cx="5349240" cy="14630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 name="Google Shape;41;p4">
            <a:extLst xmlns:a="http://schemas.openxmlformats.org/drawingml/2006/main">
              <a:ext uri="{FF2B5EF4-FFF2-40B4-BE49-F238E27FC236}">
                <a16:creationId xmlns:a16="http://schemas.microsoft.com/office/drawing/2014/main" id="{27759DC4-92B4-46C2-9A5F-8890443F3FC3}"/>
              </a:ext>
            </a:extLst>
          </p:cNvPr>
          <p:cNvSpPr>
            <a:spLocks xmlns:a="http://schemas.openxmlformats.org/drawingml/2006/main" noGrp="1"/>
          </p:cNvSpPr>
          <p:nvPr/>
        </p:nvSpPr>
        <p:spPr>
          <a:xfrm xmlns:a="http://schemas.openxmlformats.org/drawingml/2006/main">
            <a:off x="6446520" y="3767328"/>
            <a:ext cx="498348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A fire-behavior analyst supporting an incident commander, assessing potential spread toward communities and comparing containment options.</a:t>
            </a:r>
            <a:endParaRPr sz="1300" b="0" i="0" u="none" strike="noStrike" cap="none">
              <a:solidFill>
                <a:schemeClr val="dk1"/>
              </a:solidFill>
              <a:latin typeface="Plus Jakarta Sans"/>
              <a:ea typeface="Plus Jakarta Sans"/>
              <a:cs typeface="Plus Jakarta Sans"/>
            </a:endParaRPr>
          </a:p>
        </p:txBody>
      </p:sp>
      <p:cxnSp>
        <p:nvCxnSpPr>
          <p:cNvPr id="105" name="Google Shape;42;p4"/>
          <p:cNvCxnSpPr/>
          <p:nvPr/>
        </p:nvCxnSpPr>
        <p:spPr>
          <a:xfrm xmlns:a="http://schemas.openxmlformats.org/drawingml/2006/main">
            <a:off x="548640" y="6355080"/>
            <a:ext cx="11091672"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43" name="Google Shape;43;p4">
            <a:extLst xmlns:a="http://schemas.openxmlformats.org/drawingml/2006/main">
              <a:ext uri="{FF2B5EF4-FFF2-40B4-BE49-F238E27FC236}">
                <a16:creationId xmlns:a16="http://schemas.microsoft.com/office/drawing/2014/main" id="{46BD88D2-C0AC-4A41-84B7-A7EBD7F55D51}"/>
              </a:ext>
            </a:extLst>
          </p:cNvPr>
          <p:cNvSpPr>
            <a:spLocks xmlns:a="http://schemas.openxmlformats.org/drawingml/2006/main" noGrp="1"/>
          </p:cNvSpPr>
          <p:nvPr/>
        </p:nvSpPr>
        <p:spPr>
          <a:xfrm xmlns:a="http://schemas.openxmlformats.org/drawingml/2006/main">
            <a:off x="548640" y="642823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44" name="Google Shape;44;p4">
            <a:extLst xmlns:a="http://schemas.openxmlformats.org/drawingml/2006/main">
              <a:ext uri="{FF2B5EF4-FFF2-40B4-BE49-F238E27FC236}">
                <a16:creationId xmlns:a16="http://schemas.microsoft.com/office/drawing/2014/main" id="{F758FD28-50C1-4D4F-A8E3-AA84E6824E7A}"/>
              </a:ext>
            </a:extLst>
          </p:cNvPr>
          <p:cNvSpPr>
            <a:spLocks xmlns:a="http://schemas.openxmlformats.org/drawingml/2006/main" noGrp="1"/>
          </p:cNvSpPr>
          <p:nvPr/>
        </p:nvSpPr>
        <p:spPr>
          <a:xfrm xmlns:a="http://schemas.openxmlformats.org/drawingml/2006/main">
            <a:off x="11155680" y="6428232"/>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2</a:t>
            </a:r>
            <a:endParaRPr sz="900" b="0" i="0" u="none" strike="noStrike" cap="none">
              <a:solidFill>
                <a:schemeClr val="dk1"/>
              </a:solidFill>
              <a:latin typeface="Calibri"/>
              <a:ea typeface="Calibri"/>
              <a:cs typeface="Calibri"/>
            </a:endParaRPr>
          </a:p>
        </p:txBody>
      </p:sp>
      <p:sp>
        <p:nvSpPr>
          <p:cNvPr id="69" name="">
            <a:extLst xmlns:a="http://schemas.openxmlformats.org/drawingml/2006/main">
              <a:ext uri="{FF2B5EF4-FFF2-40B4-BE49-F238E27FC236}">
                <a16:creationId xmlns:a16="http://schemas.microsoft.com/office/drawing/2014/main" id="{A6785821-5408-40BB-A14C-D25A3E9259B1}"/>
              </a:ext>
            </a:extLst>
          </p:cNvPr>
          <p:cNvSpPr>
            <a:spLocks xmlns:a="http://schemas.openxmlformats.org/drawingml/2006/main" noGrp="1"/>
          </p:cNvSpPr>
          <p:nvPr/>
        </p:nvSpPr>
        <p:spPr>
          <a:xfrm xmlns:a="http://schemas.openxmlformats.org/drawingml/2006/main">
            <a:off x="548640" y="5524500"/>
            <a:ext cx="1106424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a:solidFill>
                  <a:srgbClr val="6B6B68"/>
                </a:solidFill>
                <a:latin typeface="Plus Jakarta Sans"/>
                <a:ea typeface="Plus Jakarta Sans"/>
                <a:cs typeface="Plus Jakarta Sans"/>
              </a:defRPr>
            </a:pPr>
            <a:r>
              <a:rPr sz="1050">
                <a:solidFill>
                  <a:srgbClr val="6B6B68"/>
                </a:solidFill>
                <a:latin typeface="Plus Jakarta Sans"/>
                <a:ea typeface="Plus Jakarta Sans"/>
                <a:cs typeface="Plus Jakarta Sans"/>
              </a:rPr>
              <a:t>Sources: WRI / UMD, 2025 tree-cover loss data (2026 release); WHO, wildfire smoke (2026).</a:t>
            </a:r>
          </a:p>
        </p:txBody>
      </p:sp>
    </p:spTree>
    <p:extLst>
      <p:ext uri="{BB962C8B-B14F-4D97-AF65-F5344CB8AC3E}">
        <p14:creationId xmlns:p14="http://schemas.microsoft.com/office/powerpoint/2010/main" val="20903267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0" name="Google Shape;50;p5">
            <a:extLst xmlns:a="http://schemas.openxmlformats.org/drawingml/2006/main">
              <a:ext uri="{FF2B5EF4-FFF2-40B4-BE49-F238E27FC236}">
                <a16:creationId xmlns:a16="http://schemas.microsoft.com/office/drawing/2014/main" id="{1A548CBD-085C-4F17-8279-83E617377D2B}"/>
              </a:ext>
            </a:extLst>
          </p:cNvPr>
          <p:cNvSpPr>
            <a:spLocks xmlns:a="http://schemas.openxmlformats.org/drawingml/2006/main" noGrp="1"/>
          </p:cNvSpPr>
          <p:nvPr/>
        </p:nvSpPr>
        <p:spPr>
          <a:xfrm xmlns:a="http://schemas.openxmlformats.org/drawingml/2006/main">
            <a:off x="548640" y="365760"/>
            <a:ext cx="9144000" cy="36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SOLUTION</a:t>
            </a:r>
            <a:endParaRPr sz="1200" b="0" i="0" u="none" strike="noStrike" cap="none">
              <a:solidFill>
                <a:schemeClr val="dk1"/>
              </a:solidFill>
              <a:latin typeface="Plus Jakarta Sans"/>
              <a:ea typeface="Plus Jakarta Sans"/>
              <a:cs typeface="Plus Jakarta Sans"/>
            </a:endParaRPr>
          </a:p>
        </p:txBody>
      </p:sp>
      <p:sp>
        <p:nvSpPr>
          <p:cNvPr id="51" name="Google Shape;51;p5">
            <a:extLst xmlns:a="http://schemas.openxmlformats.org/drawingml/2006/main">
              <a:ext uri="{FF2B5EF4-FFF2-40B4-BE49-F238E27FC236}">
                <a16:creationId xmlns:a16="http://schemas.microsoft.com/office/drawing/2014/main" id="{F2318941-DCCA-4CBB-89CC-20E16BEDD8EC}"/>
              </a:ext>
            </a:extLst>
          </p:cNvPr>
          <p:cNvSpPr>
            <a:spLocks xmlns:a="http://schemas.openxmlformats.org/drawingml/2006/main" noGrp="1"/>
          </p:cNvSpPr>
          <p:nvPr/>
        </p:nvSpPr>
        <p:spPr>
          <a:xfrm xmlns:a="http://schemas.openxmlformats.org/drawingml/2006/main">
            <a:off x="548640" y="777240"/>
            <a:ext cx="10515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200"/>
              <a:buFont typeface="Space Grotesk"/>
              <a:buNone/>
            </a:pPr>
            <a:r>
              <a:rPr sz="3200" b="1" i="0" u="none" strike="noStrike" cap="none">
                <a:solidFill>
                  <a:srgbClr val="0E0D0D"/>
                </a:solidFill>
                <a:latin typeface="Plus Jakarta Sans"/>
                <a:ea typeface="Plus Jakarta Sans"/>
                <a:cs typeface="Plus Jakarta Sans"/>
              </a:rPr>
              <a:t>Explore wildfire spread and test response scenarios</a:t>
            </a:r>
            <a:endParaRPr sz="3200" b="0" i="0" u="none" strike="noStrike" cap="none">
              <a:solidFill>
                <a:schemeClr val="dk1"/>
              </a:solidFill>
              <a:latin typeface="Plus Jakarta Sans"/>
              <a:ea typeface="Plus Jakarta Sans"/>
              <a:cs typeface="Plus Jakarta Sans"/>
            </a:endParaRPr>
          </a:p>
        </p:txBody>
      </p:sp>
      <p:sp>
        <p:nvSpPr>
          <p:cNvPr id="52" name="Google Shape;52;p5">
            <a:extLst xmlns:a="http://schemas.openxmlformats.org/drawingml/2006/main">
              <a:ext uri="{FF2B5EF4-FFF2-40B4-BE49-F238E27FC236}">
                <a16:creationId xmlns:a16="http://schemas.microsoft.com/office/drawing/2014/main" id="{F7C5E83C-4DD3-4D19-BB2A-4597A4F41B19}"/>
              </a:ext>
            </a:extLst>
          </p:cNvPr>
          <p:cNvSpPr>
            <a:spLocks xmlns:a="http://schemas.openxmlformats.org/drawingml/2006/main" noGrp="1"/>
          </p:cNvSpPr>
          <p:nvPr/>
        </p:nvSpPr>
        <p:spPr>
          <a:xfrm xmlns:a="http://schemas.openxmlformats.org/drawingml/2006/main">
            <a:off x="548640" y="182880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WHAT YOU BUILT</a:t>
            </a:r>
            <a:endParaRPr sz="1000" b="0" i="0" u="none" strike="noStrike" cap="none">
              <a:solidFill>
                <a:schemeClr val="dk1"/>
              </a:solidFill>
              <a:latin typeface="Plus Jakarta Sans"/>
              <a:ea typeface="Plus Jakarta Sans"/>
              <a:cs typeface="Plus Jakarta Sans"/>
            </a:endParaRPr>
          </a:p>
        </p:txBody>
      </p:sp>
      <p:sp>
        <p:nvSpPr>
          <p:cNvPr id="53" name="Google Shape;53;p5">
            <a:extLst xmlns:a="http://schemas.openxmlformats.org/drawingml/2006/main">
              <a:ext uri="{FF2B5EF4-FFF2-40B4-BE49-F238E27FC236}">
                <a16:creationId xmlns:a16="http://schemas.microsoft.com/office/drawing/2014/main" id="{2B78D0F9-BA30-42E5-9B26-22B2C8591298}"/>
              </a:ext>
            </a:extLst>
          </p:cNvPr>
          <p:cNvSpPr>
            <a:spLocks xmlns:a="http://schemas.openxmlformats.org/drawingml/2006/main" noGrp="1"/>
          </p:cNvSpPr>
          <p:nvPr/>
        </p:nvSpPr>
        <p:spPr>
          <a:xfrm xmlns:a="http://schemas.openxmlformats.org/drawingml/2006/main">
            <a:off x="548640" y="2121408"/>
            <a:ext cx="11064300" cy="30174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 name="Google Shape;54;p5">
            <a:extLst xmlns:a="http://schemas.openxmlformats.org/drawingml/2006/main">
              <a:ext uri="{FF2B5EF4-FFF2-40B4-BE49-F238E27FC236}">
                <a16:creationId xmlns:a16="http://schemas.microsoft.com/office/drawing/2014/main" id="{94A5506D-3635-418A-88CD-CF1E3FA25CD8}"/>
              </a:ext>
            </a:extLst>
          </p:cNvPr>
          <p:cNvSpPr>
            <a:spLocks xmlns:a="http://schemas.openxmlformats.org/drawingml/2006/main" noGrp="1"/>
          </p:cNvSpPr>
          <p:nvPr/>
        </p:nvSpPr>
        <p:spPr>
          <a:xfrm xmlns:a="http://schemas.openxmlformats.org/drawingml/2006/main">
            <a:off x="731520" y="2121408"/>
            <a:ext cx="10698600" cy="301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Simulate a location:</a:t>
            </a:r>
            <a:r>
              <a:rPr sz="1300" b="0" i="1" u="none" strike="noStrike" cap="none">
                <a:solidFill>
                  <a:srgbClr val="F86130"/>
                </a:solidFill>
                <a:latin typeface="Plus Jakarta Sans"/>
                <a:ea typeface="Plus Jakarta Sans"/>
                <a:cs typeface="Plus Jakarta Sans"/>
              </a:rPr>
              <a:t> Combine terrain, vegetation and weather to explore physics-based fire spread.</a:t>
            </a:r>
            <a:endParaRPr sz="13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Explore response options:</a:t>
            </a:r>
            <a:r>
              <a:rPr sz="1300" b="0" i="1" u="none" strike="noStrike" cap="none">
                <a:solidFill>
                  <a:srgbClr val="F86130"/>
                </a:solidFill>
                <a:latin typeface="Plus Jakarta Sans"/>
                <a:ea typeface="Plus Jakarta Sans"/>
                <a:cs typeface="Plus Jakarta Sans"/>
              </a:rPr>
              <a:t> Change weather, draw containment lines and adjust suppression effort to compare scenarios.</a:t>
            </a: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Learn from historical fires:</a:t>
            </a:r>
            <a:r>
              <a:rPr sz="1300" b="0" i="1" u="none" strike="noStrike" cap="none">
                <a:solidFill>
                  <a:srgbClr val="F86130"/>
                </a:solidFill>
                <a:latin typeface="Plus Jakarta Sans"/>
                <a:ea typeface="Plus Jakarta Sans"/>
                <a:cs typeface="Plus Jakarta Sans"/>
              </a:rPr>
              <a:t> Replay recorded progression and compare environmental conditions, with inspectable sources and data gaps.</a:t>
            </a: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Why choose FireWatch:</a:t>
            </a:r>
            <a:r>
              <a:rPr sz="1300" b="0" i="1" u="none" strike="noStrike" cap="none">
                <a:solidFill>
                  <a:srgbClr val="F86130"/>
                </a:solidFill>
                <a:latin typeface="Plus Jakarta Sans"/>
                <a:ea typeface="Plus Jakarta Sans"/>
                <a:cs typeface="Plus Jakarta Sans"/>
              </a:rPr>
              <a:t> Technosylva supports operational agencies and utilities. We focus on researchers who need to inspect inputs and test model changes, with open-source collaboration planned.</a:t>
            </a: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Machine learning estimates forest canopy structure; the physics model calculates fire spread.</a:t>
            </a:r>
          </a:p>
        </p:txBody>
      </p:sp>
      <p:cxnSp>
        <p:nvCxnSpPr>
          <p:cNvPr id="96" name="Google Shape;55;p5"/>
          <p:cNvCxnSpPr/>
          <p:nvPr/>
        </p:nvCxnSpPr>
        <p:spPr>
          <a:xfrm xmlns:a="http://schemas.openxmlformats.org/drawingml/2006/main">
            <a:off x="548640" y="6355080"/>
            <a:ext cx="11091600"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56" name="Google Shape;56;p5">
            <a:extLst xmlns:a="http://schemas.openxmlformats.org/drawingml/2006/main">
              <a:ext uri="{FF2B5EF4-FFF2-40B4-BE49-F238E27FC236}">
                <a16:creationId xmlns:a16="http://schemas.microsoft.com/office/drawing/2014/main" id="{32B0B17F-B75C-405C-AA82-C185E703EF5B}"/>
              </a:ext>
            </a:extLst>
          </p:cNvPr>
          <p:cNvSpPr>
            <a:spLocks xmlns:a="http://schemas.openxmlformats.org/drawingml/2006/main" noGrp="1"/>
          </p:cNvSpPr>
          <p:nvPr/>
        </p:nvSpPr>
        <p:spPr>
          <a:xfrm xmlns:a="http://schemas.openxmlformats.org/drawingml/2006/main">
            <a:off x="548640" y="6428232"/>
            <a:ext cx="7315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57" name="Google Shape;57;p5">
            <a:extLst xmlns:a="http://schemas.openxmlformats.org/drawingml/2006/main">
              <a:ext uri="{FF2B5EF4-FFF2-40B4-BE49-F238E27FC236}">
                <a16:creationId xmlns:a16="http://schemas.microsoft.com/office/drawing/2014/main" id="{E512DCF5-290B-4733-A320-86E35A61CC99}"/>
              </a:ext>
            </a:extLst>
          </p:cNvPr>
          <p:cNvSpPr>
            <a:spLocks xmlns:a="http://schemas.openxmlformats.org/drawingml/2006/main" noGrp="1"/>
          </p:cNvSpPr>
          <p:nvPr/>
        </p:nvSpPr>
        <p:spPr>
          <a:xfrm xmlns:a="http://schemas.openxmlformats.org/drawingml/2006/main">
            <a:off x="11155680" y="6428232"/>
            <a:ext cx="5028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3</a:t>
            </a:r>
            <a:endParaRPr sz="900" b="0" i="0" u="none" strike="noStrike" cap="none">
              <a:solidFill>
                <a:schemeClr val="dk1"/>
              </a:solidFill>
              <a:latin typeface="Calibri"/>
              <a:ea typeface="Calibri"/>
              <a:cs typeface="Calibri"/>
            </a:endParaRPr>
          </a:p>
        </p:txBody>
      </p:sp>
      <p:sp>
        <p:nvSpPr>
          <p:cNvPr id="58" name="Google Shape;58;p5">
            <a:extLst xmlns:a="http://schemas.openxmlformats.org/drawingml/2006/main">
              <a:ext uri="{FF2B5EF4-FFF2-40B4-BE49-F238E27FC236}">
                <a16:creationId xmlns:a16="http://schemas.microsoft.com/office/drawing/2014/main" id="{A64DE490-CD44-464A-91DF-59A7DD985CFD}"/>
              </a:ext>
            </a:extLst>
          </p:cNvPr>
          <p:cNvSpPr>
            <a:spLocks xmlns:a="http://schemas.openxmlformats.org/drawingml/2006/main" noGrp="1"/>
          </p:cNvSpPr>
          <p:nvPr/>
        </p:nvSpPr>
        <p:spPr>
          <a:xfrm xmlns:a="http://schemas.openxmlformats.org/drawingml/2006/main">
            <a:off x="548640" y="5276088"/>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RESULTS, DISCLOSURES &amp; RESPONSIBLE DEV</a:t>
            </a:r>
            <a:endParaRPr sz="1000" b="0" i="0" u="none" strike="noStrike" cap="none">
              <a:solidFill>
                <a:schemeClr val="dk1"/>
              </a:solidFill>
              <a:latin typeface="Plus Jakarta Sans"/>
              <a:ea typeface="Plus Jakarta Sans"/>
              <a:cs typeface="Plus Jakarta Sans"/>
            </a:endParaRPr>
          </a:p>
        </p:txBody>
      </p:sp>
      <p:sp>
        <p:nvSpPr>
          <p:cNvPr id="59" name="Google Shape;59;p5">
            <a:extLst xmlns:a="http://schemas.openxmlformats.org/drawingml/2006/main">
              <a:ext uri="{FF2B5EF4-FFF2-40B4-BE49-F238E27FC236}">
                <a16:creationId xmlns:a16="http://schemas.microsoft.com/office/drawing/2014/main" id="{B06DC991-E2AF-4455-8533-D42698EA4FC4}"/>
              </a:ext>
            </a:extLst>
          </p:cNvPr>
          <p:cNvSpPr>
            <a:spLocks xmlns:a="http://schemas.openxmlformats.org/drawingml/2006/main" noGrp="1"/>
          </p:cNvSpPr>
          <p:nvPr/>
        </p:nvSpPr>
        <p:spPr>
          <a:xfrm xmlns:a="http://schemas.openxmlformats.org/drawingml/2006/main">
            <a:off x="548640" y="5568696"/>
            <a:ext cx="11064335" cy="7239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0" name="Google Shape;60;p5">
            <a:extLst xmlns:a="http://schemas.openxmlformats.org/drawingml/2006/main">
              <a:ext uri="{FF2B5EF4-FFF2-40B4-BE49-F238E27FC236}">
                <a16:creationId xmlns:a16="http://schemas.microsoft.com/office/drawing/2014/main" id="{9FE65B05-308C-484B-9CAE-F04C7BDC6479}"/>
              </a:ext>
            </a:extLst>
          </p:cNvPr>
          <p:cNvSpPr>
            <a:spLocks xmlns:a="http://schemas.openxmlformats.org/drawingml/2006/main" noGrp="1"/>
          </p:cNvSpPr>
          <p:nvPr/>
        </p:nvSpPr>
        <p:spPr>
          <a:xfrm xmlns:a="http://schemas.openxmlformats.org/drawingml/2006/main">
            <a:off x="731520" y="5568696"/>
            <a:ext cx="10698575"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100"/>
              <a:buFont typeface="Inter"/>
              <a:buNone/>
            </a:pPr>
            <a:r>
              <a:rPr sz="1100" b="0" i="1" u="none" strike="noStrike" cap="none">
                <a:solidFill>
                  <a:srgbClr val="F86130"/>
                </a:solidFill>
                <a:latin typeface="Plus Jakarta Sans"/>
                <a:ea typeface="Plus Jakarta Sans"/>
                <a:cs typeface="Plus Jakarta Sans"/>
              </a:rPr>
              <a:t>Working simulator and historical atlas, with physics tests and retrospective fire comparisons. Forecast accuracy and suppression effectiveness remain unvalidated. Inputs carry source and quality information; historical similarity does not establish future behavior.</a:t>
            </a:r>
            <a:endParaRPr sz="11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100"/>
              <a:buFont typeface="Inter"/>
              <a:buNone/>
            </a:pPr>
            <a:r>
              <a:rPr sz="1100" b="0" i="1" u="none" strike="noStrike" cap="none">
                <a:solidFill>
                  <a:srgbClr val="F86130"/>
                </a:solidFill>
                <a:latin typeface="Plus Jakarta Sans"/>
                <a:ea typeface="Plus Jakarta Sans"/>
                <a:cs typeface="Plus Jakarta Sans"/>
              </a:rPr>
              <a:t>Adapted published fire models; public geospatial data; React/Leaflet; scikit-learn.</a:t>
            </a:r>
          </a:p>
        </p:txBody>
      </p:sp>
    </p:spTree>
    <p:extLst>
      <p:ext uri="{BB962C8B-B14F-4D97-AF65-F5344CB8AC3E}">
        <p14:creationId xmlns:p14="http://schemas.microsoft.com/office/powerpoint/2010/main" val="5611822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6" name="Google Shape;66;p6">
            <a:extLst xmlns:a="http://schemas.openxmlformats.org/drawingml/2006/main">
              <a:ext uri="{FF2B5EF4-FFF2-40B4-BE49-F238E27FC236}">
                <a16:creationId xmlns:a16="http://schemas.microsoft.com/office/drawing/2014/main" id="{83C937BC-1D6A-450B-880F-478B1616C5A8}"/>
              </a:ext>
            </a:extLst>
          </p:cNvPr>
          <p:cNvSpPr>
            <a:spLocks xmlns:a="http://schemas.openxmlformats.org/drawingml/2006/main" noGrp="1"/>
          </p:cNvSpPr>
          <p:nvPr/>
        </p:nvSpPr>
        <p:spPr>
          <a:xfrm xmlns:a="http://schemas.openxmlformats.org/drawingml/2006/main">
            <a:off x="548640" y="365760"/>
            <a:ext cx="9144000" cy="36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LIVE DEMO</a:t>
            </a:r>
            <a:endParaRPr sz="1200" b="0" i="0" u="none" strike="noStrike" cap="none">
              <a:solidFill>
                <a:schemeClr val="dk1"/>
              </a:solidFill>
              <a:latin typeface="Plus Jakarta Sans"/>
              <a:ea typeface="Plus Jakarta Sans"/>
              <a:cs typeface="Plus Jakarta Sans"/>
            </a:endParaRPr>
          </a:p>
        </p:txBody>
      </p:sp>
      <p:sp>
        <p:nvSpPr>
          <p:cNvPr id="67" name="Google Shape;67;p6">
            <a:extLst xmlns:a="http://schemas.openxmlformats.org/drawingml/2006/main">
              <a:ext uri="{FF2B5EF4-FFF2-40B4-BE49-F238E27FC236}">
                <a16:creationId xmlns:a16="http://schemas.microsoft.com/office/drawing/2014/main" id="{26551789-3B4D-4441-9D2D-7E2DCEFD90B1}"/>
              </a:ext>
            </a:extLst>
          </p:cNvPr>
          <p:cNvSpPr>
            <a:spLocks xmlns:a="http://schemas.openxmlformats.org/drawingml/2006/main" noGrp="1"/>
          </p:cNvSpPr>
          <p:nvPr/>
        </p:nvSpPr>
        <p:spPr>
          <a:xfrm xmlns:a="http://schemas.openxmlformats.org/drawingml/2006/main">
            <a:off x="548640" y="777240"/>
            <a:ext cx="109728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000"/>
              <a:buFont typeface="Space Grotesk"/>
              <a:buNone/>
            </a:pPr>
            <a:r>
              <a:rPr sz="3000" b="1" i="0" u="none" strike="noStrike" cap="none">
                <a:solidFill>
                  <a:srgbClr val="0E0D0D"/>
                </a:solidFill>
                <a:latin typeface="Plus Jakarta Sans"/>
                <a:ea typeface="Plus Jakarta Sans"/>
                <a:cs typeface="Plus Jakarta Sans"/>
              </a:rPr>
              <a:t>Our offline baseline exposes the evidence</a:t>
            </a:r>
            <a:endParaRPr sz="3000" b="0" i="0" u="none" strike="noStrike" cap="none">
              <a:solidFill>
                <a:schemeClr val="dk1"/>
              </a:solidFill>
              <a:latin typeface="Plus Jakarta Sans"/>
              <a:ea typeface="Plus Jakarta Sans"/>
              <a:cs typeface="Plus Jakarta Sans"/>
            </a:endParaRPr>
          </a:p>
        </p:txBody>
      </p:sp>
      <p:sp>
        <p:nvSpPr>
          <p:cNvPr id="68" name="Google Shape;68;p6">
            <a:extLst xmlns:a="http://schemas.openxmlformats.org/drawingml/2006/main">
              <a:ext uri="{FF2B5EF4-FFF2-40B4-BE49-F238E27FC236}">
                <a16:creationId xmlns:a16="http://schemas.microsoft.com/office/drawing/2014/main" id="{F3F2D10F-CAE0-4DCF-9867-854A2B987173}"/>
              </a:ext>
            </a:extLst>
          </p:cNvPr>
          <p:cNvSpPr>
            <a:spLocks xmlns:a="http://schemas.openxmlformats.org/drawingml/2006/main" noGrp="1"/>
          </p:cNvSpPr>
          <p:nvPr/>
        </p:nvSpPr>
        <p:spPr>
          <a:xfrm xmlns:a="http://schemas.openxmlformats.org/drawingml/2006/main">
            <a:off x="548640" y="1600200"/>
            <a:ext cx="11064300" cy="457200"/>
          </a:xfrm>
          <a:prstGeom xmlns:a="http://schemas.openxmlformats.org/drawingml/2006/main" prst="rect">
            <a:avLst/>
          </a:prstGeom>
          <a:solidFill xmlns:a="http://schemas.openxmlformats.org/drawingml/2006/main">
            <a:srgbClr val="0E0D0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9" name="Google Shape;69;p6">
            <a:extLst xmlns:a="http://schemas.openxmlformats.org/drawingml/2006/main">
              <a:ext uri="{FF2B5EF4-FFF2-40B4-BE49-F238E27FC236}">
                <a16:creationId xmlns:a16="http://schemas.microsoft.com/office/drawing/2014/main" id="{D94A748D-58C0-4A17-B431-1A349CCDEDB2}"/>
              </a:ext>
            </a:extLst>
          </p:cNvPr>
          <p:cNvSpPr>
            <a:spLocks xmlns:a="http://schemas.openxmlformats.org/drawingml/2006/main" noGrp="1"/>
          </p:cNvSpPr>
          <p:nvPr/>
        </p:nvSpPr>
        <p:spPr>
          <a:xfrm xmlns:a="http://schemas.openxmlformats.org/drawingml/2006/main">
            <a:off x="548640" y="233172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PROTOTYPE STATUS</a:t>
            </a:r>
            <a:endParaRPr sz="1000" b="0" i="0" u="none" strike="noStrike" cap="none">
              <a:solidFill>
                <a:schemeClr val="dk1"/>
              </a:solidFill>
              <a:latin typeface="Plus Jakarta Sans"/>
              <a:ea typeface="Plus Jakarta Sans"/>
              <a:cs typeface="Plus Jakarta Sans"/>
            </a:endParaRPr>
          </a:p>
        </p:txBody>
      </p:sp>
      <p:sp>
        <p:nvSpPr>
          <p:cNvPr id="70" name="Google Shape;70;p6">
            <a:extLst xmlns:a="http://schemas.openxmlformats.org/drawingml/2006/main">
              <a:ext uri="{FF2B5EF4-FFF2-40B4-BE49-F238E27FC236}">
                <a16:creationId xmlns:a16="http://schemas.microsoft.com/office/drawing/2014/main" id="{F2F80316-7F28-450E-90A6-8864848C743A}"/>
              </a:ext>
            </a:extLst>
          </p:cNvPr>
          <p:cNvSpPr>
            <a:spLocks xmlns:a="http://schemas.openxmlformats.org/drawingml/2006/main" noGrp="1"/>
          </p:cNvSpPr>
          <p:nvPr/>
        </p:nvSpPr>
        <p:spPr>
          <a:xfrm xmlns:a="http://schemas.openxmlformats.org/drawingml/2006/main">
            <a:off x="548640" y="2624328"/>
            <a:ext cx="11064300" cy="4002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1" name="Google Shape;71;p6">
            <a:extLst xmlns:a="http://schemas.openxmlformats.org/drawingml/2006/main">
              <a:ext uri="{FF2B5EF4-FFF2-40B4-BE49-F238E27FC236}">
                <a16:creationId xmlns:a16="http://schemas.microsoft.com/office/drawing/2014/main" id="{322307E5-BB1F-41E8-8D6C-AB68CCBFF0B6}"/>
              </a:ext>
            </a:extLst>
          </p:cNvPr>
          <p:cNvSpPr>
            <a:spLocks xmlns:a="http://schemas.openxmlformats.org/drawingml/2006/main" noGrp="1"/>
          </p:cNvSpPr>
          <p:nvPr/>
        </p:nvSpPr>
        <p:spPr>
          <a:xfrm xmlns:a="http://schemas.openxmlformats.org/drawingml/2006/main">
            <a:off x="731520" y="2624328"/>
            <a:ext cx="106986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Runs: candidate masks and quality reports. Pending: geolocation, temporal tracking and live integration.</a:t>
            </a:r>
            <a:endParaRPr sz="1300" b="0" i="0" u="none" strike="noStrike" cap="none">
              <a:solidFill>
                <a:schemeClr val="dk1"/>
              </a:solidFill>
              <a:latin typeface="Plus Jakarta Sans"/>
              <a:ea typeface="Plus Jakarta Sans"/>
              <a:cs typeface="Plus Jakarta Sans"/>
            </a:endParaRPr>
          </a:p>
        </p:txBody>
      </p:sp>
      <p:sp>
        <p:nvSpPr>
          <p:cNvPr id="72" name="Google Shape;72;p6">
            <a:extLst xmlns:a="http://schemas.openxmlformats.org/drawingml/2006/main">
              <a:ext uri="{FF2B5EF4-FFF2-40B4-BE49-F238E27FC236}">
                <a16:creationId xmlns:a16="http://schemas.microsoft.com/office/drawing/2014/main" id="{690D8CF6-EA6F-48FB-9462-3E84F5EF822F}"/>
              </a:ext>
            </a:extLst>
          </p:cNvPr>
          <p:cNvSpPr>
            <a:spLocks xmlns:a="http://schemas.openxmlformats.org/drawingml/2006/main" noGrp="1"/>
          </p:cNvSpPr>
          <p:nvPr/>
        </p:nvSpPr>
        <p:spPr>
          <a:xfrm xmlns:a="http://schemas.openxmlformats.org/drawingml/2006/main">
            <a:off x="548640" y="309756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DEMO LINK</a:t>
            </a:r>
            <a:endParaRPr sz="1000" b="0" i="0" u="none" strike="noStrike" cap="none">
              <a:solidFill>
                <a:schemeClr val="dk1"/>
              </a:solidFill>
              <a:latin typeface="Plus Jakarta Sans"/>
              <a:ea typeface="Plus Jakarta Sans"/>
              <a:cs typeface="Plus Jakarta Sans"/>
            </a:endParaRPr>
          </a:p>
        </p:txBody>
      </p:sp>
      <p:sp>
        <p:nvSpPr>
          <p:cNvPr id="73" name="Google Shape;73;p6">
            <a:extLst xmlns:a="http://schemas.openxmlformats.org/drawingml/2006/main">
              <a:ext uri="{FF2B5EF4-FFF2-40B4-BE49-F238E27FC236}">
                <a16:creationId xmlns:a16="http://schemas.microsoft.com/office/drawing/2014/main" id="{52A715A0-AEC4-4519-BAFB-675255944389}"/>
              </a:ext>
            </a:extLst>
          </p:cNvPr>
          <p:cNvSpPr>
            <a:spLocks xmlns:a="http://schemas.openxmlformats.org/drawingml/2006/main" noGrp="1"/>
          </p:cNvSpPr>
          <p:nvPr/>
        </p:nvSpPr>
        <p:spPr>
          <a:xfrm xmlns:a="http://schemas.openxmlformats.org/drawingml/2006/main">
            <a:off x="548640" y="3390168"/>
            <a:ext cx="11064300" cy="3802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4" name="Google Shape;74;p6">
            <a:extLst xmlns:a="http://schemas.openxmlformats.org/drawingml/2006/main">
              <a:ext uri="{FF2B5EF4-FFF2-40B4-BE49-F238E27FC236}">
                <a16:creationId xmlns:a16="http://schemas.microsoft.com/office/drawing/2014/main" id="{BE268E1F-9D66-4F7F-815F-478EB12FF8AA}"/>
              </a:ext>
            </a:extLst>
          </p:cNvPr>
          <p:cNvSpPr>
            <a:spLocks xmlns:a="http://schemas.openxmlformats.org/drawingml/2006/main" noGrp="1"/>
          </p:cNvSpPr>
          <p:nvPr/>
        </p:nvSpPr>
        <p:spPr>
          <a:xfrm xmlns:a="http://schemas.openxmlformats.org/drawingml/2006/main">
            <a:off x="731520" y="3390168"/>
            <a:ext cx="10698600" cy="38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[Demo URL — offline baseline walkthrough]</a:t>
            </a:r>
            <a:endParaRPr sz="1300" b="0" i="0" u="none" strike="noStrike" cap="none">
              <a:solidFill>
                <a:schemeClr val="dk1"/>
              </a:solidFill>
              <a:latin typeface="Plus Jakarta Sans"/>
              <a:ea typeface="Plus Jakarta Sans"/>
              <a:cs typeface="Plus Jakarta Sans"/>
            </a:endParaRPr>
          </a:p>
        </p:txBody>
      </p:sp>
      <p:sp>
        <p:nvSpPr>
          <p:cNvPr id="75" name="Google Shape;75;p6">
            <a:extLst xmlns:a="http://schemas.openxmlformats.org/drawingml/2006/main">
              <a:ext uri="{FF2B5EF4-FFF2-40B4-BE49-F238E27FC236}">
                <a16:creationId xmlns:a16="http://schemas.microsoft.com/office/drawing/2014/main" id="{00468934-3B87-477E-9CA5-B4BC01E08A1E}"/>
              </a:ext>
            </a:extLst>
          </p:cNvPr>
          <p:cNvSpPr>
            <a:spLocks xmlns:a="http://schemas.openxmlformats.org/drawingml/2006/main" noGrp="1"/>
          </p:cNvSpPr>
          <p:nvPr/>
        </p:nvSpPr>
        <p:spPr>
          <a:xfrm xmlns:a="http://schemas.openxmlformats.org/drawingml/2006/main">
            <a:off x="548640" y="384340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REPO LINK</a:t>
            </a:r>
            <a:endParaRPr sz="1000" b="0" i="0" u="none" strike="noStrike" cap="none">
              <a:solidFill>
                <a:schemeClr val="dk1"/>
              </a:solidFill>
              <a:latin typeface="Plus Jakarta Sans"/>
              <a:ea typeface="Plus Jakarta Sans"/>
              <a:cs typeface="Plus Jakarta Sans"/>
            </a:endParaRPr>
          </a:p>
        </p:txBody>
      </p:sp>
      <p:sp>
        <p:nvSpPr>
          <p:cNvPr id="76" name="Google Shape;76;p6">
            <a:extLst xmlns:a="http://schemas.openxmlformats.org/drawingml/2006/main">
              <a:ext uri="{FF2B5EF4-FFF2-40B4-BE49-F238E27FC236}">
                <a16:creationId xmlns:a16="http://schemas.microsoft.com/office/drawing/2014/main" id="{052E2FFF-7B10-474D-9550-AAF23C91F840}"/>
              </a:ext>
            </a:extLst>
          </p:cNvPr>
          <p:cNvSpPr>
            <a:spLocks xmlns:a="http://schemas.openxmlformats.org/drawingml/2006/main" noGrp="1"/>
          </p:cNvSpPr>
          <p:nvPr/>
        </p:nvSpPr>
        <p:spPr>
          <a:xfrm xmlns:a="http://schemas.openxmlformats.org/drawingml/2006/main">
            <a:off x="548640" y="4136008"/>
            <a:ext cx="11064300" cy="3802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7" name="Google Shape;77;p6">
            <a:extLst xmlns:a="http://schemas.openxmlformats.org/drawingml/2006/main">
              <a:ext uri="{FF2B5EF4-FFF2-40B4-BE49-F238E27FC236}">
                <a16:creationId xmlns:a16="http://schemas.microsoft.com/office/drawing/2014/main" id="{648EA51F-7340-4CCC-B296-25F0FA2DCAE3}"/>
              </a:ext>
            </a:extLst>
          </p:cNvPr>
          <p:cNvSpPr>
            <a:spLocks xmlns:a="http://schemas.openxmlformats.org/drawingml/2006/main" noGrp="1"/>
          </p:cNvSpPr>
          <p:nvPr/>
        </p:nvSpPr>
        <p:spPr>
          <a:xfrm xmlns:a="http://schemas.openxmlformats.org/drawingml/2006/main">
            <a:off x="731520" y="4136008"/>
            <a:ext cx="10698600" cy="38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https://github.com/RubSar/firewatch-ai</a:t>
            </a:r>
            <a:endParaRPr sz="1300" b="0" i="0" u="none" strike="noStrike" cap="none">
              <a:solidFill>
                <a:schemeClr val="dk1"/>
              </a:solidFill>
              <a:latin typeface="Plus Jakarta Sans"/>
              <a:ea typeface="Plus Jakarta Sans"/>
              <a:cs typeface="Plus Jakarta Sans"/>
            </a:endParaRPr>
          </a:p>
        </p:txBody>
      </p:sp>
      <p:sp>
        <p:nvSpPr>
          <p:cNvPr id="78" name="Google Shape;78;p6">
            <a:extLst xmlns:a="http://schemas.openxmlformats.org/drawingml/2006/main">
              <a:ext uri="{FF2B5EF4-FFF2-40B4-BE49-F238E27FC236}">
                <a16:creationId xmlns:a16="http://schemas.microsoft.com/office/drawing/2014/main" id="{94CB5755-4685-4BEA-BC4B-206E9794D27F}"/>
              </a:ext>
            </a:extLst>
          </p:cNvPr>
          <p:cNvSpPr>
            <a:spLocks xmlns:a="http://schemas.openxmlformats.org/drawingml/2006/main" noGrp="1"/>
          </p:cNvSpPr>
          <p:nvPr/>
        </p:nvSpPr>
        <p:spPr>
          <a:xfrm xmlns:a="http://schemas.openxmlformats.org/drawingml/2006/main">
            <a:off x="548640" y="458924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BACKUP VIDEO LINK</a:t>
            </a:r>
            <a:endParaRPr sz="1000" b="0" i="0" u="none" strike="noStrike" cap="none">
              <a:solidFill>
                <a:schemeClr val="dk1"/>
              </a:solidFill>
              <a:latin typeface="Plus Jakarta Sans"/>
              <a:ea typeface="Plus Jakarta Sans"/>
              <a:cs typeface="Plus Jakarta Sans"/>
            </a:endParaRPr>
          </a:p>
        </p:txBody>
      </p:sp>
      <p:sp>
        <p:nvSpPr>
          <p:cNvPr id="79" name="Google Shape;79;p6">
            <a:extLst xmlns:a="http://schemas.openxmlformats.org/drawingml/2006/main">
              <a:ext uri="{FF2B5EF4-FFF2-40B4-BE49-F238E27FC236}">
                <a16:creationId xmlns:a16="http://schemas.microsoft.com/office/drawing/2014/main" id="{EEB5DDAD-D694-4AB7-AD4A-194B92392BDE}"/>
              </a:ext>
            </a:extLst>
          </p:cNvPr>
          <p:cNvSpPr>
            <a:spLocks xmlns:a="http://schemas.openxmlformats.org/drawingml/2006/main" noGrp="1"/>
          </p:cNvSpPr>
          <p:nvPr/>
        </p:nvSpPr>
        <p:spPr>
          <a:xfrm xmlns:a="http://schemas.openxmlformats.org/drawingml/2006/main">
            <a:off x="548640" y="4881848"/>
            <a:ext cx="11064300" cy="3802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0" name="Google Shape;80;p6">
            <a:extLst xmlns:a="http://schemas.openxmlformats.org/drawingml/2006/main">
              <a:ext uri="{FF2B5EF4-FFF2-40B4-BE49-F238E27FC236}">
                <a16:creationId xmlns:a16="http://schemas.microsoft.com/office/drawing/2014/main" id="{12B9DC48-B176-4016-A068-FE9AA08AABD8}"/>
              </a:ext>
            </a:extLst>
          </p:cNvPr>
          <p:cNvSpPr>
            <a:spLocks xmlns:a="http://schemas.openxmlformats.org/drawingml/2006/main" noGrp="1"/>
          </p:cNvSpPr>
          <p:nvPr/>
        </p:nvSpPr>
        <p:spPr>
          <a:xfrm xmlns:a="http://schemas.openxmlformats.org/drawingml/2006/main">
            <a:off x="731520" y="4881848"/>
            <a:ext cx="10698600" cy="38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[Backup recording URL]</a:t>
            </a:r>
            <a:endParaRPr sz="1300" b="0" i="0" u="none" strike="noStrike" cap="none">
              <a:solidFill>
                <a:schemeClr val="dk1"/>
              </a:solidFill>
              <a:latin typeface="Plus Jakarta Sans"/>
              <a:ea typeface="Plus Jakarta Sans"/>
              <a:cs typeface="Plus Jakarta Sans"/>
            </a:endParaRPr>
          </a:p>
        </p:txBody>
      </p:sp>
      <p:cxnSp>
        <p:nvCxnSpPr>
          <p:cNvPr id="166" name="Google Shape;81;p6"/>
          <p:cNvCxnSpPr/>
          <p:nvPr/>
        </p:nvCxnSpPr>
        <p:spPr>
          <a:xfrm xmlns:a="http://schemas.openxmlformats.org/drawingml/2006/main">
            <a:off x="548640" y="6355080"/>
            <a:ext cx="11091600"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82" name="Google Shape;82;p6">
            <a:extLst xmlns:a="http://schemas.openxmlformats.org/drawingml/2006/main">
              <a:ext uri="{FF2B5EF4-FFF2-40B4-BE49-F238E27FC236}">
                <a16:creationId xmlns:a16="http://schemas.microsoft.com/office/drawing/2014/main" id="{9B949151-32B2-4726-A93E-A1AA718936BF}"/>
              </a:ext>
            </a:extLst>
          </p:cNvPr>
          <p:cNvSpPr>
            <a:spLocks xmlns:a="http://schemas.openxmlformats.org/drawingml/2006/main" noGrp="1"/>
          </p:cNvSpPr>
          <p:nvPr/>
        </p:nvSpPr>
        <p:spPr>
          <a:xfrm xmlns:a="http://schemas.openxmlformats.org/drawingml/2006/main">
            <a:off x="548640" y="6428232"/>
            <a:ext cx="7315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83" name="Google Shape;83;p6">
            <a:extLst xmlns:a="http://schemas.openxmlformats.org/drawingml/2006/main">
              <a:ext uri="{FF2B5EF4-FFF2-40B4-BE49-F238E27FC236}">
                <a16:creationId xmlns:a16="http://schemas.microsoft.com/office/drawing/2014/main" id="{8B5329DB-C76D-4574-AF78-654B2BD3C52E}"/>
              </a:ext>
            </a:extLst>
          </p:cNvPr>
          <p:cNvSpPr>
            <a:spLocks xmlns:a="http://schemas.openxmlformats.org/drawingml/2006/main" noGrp="1"/>
          </p:cNvSpPr>
          <p:nvPr/>
        </p:nvSpPr>
        <p:spPr>
          <a:xfrm xmlns:a="http://schemas.openxmlformats.org/drawingml/2006/main">
            <a:off x="11155680" y="6428232"/>
            <a:ext cx="5028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4</a:t>
            </a:r>
            <a:endParaRPr sz="900" b="0" i="0" u="none" strike="noStrike" cap="none">
              <a:solidFill>
                <a:schemeClr val="dk1"/>
              </a:solidFill>
              <a:latin typeface="Calibri"/>
              <a:ea typeface="Calibri"/>
              <a:cs typeface="Calibri"/>
            </a:endParaRPr>
          </a:p>
        </p:txBody>
      </p:sp>
      <p:sp>
        <p:nvSpPr>
          <p:cNvPr id="84" name="Google Shape;84;p6">
            <a:extLst xmlns:a="http://schemas.openxmlformats.org/drawingml/2006/main">
              <a:ext uri="{FF2B5EF4-FFF2-40B4-BE49-F238E27FC236}">
                <a16:creationId xmlns:a16="http://schemas.microsoft.com/office/drawing/2014/main" id="{C52A9D5C-3CFA-42A9-B726-E69093A470A3}"/>
              </a:ext>
            </a:extLst>
          </p:cNvPr>
          <p:cNvSpPr>
            <a:spLocks xmlns:a="http://schemas.openxmlformats.org/drawingml/2006/main" noGrp="1"/>
          </p:cNvSpPr>
          <p:nvPr/>
        </p:nvSpPr>
        <p:spPr>
          <a:xfrm xmlns:a="http://schemas.openxmlformats.org/drawingml/2006/main">
            <a:off x="548640" y="5335080"/>
            <a:ext cx="110643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TECH STACK, REPO &amp; CODEX/OPENAI TOOL USE</a:t>
            </a:r>
            <a:endParaRPr sz="1000" b="0" i="0" u="none" strike="noStrike" cap="none">
              <a:solidFill>
                <a:schemeClr val="dk1"/>
              </a:solidFill>
              <a:latin typeface="Plus Jakarta Sans"/>
              <a:ea typeface="Plus Jakarta Sans"/>
              <a:cs typeface="Plus Jakarta Sans"/>
            </a:endParaRPr>
          </a:p>
        </p:txBody>
      </p:sp>
      <p:sp>
        <p:nvSpPr>
          <p:cNvPr id="85" name="Google Shape;85;p6">
            <a:extLst xmlns:a="http://schemas.openxmlformats.org/drawingml/2006/main">
              <a:ext uri="{FF2B5EF4-FFF2-40B4-BE49-F238E27FC236}">
                <a16:creationId xmlns:a16="http://schemas.microsoft.com/office/drawing/2014/main" id="{41B75E3E-9B6A-4C8C-BC06-EB0F1102DB46}"/>
              </a:ext>
            </a:extLst>
          </p:cNvPr>
          <p:cNvSpPr>
            <a:spLocks xmlns:a="http://schemas.openxmlformats.org/drawingml/2006/main" noGrp="1"/>
          </p:cNvSpPr>
          <p:nvPr/>
        </p:nvSpPr>
        <p:spPr>
          <a:xfrm xmlns:a="http://schemas.openxmlformats.org/drawingml/2006/main">
            <a:off x="548640" y="5627688"/>
            <a:ext cx="11064300" cy="6402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6" name="Google Shape;86;p6">
            <a:extLst xmlns:a="http://schemas.openxmlformats.org/drawingml/2006/main">
              <a:ext uri="{FF2B5EF4-FFF2-40B4-BE49-F238E27FC236}">
                <a16:creationId xmlns:a16="http://schemas.microsoft.com/office/drawing/2014/main" id="{2CA46DD1-3217-47C7-BBE9-AFD00BAE8DB2}"/>
              </a:ext>
            </a:extLst>
          </p:cNvPr>
          <p:cNvSpPr>
            <a:spLocks xmlns:a="http://schemas.openxmlformats.org/drawingml/2006/main" noGrp="1"/>
          </p:cNvSpPr>
          <p:nvPr/>
        </p:nvSpPr>
        <p:spPr>
          <a:xfrm xmlns:a="http://schemas.openxmlformats.org/drawingml/2006/main">
            <a:off x="731520" y="5627688"/>
            <a:ext cx="10698600" cy="64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100"/>
              <a:buFont typeface="Inter"/>
              <a:buNone/>
            </a:pPr>
            <a:r>
              <a:rPr sz="1100" b="0" i="1" u="none" strike="noStrike" cap="none">
                <a:solidFill>
                  <a:srgbClr val="F86130"/>
                </a:solidFill>
                <a:latin typeface="Plus Jakarta Sans"/>
                <a:ea typeface="Plus Jakarta Sans"/>
                <a:cs typeface="Plus Jakarta Sans"/>
              </a:rPr>
              <a:t>Python, NumPy/Pillow, FLAME 2/3. React/TypeScript and Leaflet UI. Codex assists implementation and documentation. [Confirm demo tests, human review and judge repo access.]</a:t>
            </a:r>
            <a:endParaRPr sz="1100" b="0" i="0" u="none" strike="noStrike" cap="none">
              <a:solidFill>
                <a:schemeClr val="dk1"/>
              </a:solidFill>
              <a:latin typeface="Plus Jakarta Sans"/>
              <a:ea typeface="Plus Jakarta Sans"/>
              <a:cs typeface="Plus Jakarta Sans"/>
            </a:endParaRPr>
          </a:p>
        </p:txBody>
      </p:sp>
    </p:spTree>
    <p:extLst>
      <p:ext uri="{BB962C8B-B14F-4D97-AF65-F5344CB8AC3E}">
        <p14:creationId xmlns:p14="http://schemas.microsoft.com/office/powerpoint/2010/main" val="6483148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2" name="Google Shape;92;p7">
            <a:extLst xmlns:a="http://schemas.openxmlformats.org/drawingml/2006/main">
              <a:ext uri="{FF2B5EF4-FFF2-40B4-BE49-F238E27FC236}">
                <a16:creationId xmlns:a16="http://schemas.microsoft.com/office/drawing/2014/main" id="{7CD9B9A8-74A8-4224-8F18-1202C8132AB5}"/>
              </a:ext>
            </a:extLst>
          </p:cNvPr>
          <p:cNvSpPr>
            <a:spLocks xmlns:a="http://schemas.openxmlformats.org/drawingml/2006/main" noGrp="1"/>
          </p:cNvSpPr>
          <p:nvPr/>
        </p:nvSpPr>
        <p:spPr>
          <a:xfrm xmlns:a="http://schemas.openxmlformats.org/drawingml/2006/main">
            <a:off x="548640" y="36576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EXECUTION PLAN</a:t>
            </a:r>
            <a:endParaRPr sz="1200" b="0" i="0" u="none" strike="noStrike" cap="none">
              <a:solidFill>
                <a:schemeClr val="dk1"/>
              </a:solidFill>
              <a:latin typeface="Plus Jakarta Sans"/>
              <a:ea typeface="Plus Jakarta Sans"/>
              <a:cs typeface="Plus Jakarta Sans"/>
            </a:endParaRPr>
          </a:p>
        </p:txBody>
      </p:sp>
      <p:sp>
        <p:nvSpPr>
          <p:cNvPr id="93" name="Google Shape;93;p7">
            <a:extLst xmlns:a="http://schemas.openxmlformats.org/drawingml/2006/main">
              <a:ext uri="{FF2B5EF4-FFF2-40B4-BE49-F238E27FC236}">
                <a16:creationId xmlns:a16="http://schemas.microsoft.com/office/drawing/2014/main" id="{A4ABF570-1D61-4D9A-B287-DDDB17728FE0}"/>
              </a:ext>
            </a:extLst>
          </p:cNvPr>
          <p:cNvSpPr>
            <a:spLocks xmlns:a="http://schemas.openxmlformats.org/drawingml/2006/main" noGrp="1"/>
          </p:cNvSpPr>
          <p:nvPr/>
        </p:nvSpPr>
        <p:spPr>
          <a:xfrm xmlns:a="http://schemas.openxmlformats.org/drawingml/2006/main">
            <a:off x="548640" y="777240"/>
            <a:ext cx="10515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000"/>
              <a:buFont typeface="Space Grotesk"/>
              <a:buNone/>
            </a:pPr>
            <a:r>
              <a:rPr sz="3000" b="1" i="0" u="none" strike="noStrike" cap="none">
                <a:solidFill>
                  <a:srgbClr val="0E0D0D"/>
                </a:solidFill>
                <a:latin typeface="Plus Jakarta Sans"/>
                <a:ea typeface="Plus Jakarta Sans"/>
                <a:cs typeface="Plus Jakarta Sans"/>
              </a:rPr>
              <a:t>Improve the model, strengthen the evidence, then pilot</a:t>
            </a:r>
            <a:endParaRPr sz="3000" b="0" i="0" u="none" strike="noStrike" cap="none">
              <a:solidFill>
                <a:schemeClr val="dk1"/>
              </a:solidFill>
              <a:latin typeface="Plus Jakarta Sans"/>
              <a:ea typeface="Plus Jakarta Sans"/>
              <a:cs typeface="Plus Jakarta Sans"/>
            </a:endParaRPr>
          </a:p>
        </p:txBody>
      </p:sp>
      <p:sp>
        <p:nvSpPr>
          <p:cNvPr id="94" name="Google Shape;94;p7">
            <a:extLst xmlns:a="http://schemas.openxmlformats.org/drawingml/2006/main">
              <a:ext uri="{FF2B5EF4-FFF2-40B4-BE49-F238E27FC236}">
                <a16:creationId xmlns:a16="http://schemas.microsoft.com/office/drawing/2014/main" id="{075563BB-2543-4CDD-822E-91C8CBD59EF8}"/>
              </a:ext>
            </a:extLst>
          </p:cNvPr>
          <p:cNvSpPr>
            <a:spLocks xmlns:a="http://schemas.openxmlformats.org/drawingml/2006/main" noGrp="1"/>
          </p:cNvSpPr>
          <p:nvPr/>
        </p:nvSpPr>
        <p:spPr>
          <a:xfrm xmlns:a="http://schemas.openxmlformats.org/drawingml/2006/main">
            <a:off x="548640" y="182880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TECHNICAL ROADMAP</a:t>
            </a:r>
            <a:endParaRPr sz="1000" b="0" i="0" u="none" strike="noStrike" cap="none">
              <a:solidFill>
                <a:schemeClr val="dk1"/>
              </a:solidFill>
              <a:latin typeface="Plus Jakarta Sans"/>
              <a:ea typeface="Plus Jakarta Sans"/>
              <a:cs typeface="Plus Jakarta Sans"/>
            </a:endParaRPr>
          </a:p>
        </p:txBody>
      </p:sp>
      <p:sp>
        <p:nvSpPr>
          <p:cNvPr id="95" name="Google Shape;95;p7">
            <a:extLst xmlns:a="http://schemas.openxmlformats.org/drawingml/2006/main">
              <a:ext uri="{FF2B5EF4-FFF2-40B4-BE49-F238E27FC236}">
                <a16:creationId xmlns:a16="http://schemas.microsoft.com/office/drawing/2014/main" id="{C7B5C522-06C8-427A-82A7-2406651D0A5B}"/>
              </a:ext>
            </a:extLst>
          </p:cNvPr>
          <p:cNvSpPr>
            <a:spLocks xmlns:a="http://schemas.openxmlformats.org/drawingml/2006/main" noGrp="1"/>
          </p:cNvSpPr>
          <p:nvPr/>
        </p:nvSpPr>
        <p:spPr>
          <a:xfrm xmlns:a="http://schemas.openxmlformats.org/drawingml/2006/main">
            <a:off x="548640" y="2121408"/>
            <a:ext cx="11064240" cy="155448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6" name="Google Shape;96;p7">
            <a:extLst xmlns:a="http://schemas.openxmlformats.org/drawingml/2006/main">
              <a:ext uri="{FF2B5EF4-FFF2-40B4-BE49-F238E27FC236}">
                <a16:creationId xmlns:a16="http://schemas.microsoft.com/office/drawing/2014/main" id="{98FF588A-003C-49D1-8411-063541EE6280}"/>
              </a:ext>
            </a:extLst>
          </p:cNvPr>
          <p:cNvSpPr>
            <a:spLocks xmlns:a="http://schemas.openxmlformats.org/drawingml/2006/main" noGrp="1"/>
          </p:cNvSpPr>
          <p:nvPr/>
        </p:nvSpPr>
        <p:spPr>
          <a:xfrm xmlns:a="http://schemas.openxmlformats.org/drawingml/2006/main">
            <a:off x="731520" y="2121408"/>
            <a:ext cx="10698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Built:</a:t>
            </a:r>
            <a:r>
              <a:rPr sz="1300" b="0" i="1" u="none" strike="noStrike" cap="none">
                <a:solidFill>
                  <a:srgbClr val="F86130"/>
                </a:solidFill>
                <a:latin typeface="Plus Jakarta Sans"/>
                <a:ea typeface="Plus Jakarta Sans"/>
                <a:cs typeface="Plus Jakarta Sans"/>
              </a:rPr>
              <a:t> Interactive spread simulator, learned canopy inputs and a historical comparison atlas.</a:t>
            </a:r>
            <a:endParaRPr sz="13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Next:</a:t>
            </a:r>
            <a:r>
              <a:rPr sz="1300" b="0" i="1" u="none" strike="noStrike" cap="none">
                <a:solidFill>
                  <a:srgbClr val="F86130"/>
                </a:solidFill>
                <a:latin typeface="Plus Jakarta Sans"/>
                <a:ea typeface="Plus Jakarta Sans"/>
                <a:cs typeface="Plus Jakarta Sans"/>
              </a:rPr>
              <a:t> Improve fuel and fire-duration modeling. Expand and review historical data, with fixed datasets for repeatable evaluation.</a:t>
            </a: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Then:</a:t>
            </a:r>
            <a:r>
              <a:rPr sz="1300" b="0" i="1" u="none" strike="noStrike" cap="none">
                <a:solidFill>
                  <a:srgbClr val="F86130"/>
                </a:solidFill>
                <a:latin typeface="Plus Jakarta Sans"/>
                <a:ea typeface="Plus Jakarta Sans"/>
                <a:cs typeface="Plus Jakarta Sans"/>
              </a:rPr>
              <a:t> Add secure access, saved scenarios and monitored deployment. Run a supervised evaluation with fire analysts.</a:t>
            </a:r>
          </a:p>
        </p:txBody>
      </p:sp>
      <p:sp>
        <p:nvSpPr>
          <p:cNvPr id="97" name="Google Shape;97;p7">
            <a:extLst xmlns:a="http://schemas.openxmlformats.org/drawingml/2006/main">
              <a:ext uri="{FF2B5EF4-FFF2-40B4-BE49-F238E27FC236}">
                <a16:creationId xmlns:a16="http://schemas.microsoft.com/office/drawing/2014/main" id="{01263308-333F-452D-9FDF-1BEE636E2542}"/>
              </a:ext>
            </a:extLst>
          </p:cNvPr>
          <p:cNvSpPr>
            <a:spLocks xmlns:a="http://schemas.openxmlformats.org/drawingml/2006/main" noGrp="1"/>
          </p:cNvSpPr>
          <p:nvPr/>
        </p:nvSpPr>
        <p:spPr>
          <a:xfrm xmlns:a="http://schemas.openxmlformats.org/drawingml/2006/main">
            <a:off x="548640" y="370332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KEY RISKS &amp; MITIGATIONS</a:t>
            </a:r>
            <a:endParaRPr sz="1000" b="0" i="0" u="none" strike="noStrike" cap="none">
              <a:solidFill>
                <a:schemeClr val="dk1"/>
              </a:solidFill>
              <a:latin typeface="Plus Jakarta Sans"/>
              <a:ea typeface="Plus Jakarta Sans"/>
              <a:cs typeface="Plus Jakarta Sans"/>
            </a:endParaRPr>
          </a:p>
        </p:txBody>
      </p:sp>
      <p:sp>
        <p:nvSpPr>
          <p:cNvPr id="98" name="Google Shape;98;p7">
            <a:extLst xmlns:a="http://schemas.openxmlformats.org/drawingml/2006/main">
              <a:ext uri="{FF2B5EF4-FFF2-40B4-BE49-F238E27FC236}">
                <a16:creationId xmlns:a16="http://schemas.microsoft.com/office/drawing/2014/main" id="{D33E8A6B-79C1-4C88-B258-825FC7C6E0E1}"/>
              </a:ext>
            </a:extLst>
          </p:cNvPr>
          <p:cNvSpPr>
            <a:spLocks xmlns:a="http://schemas.openxmlformats.org/drawingml/2006/main" noGrp="1"/>
          </p:cNvSpPr>
          <p:nvPr/>
        </p:nvSpPr>
        <p:spPr>
          <a:xfrm xmlns:a="http://schemas.openxmlformats.org/drawingml/2006/main">
            <a:off x="548640" y="3995928"/>
            <a:ext cx="11064240" cy="12344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9" name="Google Shape;99;p7">
            <a:extLst xmlns:a="http://schemas.openxmlformats.org/drawingml/2006/main">
              <a:ext uri="{FF2B5EF4-FFF2-40B4-BE49-F238E27FC236}">
                <a16:creationId xmlns:a16="http://schemas.microsoft.com/office/drawing/2014/main" id="{15B89CDF-330C-423D-9486-2FFCAC7106C2}"/>
              </a:ext>
            </a:extLst>
          </p:cNvPr>
          <p:cNvSpPr>
            <a:spLocks xmlns:a="http://schemas.openxmlformats.org/drawingml/2006/main" noGrp="1"/>
          </p:cNvSpPr>
          <p:nvPr/>
        </p:nvSpPr>
        <p:spPr>
          <a:xfrm xmlns:a="http://schemas.openxmlformats.org/drawingml/2006/main">
            <a:off x="731520" y="3995928"/>
            <a:ext cx="106984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Model accuracy:</a:t>
            </a:r>
            <a:r>
              <a:rPr sz="1300" b="0" i="1" u="none" strike="noStrike" cap="none">
                <a:solidFill>
                  <a:srgbClr val="F86130"/>
                </a:solidFill>
                <a:latin typeface="Plus Jakarta Sans"/>
                <a:ea typeface="Plus Jakarta Sans"/>
                <a:cs typeface="Plus Jakarta Sans"/>
              </a:rPr>
              <a:t> Test on previously unseen incidents and compare against simple baselines before making forecast claims.</a:t>
            </a:r>
            <a:endParaRPr sz="13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Reliable validation:</a:t>
            </a:r>
            <a:r>
              <a:rPr sz="1300" b="0" i="1" u="none" strike="noStrike" cap="none">
                <a:solidFill>
                  <a:srgbClr val="F86130"/>
                </a:solidFill>
                <a:latin typeface="Plus Jakarta Sans"/>
                <a:ea typeface="Plus Jakarta Sans"/>
                <a:cs typeface="Plus Jakarta Sans"/>
              </a:rPr>
              <a:t> Distinguish natural spread from firefighting effects in historical data to validate simulations that exclude human intervention.</a:t>
            </a: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Data quality and coverage:</a:t>
            </a:r>
            <a:r>
              <a:rPr sz="1300" b="0" i="1" u="none" strike="noStrike" cap="none">
                <a:solidFill>
                  <a:srgbClr val="F86130"/>
                </a:solidFill>
                <a:latin typeface="Plus Jakarta Sans"/>
                <a:ea typeface="Plus Jakarta Sans"/>
                <a:cs typeface="Plus Jakarta Sans"/>
              </a:rPr>
              <a:t> Check source dates and regional coverage; expose missing data and fallback inputs.</a:t>
            </a: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Operational misuse:</a:t>
            </a:r>
            <a:r>
              <a:rPr sz="1300" b="0" i="1" u="none" strike="noStrike" cap="none">
                <a:solidFill>
                  <a:srgbClr val="F86130"/>
                </a:solidFill>
                <a:latin typeface="Plus Jakarta Sans"/>
                <a:ea typeface="Plus Jakarta Sans"/>
                <a:cs typeface="Plus Jakarta Sans"/>
              </a:rPr>
              <a:t> Keep outputs labeled as experimental scenarios and require expert review during the pilot.</a:t>
            </a:r>
          </a:p>
        </p:txBody>
      </p:sp>
      <p:cxnSp>
        <p:nvCxnSpPr>
          <p:cNvPr id="156" name="Google Shape;100;p7"/>
          <p:cNvCxnSpPr/>
          <p:nvPr/>
        </p:nvCxnSpPr>
        <p:spPr>
          <a:xfrm xmlns:a="http://schemas.openxmlformats.org/drawingml/2006/main">
            <a:off x="548640" y="6355080"/>
            <a:ext cx="11091672"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101" name="Google Shape;101;p7">
            <a:extLst xmlns:a="http://schemas.openxmlformats.org/drawingml/2006/main">
              <a:ext uri="{FF2B5EF4-FFF2-40B4-BE49-F238E27FC236}">
                <a16:creationId xmlns:a16="http://schemas.microsoft.com/office/drawing/2014/main" id="{55C45551-2BA8-490F-8AB9-08F23C4E1965}"/>
              </a:ext>
            </a:extLst>
          </p:cNvPr>
          <p:cNvSpPr>
            <a:spLocks xmlns:a="http://schemas.openxmlformats.org/drawingml/2006/main" noGrp="1"/>
          </p:cNvSpPr>
          <p:nvPr/>
        </p:nvSpPr>
        <p:spPr>
          <a:xfrm xmlns:a="http://schemas.openxmlformats.org/drawingml/2006/main">
            <a:off x="548640" y="642823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102" name="Google Shape;102;p7">
            <a:extLst xmlns:a="http://schemas.openxmlformats.org/drawingml/2006/main">
              <a:ext uri="{FF2B5EF4-FFF2-40B4-BE49-F238E27FC236}">
                <a16:creationId xmlns:a16="http://schemas.microsoft.com/office/drawing/2014/main" id="{69E4E873-FF6E-4776-9C8F-249C57F13D59}"/>
              </a:ext>
            </a:extLst>
          </p:cNvPr>
          <p:cNvSpPr>
            <a:spLocks xmlns:a="http://schemas.openxmlformats.org/drawingml/2006/main" noGrp="1"/>
          </p:cNvSpPr>
          <p:nvPr/>
        </p:nvSpPr>
        <p:spPr>
          <a:xfrm xmlns:a="http://schemas.openxmlformats.org/drawingml/2006/main">
            <a:off x="11155680" y="6428232"/>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5</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7071538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8" name="Google Shape;108;p8">
            <a:extLst xmlns:a="http://schemas.openxmlformats.org/drawingml/2006/main">
              <a:ext uri="{FF2B5EF4-FFF2-40B4-BE49-F238E27FC236}">
                <a16:creationId xmlns:a16="http://schemas.microsoft.com/office/drawing/2014/main" id="{FA7CFC4C-79A6-4D56-AC70-06F25A63109E}"/>
              </a:ext>
            </a:extLst>
          </p:cNvPr>
          <p:cNvSpPr>
            <a:spLocks xmlns:a="http://schemas.openxmlformats.org/drawingml/2006/main" noGrp="1"/>
          </p:cNvSpPr>
          <p:nvPr/>
        </p:nvSpPr>
        <p:spPr>
          <a:xfrm xmlns:a="http://schemas.openxmlformats.org/drawingml/2006/main">
            <a:off x="548640" y="36576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MARKET &amp; GO-TO-MARKET</a:t>
            </a:r>
            <a:endParaRPr sz="1200" b="0" i="0" u="none" strike="noStrike" cap="none">
              <a:solidFill>
                <a:schemeClr val="dk1"/>
              </a:solidFill>
              <a:latin typeface="Plus Jakarta Sans"/>
              <a:ea typeface="Plus Jakarta Sans"/>
              <a:cs typeface="Plus Jakarta Sans"/>
            </a:endParaRPr>
          </a:p>
        </p:txBody>
      </p:sp>
      <p:sp>
        <p:nvSpPr>
          <p:cNvPr id="109" name="Google Shape;109;p8">
            <a:extLst xmlns:a="http://schemas.openxmlformats.org/drawingml/2006/main">
              <a:ext uri="{FF2B5EF4-FFF2-40B4-BE49-F238E27FC236}">
                <a16:creationId xmlns:a16="http://schemas.microsoft.com/office/drawing/2014/main" id="{610D73AA-D230-40DF-A709-B56E6F74BBF2}"/>
              </a:ext>
            </a:extLst>
          </p:cNvPr>
          <p:cNvSpPr>
            <a:spLocks xmlns:a="http://schemas.openxmlformats.org/drawingml/2006/main" noGrp="1"/>
          </p:cNvSpPr>
          <p:nvPr/>
        </p:nvSpPr>
        <p:spPr>
          <a:xfrm xmlns:a="http://schemas.openxmlformats.org/drawingml/2006/main">
            <a:off x="548640" y="777240"/>
            <a:ext cx="10515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000"/>
              <a:buFont typeface="Space Grotesk"/>
              <a:buNone/>
            </a:pPr>
            <a:r>
              <a:rPr sz="3000" b="1" i="0" u="none" strike="noStrike" cap="none">
                <a:solidFill>
                  <a:srgbClr val="0E0D0D"/>
                </a:solidFill>
                <a:latin typeface="Plus Jakarta Sans"/>
                <a:ea typeface="Plus Jakarta Sans"/>
                <a:cs typeface="Plus Jakarta Sans"/>
              </a:rPr>
              <a:t>Advance wildfire simulation through open collaboration</a:t>
            </a:r>
            <a:endParaRPr sz="3000" b="0" i="0" u="none" strike="noStrike" cap="none">
              <a:solidFill>
                <a:schemeClr val="dk1"/>
              </a:solidFill>
              <a:latin typeface="Plus Jakarta Sans"/>
              <a:ea typeface="Plus Jakarta Sans"/>
              <a:cs typeface="Plus Jakarta Sans"/>
            </a:endParaRPr>
          </a:p>
        </p:txBody>
      </p:sp>
      <p:sp>
        <p:nvSpPr>
          <p:cNvPr id="110" name="Google Shape;110;p8">
            <a:extLst xmlns:a="http://schemas.openxmlformats.org/drawingml/2006/main">
              <a:ext uri="{FF2B5EF4-FFF2-40B4-BE49-F238E27FC236}">
                <a16:creationId xmlns:a16="http://schemas.microsoft.com/office/drawing/2014/main" id="{A9AC2B82-740A-467C-9F4F-8AC469C9C1FC}"/>
              </a:ext>
            </a:extLst>
          </p:cNvPr>
          <p:cNvSpPr>
            <a:spLocks xmlns:a="http://schemas.openxmlformats.org/drawingml/2006/main" noGrp="1"/>
          </p:cNvSpPr>
          <p:nvPr/>
        </p:nvSpPr>
        <p:spPr>
          <a:xfrm xmlns:a="http://schemas.openxmlformats.org/drawingml/2006/main">
            <a:off x="548640" y="182880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MARKET SIZE</a:t>
            </a:r>
            <a:endParaRPr sz="1000" b="0" i="0" u="none" strike="noStrike" cap="none">
              <a:solidFill>
                <a:schemeClr val="dk1"/>
              </a:solidFill>
              <a:latin typeface="Plus Jakarta Sans"/>
              <a:ea typeface="Plus Jakarta Sans"/>
              <a:cs typeface="Plus Jakarta Sans"/>
            </a:endParaRPr>
          </a:p>
        </p:txBody>
      </p:sp>
      <p:sp>
        <p:nvSpPr>
          <p:cNvPr id="111" name="Google Shape;111;p8">
            <a:extLst xmlns:a="http://schemas.openxmlformats.org/drawingml/2006/main">
              <a:ext uri="{FF2B5EF4-FFF2-40B4-BE49-F238E27FC236}">
                <a16:creationId xmlns:a16="http://schemas.microsoft.com/office/drawing/2014/main" id="{0734F587-84E5-4411-BAEC-3C62BEE79F28}"/>
              </a:ext>
            </a:extLst>
          </p:cNvPr>
          <p:cNvSpPr>
            <a:spLocks xmlns:a="http://schemas.openxmlformats.org/drawingml/2006/main" noGrp="1"/>
          </p:cNvSpPr>
          <p:nvPr/>
        </p:nvSpPr>
        <p:spPr>
          <a:xfrm xmlns:a="http://schemas.openxmlformats.org/drawingml/2006/main">
            <a:off x="548640" y="2121408"/>
            <a:ext cx="11064240" cy="155448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2" name="Google Shape;112;p8">
            <a:extLst xmlns:a="http://schemas.openxmlformats.org/drawingml/2006/main">
              <a:ext uri="{FF2B5EF4-FFF2-40B4-BE49-F238E27FC236}">
                <a16:creationId xmlns:a16="http://schemas.microsoft.com/office/drawing/2014/main" id="{E034986D-2C4C-4612-A86E-1F6CBEDD7A87}"/>
              </a:ext>
            </a:extLst>
          </p:cNvPr>
          <p:cNvSpPr>
            <a:spLocks xmlns:a="http://schemas.openxmlformats.org/drawingml/2006/main" noGrp="1"/>
          </p:cNvSpPr>
          <p:nvPr/>
        </p:nvSpPr>
        <p:spPr>
          <a:xfrm xmlns:a="http://schemas.openxmlformats.org/drawingml/2006/main">
            <a:off x="731520" y="2121408"/>
            <a:ext cx="10698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The January 2025 Los Angeles wildfires caused an estimated </a:t>
            </a:r>
            <a:r>
              <a:rPr sz="1300" b="1" i="1" u="none" strike="noStrike" cap="none">
                <a:solidFill>
                  <a:srgbClr val="F86130"/>
                </a:solidFill>
                <a:latin typeface="Plus Jakarta Sans"/>
                <a:ea typeface="Plus Jakarta Sans"/>
                <a:cs typeface="Plus Jakarta Sans"/>
              </a:rPr>
              <a:t>$40 billion in insured losses</a:t>
            </a:r>
            <a:r>
              <a:rPr sz="1300" b="0" i="1" u="none" strike="noStrike" cap="none">
                <a:solidFill>
                  <a:srgbClr val="F86130"/>
                </a:solidFill>
                <a:latin typeface="Plus Jakarta Sans"/>
                <a:ea typeface="Plus Jakarta Sans"/>
                <a:cs typeface="Plus Jakarta Sans"/>
              </a:rPr>
              <a:t>.</a:t>
            </a:r>
            <a:endParaRPr sz="13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Insurance figures cannot capture the full impact on forests, habitats and watersheds.</a:t>
            </a: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Nature’s losses deserve assessment after every wildfire.</a:t>
            </a:r>
          </a:p>
        </p:txBody>
      </p:sp>
      <p:sp>
        <p:nvSpPr>
          <p:cNvPr id="113" name="Google Shape;113;p8">
            <a:extLst xmlns:a="http://schemas.openxmlformats.org/drawingml/2006/main">
              <a:ext uri="{FF2B5EF4-FFF2-40B4-BE49-F238E27FC236}">
                <a16:creationId xmlns:a16="http://schemas.microsoft.com/office/drawing/2014/main" id="{65E8F667-6D3F-466B-B631-17C6FB8C70AE}"/>
              </a:ext>
            </a:extLst>
          </p:cNvPr>
          <p:cNvSpPr>
            <a:spLocks xmlns:a="http://schemas.openxmlformats.org/drawingml/2006/main" noGrp="1"/>
          </p:cNvSpPr>
          <p:nvPr/>
        </p:nvSpPr>
        <p:spPr>
          <a:xfrm xmlns:a="http://schemas.openxmlformats.org/drawingml/2006/main">
            <a:off x="548640" y="370332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GO-TO-MARKET</a:t>
            </a:r>
            <a:endParaRPr sz="1000" b="0" i="0" u="none" strike="noStrike" cap="none">
              <a:solidFill>
                <a:schemeClr val="dk1"/>
              </a:solidFill>
              <a:latin typeface="Plus Jakarta Sans"/>
              <a:ea typeface="Plus Jakarta Sans"/>
              <a:cs typeface="Plus Jakarta Sans"/>
            </a:endParaRPr>
          </a:p>
        </p:txBody>
      </p:sp>
      <p:sp>
        <p:nvSpPr>
          <p:cNvPr id="114" name="Google Shape;114;p8">
            <a:extLst xmlns:a="http://schemas.openxmlformats.org/drawingml/2006/main">
              <a:ext uri="{FF2B5EF4-FFF2-40B4-BE49-F238E27FC236}">
                <a16:creationId xmlns:a16="http://schemas.microsoft.com/office/drawing/2014/main" id="{FF46E25D-206B-4930-AD51-E02CFE4A01BB}"/>
              </a:ext>
            </a:extLst>
          </p:cNvPr>
          <p:cNvSpPr>
            <a:spLocks xmlns:a="http://schemas.openxmlformats.org/drawingml/2006/main" noGrp="1"/>
          </p:cNvSpPr>
          <p:nvPr/>
        </p:nvSpPr>
        <p:spPr>
          <a:xfrm xmlns:a="http://schemas.openxmlformats.org/drawingml/2006/main">
            <a:off x="548640" y="3995928"/>
            <a:ext cx="11064240" cy="12344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5" name="Google Shape;115;p8">
            <a:extLst xmlns:a="http://schemas.openxmlformats.org/drawingml/2006/main">
              <a:ext uri="{FF2B5EF4-FFF2-40B4-BE49-F238E27FC236}">
                <a16:creationId xmlns:a16="http://schemas.microsoft.com/office/drawing/2014/main" id="{AC2D8F3E-DF66-480F-BDC7-E9BFE25F6C76}"/>
              </a:ext>
            </a:extLst>
          </p:cNvPr>
          <p:cNvSpPr>
            <a:spLocks xmlns:a="http://schemas.openxmlformats.org/drawingml/2006/main" noGrp="1"/>
          </p:cNvSpPr>
          <p:nvPr/>
        </p:nvSpPr>
        <p:spPr>
          <a:xfrm xmlns:a="http://schemas.openxmlformats.org/drawingml/2006/main">
            <a:off x="731520" y="3995928"/>
            <a:ext cx="106984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Start with wildfire researchers and agency analysts: inspect models, contribute regional data and compare scenarios.</a:t>
            </a:r>
            <a:endParaRPr sz="1300" b="0" i="0" u="none" strike="noStrike" cap="none">
              <a:solidFill>
                <a:schemeClr val="dk1"/>
              </a:solidFill>
              <a:latin typeface="Plus Jakarta Sans"/>
              <a:ea typeface="Plus Jakarta Sans"/>
              <a:cs typeface="Plus Jakarta Sans"/>
            </a:endParaRPr>
          </a:p>
          <a:p xmlns:a="http://schemas.openxmlformats.org/drawingml/2006/main">
            <a:pPr marL="0" marR="0" lvl="0" indent="0" algn="l">
              <a:lnSpc>
                <a:spcPct val="100000"/>
              </a:lnSpc>
              <a:spcBef>
                <a:spcPts val="0"/>
              </a:spcBef>
              <a:spcAft>
                <a:spcPts val="0"/>
              </a:spcAft>
              <a:buClr>
                <a:srgbClr val="F86130"/>
              </a:buClr>
              <a:buSzPts val="1300"/>
              <a:buFont typeface="Inter"/>
              <a:buNone/>
            </a:pPr>
          </a:p>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1" i="1" u="none" strike="noStrike" cap="none">
                <a:solidFill>
                  <a:srgbClr val="F86130"/>
                </a:solidFill>
                <a:latin typeface="Plus Jakarta Sans"/>
                <a:ea typeface="Plus Jakarta Sans"/>
                <a:cs typeface="Plus Jakarta Sans"/>
              </a:rPr>
              <a:t>Our vision:</a:t>
            </a:r>
            <a:r>
              <a:rPr sz="1300" b="0" i="1" u="none" strike="noStrike" cap="none">
                <a:solidFill>
                  <a:srgbClr val="F86130"/>
                </a:solidFill>
                <a:latin typeface="Plus Jakarta Sans"/>
                <a:ea typeface="Plus Jakarta Sans"/>
                <a:cs typeface="Plus Jakarta Sans"/>
              </a:rPr>
              <a:t> use open data and transparent models to assess wildfire’s ecological impacts and recovery.</a:t>
            </a:r>
          </a:p>
        </p:txBody>
      </p:sp>
      <p:cxnSp>
        <p:nvCxnSpPr>
          <p:cNvPr id="172" name="Google Shape;116;p8"/>
          <p:cNvCxnSpPr/>
          <p:nvPr/>
        </p:nvCxnSpPr>
        <p:spPr>
          <a:xfrm xmlns:a="http://schemas.openxmlformats.org/drawingml/2006/main">
            <a:off x="548640" y="6355080"/>
            <a:ext cx="11091672"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117" name="Google Shape;117;p8">
            <a:extLst xmlns:a="http://schemas.openxmlformats.org/drawingml/2006/main">
              <a:ext uri="{FF2B5EF4-FFF2-40B4-BE49-F238E27FC236}">
                <a16:creationId xmlns:a16="http://schemas.microsoft.com/office/drawing/2014/main" id="{E45B998B-4D68-4162-A208-2C45F091387B}"/>
              </a:ext>
            </a:extLst>
          </p:cNvPr>
          <p:cNvSpPr>
            <a:spLocks xmlns:a="http://schemas.openxmlformats.org/drawingml/2006/main" noGrp="1"/>
          </p:cNvSpPr>
          <p:nvPr/>
        </p:nvSpPr>
        <p:spPr>
          <a:xfrm xmlns:a="http://schemas.openxmlformats.org/drawingml/2006/main">
            <a:off x="548640" y="642823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118" name="Google Shape;118;p8">
            <a:extLst xmlns:a="http://schemas.openxmlformats.org/drawingml/2006/main">
              <a:ext uri="{FF2B5EF4-FFF2-40B4-BE49-F238E27FC236}">
                <a16:creationId xmlns:a16="http://schemas.microsoft.com/office/drawing/2014/main" id="{810482C9-D326-4ABE-A391-1D0536422F3D}"/>
              </a:ext>
            </a:extLst>
          </p:cNvPr>
          <p:cNvSpPr>
            <a:spLocks xmlns:a="http://schemas.openxmlformats.org/drawingml/2006/main" noGrp="1"/>
          </p:cNvSpPr>
          <p:nvPr/>
        </p:nvSpPr>
        <p:spPr>
          <a:xfrm xmlns:a="http://schemas.openxmlformats.org/drawingml/2006/main">
            <a:off x="11155680" y="6428232"/>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6</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95071373"/>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2026-09-27T02:57:25.7660000Z</dcterms:created>
  <dcterms:modified xsi:type="dcterms:W3CDTF">2026-09-27T02:57:25.7660000Z</dcterms:modified>
</coreProperties>
</file>